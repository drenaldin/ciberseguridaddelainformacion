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Arrancar con la pregunta: ¿cuánto cuesta hackear un banco? Al final de la clase se responde: 15.000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Aclarar que esta clase mira desde el lado del atacante. No es una lista de bichos para memorizar.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el grupo confunde estas tres, todo lo demás se mezcla. Vale la pena insistir acá.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Malware = malicious software. Preguntar cuántos tipos conocen antes de mostrar la tabla.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keylogger es un spyware específico. Si preguntan, sí: se puede meter por hardware también.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botnet es la que más los sorprende: tu máquina puede estar atacando a otro sin que lo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Pedirles un ejemplo de cada uno antes de mostrar el recuadro negro.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Preguntar primero: ¿por dónde creen que entran? Casi siempre dicen «por un mail». Después mostrar el 31 %.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momento de conectar con la clase 3: reducir superficie de ataque es sacar y actualizar, no comprar.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Ojo con la suma: son categorías del informe, no una torta que da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idea fuerza de la sección: el atacante estuvo adentro días. Eso es una oportunidad desperdiciada.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Marcar en el aire los pasos 4 y 5: entre ellos está la diferencia entre perder confidencialidad y perder disponibilidad.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datos ya salieron. Es la propiedad irreversible de la clase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preguntan por qué las cifras de Sophos y Verizon no coinciden: muestras y años distintos. Decirlo es parte del oficio.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la pregunta ética: ¿pagarías vos, si de eso dependiera el sueldo de 16.000 personas? Es la de Costa 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Definición: engaño para que vos entregues algo. Una contraseña, un código, un dato, un pago o un clic.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Pedirles que digan cuál recibieron esta semana. Siempre hay uno de smishing.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Acá entra la ficha D de la actividad: la llamada del banco pidiendo el código del 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combinación urgencia + recompensa es la más eficaz de todas. Es el SMS de los puntos del banco.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2 es la más importante y la que menos se aplica: la urgencia está puesta a propósito.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segundo factor es el que más rinde: convierte una contraseña robada en un intento fallido.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Preguntar quién recibió alguno de los tres. Levantan la mano casi todos.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43 % lo sacamos de sumar las dos técnicas de phishing de la tabla MITRE del propio CERTuy. Decirlo si preguntan.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adelantar la cifra. Que la adivinen: ¿cuánto cuesta comprar la contraseña de un empleado?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Roque fue detenido el 3 de julio. La detección vino de afuera, igual que en Bangladesh.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preguntando: ¿de quién es la culpa? La respuesta interesante no es «del empleado», es «del diseño que dejaba que una sola persona pudiera».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protocolo conviene que quede pegado en la sala de informática. Se los podemos dar impreso.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mito 5 es el más peligroso, porque la escuela lo enseñó durante años.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Tarea: que busquen en el celular un mensaje sospechoso real. Lo usamos en la actividad.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Insistir en la distinción entre fuente independiente y dato de proveedor: se pide en todas las actividades.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2344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240">
                <a:solidFill>
                  <a:srgbClr val="E0A32E"/>
                </a:solidFill>
                <a:latin typeface="Trebuchet MS"/>
              </a:rPr>
              <a:t>CIBERSEGURIDAD DE LA INFORMACIÓN · 3.º BT · TRAMO 8 · DGETP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ECE7DD"/>
                </a:solidFill>
                <a:latin typeface="Trebuchet MS"/>
              </a:rPr>
              <a:t>Clase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100584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4200" b="1" i="0">
                <a:solidFill>
                  <a:srgbClr val="F7F5F0"/>
                </a:solidFill>
                <a:latin typeface="Georgia"/>
              </a:rPr>
              <a:t>Amenazas I</a:t>
            </a:r>
          </a:p>
          <a:p>
            <a:pPr algn="l">
              <a:lnSpc>
                <a:spcPts val="5400"/>
              </a:lnSpc>
            </a:pPr>
            <a:r>
              <a:rPr sz="4200" b="1" i="0">
                <a:solidFill>
                  <a:srgbClr val="F7F5F0"/>
                </a:solidFill>
                <a:latin typeface="Georgia"/>
              </a:rPr>
              <a:t>Malware, ransomware y phishing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4343400"/>
            <a:ext cx="2194560" cy="4572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66344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ECE7DD"/>
                </a:solidFill>
                <a:latin typeface="Trebuchet MS"/>
              </a:rPr>
              <a:t>Las tres amenazas que explican la mayoría de los incidentes reales,</a:t>
            </a:r>
          </a:p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ECE7DD"/>
                </a:solidFill>
                <a:latin typeface="Trebuchet MS"/>
              </a:rPr>
              <a:t>y por qué la más barata sigue siendo la más eficaz.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8521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6E6A64"/>
                </a:solidFill>
                <a:latin typeface="Trebuchet MS"/>
              </a:rPr>
              <a:t>Contenido 1.5 del programa · Competencia CET1 · Prof. Diego Renaldín Medina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HOJA DE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Lo que vamos a ver 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828800"/>
            <a:ext cx="50292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828800"/>
            <a:ext cx="64008" cy="9601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95681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DD6C8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0116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Georgia"/>
              </a:rPr>
              <a:t>Malware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359152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E6A64"/>
                </a:solidFill>
                <a:latin typeface="Trebuchet MS"/>
              </a:rPr>
              <a:t>La familia completa y qué distingue a cada uno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828800"/>
            <a:ext cx="50292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828800"/>
            <a:ext cx="64008" cy="9601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95681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DD6C8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59" y="20116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Georgia"/>
              </a:rPr>
              <a:t>Por dónde entra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59" y="2359152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E6A64"/>
                </a:solidFill>
                <a:latin typeface="Trebuchet MS"/>
              </a:rPr>
              <a:t>Los números reales, que contradicen la intuición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2999232"/>
            <a:ext cx="50292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2999232"/>
            <a:ext cx="64008" cy="9601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12724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DD6C8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182112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Georgia"/>
              </a:rPr>
              <a:t>Ransomware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529584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E6A64"/>
                </a:solidFill>
                <a:latin typeface="Trebuchet MS"/>
              </a:rPr>
              <a:t>La cadena paso a paso y la pregunta del rescate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2999232"/>
            <a:ext cx="50292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59" y="2999232"/>
            <a:ext cx="64008" cy="9601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79" y="312724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DD6C8"/>
                </a:solidFill>
                <a:latin typeface="Georgia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59" y="3182112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Georgia"/>
              </a:rPr>
              <a:t>Phishing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3529584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E6A64"/>
                </a:solidFill>
                <a:latin typeface="Trebuchet MS"/>
              </a:rPr>
              <a:t>Por qué funciona y cómo se reconoce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4169664"/>
            <a:ext cx="50292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" y="4169664"/>
            <a:ext cx="64008" cy="9601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2976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DD6C8"/>
                </a:solidFill>
                <a:latin typeface="Georgia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35254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Georgia"/>
              </a:rPr>
              <a:t>Un caso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700016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E6A64"/>
                </a:solidFill>
                <a:latin typeface="Trebuchet MS"/>
              </a:rPr>
              <a:t>Cómo se desviaron 541 millones con una contraseña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59" y="4169664"/>
            <a:ext cx="50292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59" y="4169664"/>
            <a:ext cx="64008" cy="9601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79" y="42976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DD6C8"/>
                </a:solidFill>
                <a:latin typeface="Georgia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59" y="435254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Georgia"/>
              </a:rPr>
              <a:t>Qué hacer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59" y="4700016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E6A64"/>
                </a:solidFill>
                <a:latin typeface="Trebuchet MS"/>
              </a:rPr>
              <a:t>El protocolo cuando ya pasó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ANTES DE EMPEZAR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Tres palabras que no son sinónimos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 i="0">
                <a:solidFill>
                  <a:srgbClr val="6E6A64"/>
                </a:solidFill>
                <a:latin typeface="Trebuchet MS"/>
              </a:rPr>
              <a:t>En la clase 2 quedó anotado como el error número uno: decir «fue un phishing» dice cómo entraron, no qué rompieron.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304288"/>
            <a:ext cx="329184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304288"/>
            <a:ext cx="3291840" cy="5486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6243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Georgia"/>
              </a:rPr>
              <a:t>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12724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1A1A1A"/>
                </a:solidFill>
                <a:latin typeface="Trebuchet MS"/>
              </a:rPr>
              <a:t>Por dónde entra el ataque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13048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1">
                <a:solidFill>
                  <a:srgbClr val="6E6A64"/>
                </a:solidFill>
                <a:latin typeface="Trebuchet MS"/>
              </a:rPr>
              <a:t>Un correo, una vulnerabilidad sin parche, un pendrive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304288"/>
            <a:ext cx="329184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2304288"/>
            <a:ext cx="3291840" cy="5486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6243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Georgia"/>
              </a:rPr>
              <a:t>Malware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12724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1A1A1A"/>
                </a:solidFill>
                <a:latin typeface="Trebuchet MS"/>
              </a:rPr>
              <a:t>El programa malicioso que se ejecuta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813048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1">
                <a:solidFill>
                  <a:srgbClr val="6E6A64"/>
                </a:solidFill>
                <a:latin typeface="Trebuchet MS"/>
              </a:rPr>
              <a:t>Un troyano, un ransomware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2304288"/>
            <a:ext cx="329184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2304288"/>
            <a:ext cx="3291840" cy="5486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6243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Georgia"/>
              </a:rPr>
              <a:t>Objetivo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12724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0" i="0">
                <a:solidFill>
                  <a:srgbClr val="1A1A1A"/>
                </a:solidFill>
                <a:latin typeface="Trebuchet MS"/>
              </a:rPr>
              <a:t>Qué busca quien ataca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813048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1">
                <a:solidFill>
                  <a:srgbClr val="6E6A64"/>
                </a:solidFill>
                <a:latin typeface="Trebuchet MS"/>
              </a:rPr>
              <a:t>Plata, datos, control, tiempo de máquina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91032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Trebuchet MS"/>
              </a:rPr>
              <a:t>Un mismo malware llega por vectores distintos, y un mismo vector trae malware distinto. Por eso no alcanza con tapar un agujero.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Trebuchet M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2633472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0" b="1" i="0">
                <a:solidFill>
                  <a:srgbClr val="B3202C"/>
                </a:solidFill>
                <a:latin typeface="Georg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5176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 i="0">
                <a:solidFill>
                  <a:srgbClr val="F7F5F0"/>
                </a:solidFill>
                <a:latin typeface="Georgia"/>
              </a:rPr>
              <a:t>Malware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611880"/>
            <a:ext cx="1828800" cy="36576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88620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ECE7DD"/>
                </a:solidFill>
                <a:latin typeface="Trebuchet MS"/>
              </a:rPr>
              <a:t>Cualquier programa hecho para dañar, robar o tomar control sin autorización. Eso es la categoría; lo demás son especies.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MALWARE · LA FAMILIA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Cinco que conviene distinguir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828800"/>
            <a:ext cx="10515600" cy="4023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28800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40">
                <a:solidFill>
                  <a:srgbClr val="F7F5F0"/>
                </a:solidFill>
                <a:latin typeface="Trebuchet MS"/>
              </a:rPr>
              <a:t>TIPO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1828800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40">
                <a:solidFill>
                  <a:srgbClr val="F7F5F0"/>
                </a:solidFill>
                <a:latin typeface="Trebuchet MS"/>
              </a:rPr>
              <a:t>QUÉ LO 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28800"/>
            <a:ext cx="3749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40">
                <a:solidFill>
                  <a:srgbClr val="F7F5F0"/>
                </a:solidFill>
                <a:latin typeface="Trebuchet MS"/>
              </a:rPr>
              <a:t>CÓMO SUENA EN UNA NOTICIA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231136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622499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2231136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Virus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231136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Se pega a un archivo y necesita que alguien lo ejecute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2231136"/>
            <a:ext cx="3749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«Se infectaron los archivos»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633472"/>
            <a:ext cx="10515600" cy="402336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3024835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2633472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Gusano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2" y="2633472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Se propaga solo, sin que nadie abra nada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2633472"/>
            <a:ext cx="3749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«Se propagó en minutos por la red»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035808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3427171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303580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Troyano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4952" y="3035808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Se hace pasar por algo útil para que lo instales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3035808"/>
            <a:ext cx="3749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«Una app que decía ser un editor de fotos»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3438144"/>
            <a:ext cx="10515600" cy="402336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" y="3829507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3438144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Spyware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4952" y="3438144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Espía en silencio: pantallas, hábitos, archivos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3438144"/>
            <a:ext cx="3749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«Vigilaba la actividad del equipo»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3840480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" y="4231843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2" y="3840480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Keylogger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44952" y="3840480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Registra todo lo que se teclea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16952" y="3840480"/>
            <a:ext cx="3749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«Capturó las contraseñas al escribirlas»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MALWARE · LA FAMILIA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Y cuatro más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828800"/>
            <a:ext cx="10515600" cy="4023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28800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40">
                <a:solidFill>
                  <a:srgbClr val="F7F5F0"/>
                </a:solidFill>
                <a:latin typeface="Trebuchet MS"/>
              </a:rPr>
              <a:t>TIPO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1828800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40">
                <a:solidFill>
                  <a:srgbClr val="F7F5F0"/>
                </a:solidFill>
                <a:latin typeface="Trebuchet MS"/>
              </a:rPr>
              <a:t>QUÉ LO 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28800"/>
            <a:ext cx="3749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40">
                <a:solidFill>
                  <a:srgbClr val="F7F5F0"/>
                </a:solidFill>
                <a:latin typeface="Trebuchet MS"/>
              </a:rPr>
              <a:t>CÓMO SUENA EN UNA NOTICIA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231136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622499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2231136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Adware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231136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Inyecta publicidad y perfila. Suele traer algo peor detrás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2231136"/>
            <a:ext cx="3749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«Llenaba el navegador de anuncios»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633472"/>
            <a:ext cx="10515600" cy="402336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3024835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2633472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Rootkit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2" y="2633472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Se esconde en lo profundo: el equipo miente sobre sí mismo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2633472"/>
            <a:ext cx="3749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«Llevaba meses sin ser detectado»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035808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3427171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303580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Botnet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4952" y="3035808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Red de equipos infectados que trabajan para otro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3035808"/>
            <a:ext cx="3749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«Miles de equipos usados para el ataque»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3438144"/>
            <a:ext cx="10515600" cy="402336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" y="3829507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3438144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Ransomware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4952" y="3438144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Cifra los archivos y exige un pago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3438144"/>
            <a:ext cx="3749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«Piden un rescate para devolver el acceso»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16052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E6A64"/>
                </a:solidFill>
                <a:latin typeface="Trebuchet MS"/>
              </a:rPr>
              <a:t>El ransomware se lleva una sección entera: es el que más plata mueve y el que más se malinterpreta.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LA DIFERENCIA QUE MÁS SE 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Virus contra gusano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965960"/>
            <a:ext cx="50292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965960"/>
            <a:ext cx="64008" cy="2194560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Georgia"/>
              </a:rPr>
              <a:t>Virus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3464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 i="0">
                <a:solidFill>
                  <a:srgbClr val="1A1A1A"/>
                </a:solidFill>
                <a:latin typeface="Trebuchet MS"/>
              </a:rPr>
              <a:t>Necesita que una persona lo ejecute. Se pega a un archivo y espera. Si la cadena humana se corta, se frena.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965960"/>
            <a:ext cx="50292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965960"/>
            <a:ext cx="64008" cy="219456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2860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Georgia"/>
              </a:rPr>
              <a:t>Gusano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83464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 i="0">
                <a:solidFill>
                  <a:srgbClr val="1A1A1A"/>
                </a:solidFill>
                <a:latin typeface="Trebuchet MS"/>
              </a:rPr>
              <a:t>No necesita a nadie. Se propaga solo aprovechando la red. Por eso los contagios masivos ocurren en horas.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434840"/>
            <a:ext cx="10469880" cy="685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434840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7F5F0"/>
                </a:solidFill>
                <a:latin typeface="Trebuchet MS"/>
              </a:rPr>
              <a:t>La pregunta de examen es siempre la misma: ¿necesita una acción humana para propagarse?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Trebuchet M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2633472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0" b="1" i="0">
                <a:solidFill>
                  <a:srgbClr val="B3202C"/>
                </a:solidFill>
                <a:latin typeface="Georgi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5176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 i="0">
                <a:solidFill>
                  <a:srgbClr val="F7F5F0"/>
                </a:solidFill>
                <a:latin typeface="Georgia"/>
              </a:rPr>
              <a:t>Por dónde entra 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611880"/>
            <a:ext cx="1828800" cy="36576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88620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ECE7DD"/>
                </a:solidFill>
                <a:latin typeface="Trebuchet MS"/>
              </a:rPr>
              <a:t>Acá los números contradicen la intuición. Vale la pena mirarlos antes de opinar.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INFORME DE BRECHAS DE VERIZON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Por primera vez en 19 años cambió el primer puesto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066544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15184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0" b="1" i="0">
                <a:solidFill>
                  <a:srgbClr val="B3202C"/>
                </a:solidFill>
                <a:latin typeface="Georgia"/>
              </a:rPr>
              <a:t>31 %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4106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1A1A1A"/>
                </a:solidFill>
                <a:latin typeface="Trebuchet MS"/>
              </a:rPr>
              <a:t>de las brechas empieza por una</a:t>
            </a:r>
          </a:p>
          <a:p>
            <a:pPr algn="l">
              <a:lnSpc>
                <a:spcPts val="2400"/>
              </a:lnSpc>
            </a:pPr>
            <a:r>
              <a:rPr sz="1700" b="0" i="0">
                <a:solidFill>
                  <a:srgbClr val="1A1A1A"/>
                </a:solidFill>
                <a:latin typeface="Trebuchet MS"/>
              </a:rPr>
              <a:t>vulnerabilidad sin parchear.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615184"/>
            <a:ext cx="50749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2615184"/>
            <a:ext cx="64008" cy="23774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889504"/>
            <a:ext cx="4480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Trebuchet MS"/>
              </a:rPr>
              <a:t>Desplazó al robo de credenciales, que quedó segundo.</a:t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Trebuchet MS"/>
              </a:rPr>
              <a:t/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Trebuchet MS"/>
              </a:rPr>
              <a:t>Solo el 26 % de las vulnerabilidades críticas conocidas se remedió por completo.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221224"/>
            <a:ext cx="10469880" cy="731520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221224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1A1A1A"/>
                </a:solidFill>
                <a:latin typeface="Trebuchet MS"/>
              </a:rPr>
              <a:t>Actualizar el sistema no es la molestia que interrumpe la clase: es el control más eficaz que existe, y es gratis.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RANSOMWARE · CAUSAS RAÍZ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Mitad máquina, mitad persona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 i="0">
                <a:solidFill>
                  <a:srgbClr val="6E6A64"/>
                </a:solidFill>
                <a:latin typeface="Trebuchet MS"/>
              </a:rPr>
              <a:t>Sophos, 2025. Dato de proveedor: encuesta a 3.400 responsables de tecnología en 17 países.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000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Trebuchet MS"/>
              </a:rPr>
              <a:t>Vulnerabilidades explotadas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404872"/>
            <a:ext cx="6400800" cy="292608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404872"/>
            <a:ext cx="5120640" cy="292608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0" y="235000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Trebuchet MS"/>
              </a:rPr>
              <a:t>32 %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Trebuchet MS"/>
              </a:rPr>
              <a:t>Credenciales comprometidas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3063240"/>
            <a:ext cx="6400800" cy="292608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3063240"/>
            <a:ext cx="3680460" cy="292608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0" y="300837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Trebuchet MS"/>
              </a:rPr>
              <a:t>23 %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6674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Trebuchet MS"/>
              </a:rPr>
              <a:t>Correos maliciosos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721607"/>
            <a:ext cx="6400800" cy="292608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3721607"/>
            <a:ext cx="3040380" cy="2926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366674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Trebuchet MS"/>
              </a:rPr>
              <a:t>19 %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2511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Trebuchet MS"/>
              </a:rPr>
              <a:t>Phishing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4379976"/>
            <a:ext cx="6400800" cy="292608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4379976"/>
            <a:ext cx="2880360" cy="2926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32511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Trebuchet MS"/>
              </a:rPr>
              <a:t>18 %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1846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Trebuchet MS"/>
              </a:rPr>
              <a:t>Leídas juntas: la mitad son máquinas sin actualizar y la otra mitad son personas a las que les sacaron una llave.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Trebuchet M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2633472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0" b="1" i="0">
                <a:solidFill>
                  <a:srgbClr val="B3202C"/>
                </a:solidFill>
                <a:latin typeface="Georgia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5176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 i="0">
                <a:solidFill>
                  <a:srgbClr val="F7F5F0"/>
                </a:solidFill>
                <a:latin typeface="Georgia"/>
              </a:rPr>
              <a:t>Ransomware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611880"/>
            <a:ext cx="1828800" cy="36576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88620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ECE7DD"/>
                </a:solidFill>
                <a:latin typeface="Trebuchet MS"/>
              </a:rPr>
              <a:t>No aparece de un día para el otro. Es un proceso con etapas, y en cada una hay una oportunidad de cortarlo.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RANSOMWARE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La cadena, paso a paso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057400"/>
            <a:ext cx="160020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057400"/>
            <a:ext cx="1600200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DD6C8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43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>
                <a:solidFill>
                  <a:srgbClr val="1A1A1A"/>
                </a:solidFill>
                <a:latin typeface="Georgia"/>
              </a:rPr>
              <a:t>Acceso inicial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9184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 i="0">
                <a:solidFill>
                  <a:srgbClr val="6E6A64"/>
                </a:solidFill>
                <a:latin typeface="Trebuchet MS"/>
              </a:rPr>
              <a:t>Correo, credencial robada o vulnerabilidad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4912" y="2057400"/>
            <a:ext cx="160020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2057400"/>
            <a:ext cx="1600200" cy="5486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22402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B3202C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2743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>
                <a:solidFill>
                  <a:srgbClr val="1A1A1A"/>
                </a:solidFill>
                <a:latin typeface="Georgia"/>
              </a:rPr>
              <a:t>Reconocimiento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329184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 i="0">
                <a:solidFill>
                  <a:srgbClr val="6E6A64"/>
                </a:solidFill>
                <a:latin typeface="Trebuchet MS"/>
              </a:rPr>
              <a:t>Días o semanas mirando la red sin hacer ruido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9704" y="2057400"/>
            <a:ext cx="160020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9704" y="2057400"/>
            <a:ext cx="1600200" cy="5486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22402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B3202C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2743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>
                <a:solidFill>
                  <a:srgbClr val="1A1A1A"/>
                </a:solidFill>
                <a:latin typeface="Georgia"/>
              </a:rPr>
              <a:t>Escalada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4" y="329184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 i="0">
                <a:solidFill>
                  <a:srgbClr val="6E6A64"/>
                </a:solidFill>
                <a:latin typeface="Trebuchet MS"/>
              </a:rPr>
              <a:t>Conseguir permisos de administrador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2057400"/>
            <a:ext cx="160020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2057400"/>
            <a:ext cx="1600200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22402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DD6C8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743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>
                <a:solidFill>
                  <a:srgbClr val="1A1A1A"/>
                </a:solidFill>
                <a:latin typeface="Georgia"/>
              </a:rPr>
              <a:t>Exfiltración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29184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 i="0">
                <a:solidFill>
                  <a:srgbClr val="6E6A64"/>
                </a:solidFill>
                <a:latin typeface="Trebuchet MS"/>
              </a:rPr>
              <a:t>Copian los datos hacia afuera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9288" y="2057400"/>
            <a:ext cx="160020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9288" y="2057400"/>
            <a:ext cx="1600200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2167" y="22402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DD6C8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7" y="2743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>
                <a:solidFill>
                  <a:srgbClr val="1A1A1A"/>
                </a:solidFill>
                <a:latin typeface="Georgia"/>
              </a:rPr>
              <a:t>Cifrado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7" y="329184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 i="0">
                <a:solidFill>
                  <a:srgbClr val="6E6A64"/>
                </a:solidFill>
                <a:latin typeface="Trebuchet MS"/>
              </a:rPr>
              <a:t>Recién ahora se rompe la disponibilidad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2057400"/>
            <a:ext cx="160020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84080" y="2057400"/>
            <a:ext cx="1600200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22402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DD6C8"/>
                </a:solidFill>
                <a:latin typeface="Georg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2743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>
                <a:solidFill>
                  <a:srgbClr val="1A1A1A"/>
                </a:solidFill>
                <a:latin typeface="Georgia"/>
              </a:rPr>
              <a:t>Extorsión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329184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 i="0">
                <a:solidFill>
                  <a:srgbClr val="6E6A64"/>
                </a:solidFill>
                <a:latin typeface="Trebuchet MS"/>
              </a:rPr>
              <a:t>El mensaje en pantalla y el reloj corriendo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" y="4480560"/>
            <a:ext cx="10469880" cy="7498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480560"/>
            <a:ext cx="98755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7F5F0"/>
                </a:solidFill>
                <a:latin typeface="Trebuchet MS"/>
              </a:rPr>
              <a:t>En los pasos 2 y 3 el atacante está adentro durante días. Si nadie mira los registros, esa ventana se desperdicia.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DOBLE EXTORSIÓN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Primero copian, después cifran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011680"/>
            <a:ext cx="104698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011680"/>
            <a:ext cx="64008" cy="105156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011680"/>
            <a:ext cx="98755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Georgia"/>
              </a:rPr>
              <a:t>«No te devuelvo los archivos»  +  «publico todo lo que copié»: dos amenazas por el precio de una.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832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4"/>
                </a:solidFill>
                <a:latin typeface="Trebuchet MS"/>
              </a:rPr>
              <a:t>La consecuencia ya la vimos en la clase 2, con el caso del BHU: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840480"/>
            <a:ext cx="50292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3840480"/>
            <a:ext cx="64008" cy="1371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06908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600" b="0" i="0">
                <a:solidFill>
                  <a:srgbClr val="1A1A1A"/>
                </a:solidFill>
                <a:latin typeface="Trebuchet MS"/>
              </a:rPr>
              <a:t>Pagar podría devolver</a:t>
            </a:r>
          </a:p>
          <a:p>
            <a:pPr algn="l">
              <a:lnSpc>
                <a:spcPts val="2200"/>
              </a:lnSpc>
            </a:pPr>
            <a:r>
              <a:rPr sz="1600" b="0" i="0">
                <a:solidFill>
                  <a:srgbClr val="1A1A1A"/>
                </a:solidFill>
                <a:latin typeface="Trebuchet MS"/>
              </a:rPr>
              <a:t>la DISPONIBILIDAD.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840480"/>
            <a:ext cx="5029200" cy="1371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406908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600" b="1" i="0">
                <a:solidFill>
                  <a:srgbClr val="F7F5F0"/>
                </a:solidFill>
                <a:latin typeface="Trebuchet MS"/>
              </a:rPr>
              <a:t>Nunca devuelve</a:t>
            </a:r>
          </a:p>
          <a:p>
            <a:pPr algn="l">
              <a:lnSpc>
                <a:spcPts val="2200"/>
              </a:lnSpc>
            </a:pPr>
            <a:r>
              <a:rPr sz="1600" b="1" i="0">
                <a:solidFill>
                  <a:srgbClr val="F7F5F0"/>
                </a:solidFill>
                <a:latin typeface="Trebuchet MS"/>
              </a:rPr>
              <a:t>la CONFIDENCIALIDAD.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¿Y SI PAGAMOS?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La pregunta que aparece siempre, con números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066544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340864"/>
            <a:ext cx="10515600" cy="4023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340864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40">
                <a:solidFill>
                  <a:srgbClr val="F7F5F0"/>
                </a:solidFill>
                <a:latin typeface="Trebuchet MS"/>
              </a:rPr>
              <a:t>DATO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96712" y="2340864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40">
                <a:solidFill>
                  <a:srgbClr val="F7F5F0"/>
                </a:solidFill>
                <a:latin typeface="Trebuchet MS"/>
              </a:rPr>
              <a:t>CIFRA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37192" y="2340864"/>
            <a:ext cx="182879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40">
                <a:solidFill>
                  <a:srgbClr val="F7F5F0"/>
                </a:solidFill>
                <a:latin typeface="Trebuchet MS"/>
              </a:rPr>
              <a:t>FUENTE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743200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3134563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2743200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Víctimas que pagaron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2743200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49 %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7192" y="2743200"/>
            <a:ext cx="182879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Sophos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145536"/>
            <a:ext cx="10515600" cy="402336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3536899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3145536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Rescate mediano pagado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6712" y="3145536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USD 1 millón (la mitad que en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2" y="3145536"/>
            <a:ext cx="182879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Sophos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547872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3939235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3547872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Recuperaron los datos, hayan pagado o 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6712" y="3547872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97 %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7192" y="3547872"/>
            <a:ext cx="182879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Sophos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3950208"/>
            <a:ext cx="10515600" cy="402336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" y="4341571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3950208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Costo de recuperación, sin contar el rescate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3950208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USD 1,53 millones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7192" y="3950208"/>
            <a:ext cx="182879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Sophos 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4352544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" y="4743907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2" y="4352544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Víctimas que NO pagaron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96712" y="4352544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69 %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37192" y="4352544"/>
            <a:ext cx="182879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Verizon 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4754880"/>
            <a:ext cx="10515600" cy="402336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0120" y="5146243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4712" y="4754880"/>
            <a:ext cx="429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Brechas en las que apareció ransomware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96712" y="4754880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48 %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7192" y="4754880"/>
            <a:ext cx="182879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Verizon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TRES 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Que se sostienen solas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011680"/>
            <a:ext cx="104698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011680"/>
            <a:ext cx="64008" cy="86868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12140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Georgia"/>
              </a:rPr>
              <a:t>1.  No es el pago lo que recupera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87168"/>
            <a:ext cx="9692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6E6A64"/>
                </a:solidFill>
                <a:latin typeface="Trebuchet MS"/>
              </a:rPr>
              <a:t>El 97 % recuperó, y la vía principal fueron las copias de seguridad.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063240"/>
            <a:ext cx="104698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3063240"/>
            <a:ext cx="64008" cy="86868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17296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Georgia"/>
              </a:rPr>
              <a:t>2.  El rescate es la parte barata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38728"/>
            <a:ext cx="9692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6E6A64"/>
                </a:solidFill>
                <a:latin typeface="Trebuchet MS"/>
              </a:rPr>
              <a:t>La recuperación cuesta más que el rescate, se pague o no.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114800"/>
            <a:ext cx="104698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4114800"/>
            <a:ext cx="64008" cy="86868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22452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Georgia"/>
              </a:rPr>
              <a:t>3.  Pagar financia al atacante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590288"/>
            <a:ext cx="9692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6E6A64"/>
                </a:solidFill>
                <a:latin typeface="Trebuchet MS"/>
              </a:rPr>
              <a:t>Y le confirma que el negocio funciona. Costa Rica, en 2022, no pagó.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Trebuchet M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2633472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0" b="1" i="0">
                <a:solidFill>
                  <a:srgbClr val="B3202C"/>
                </a:solidFill>
                <a:latin typeface="Georgia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5176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 i="0">
                <a:solidFill>
                  <a:srgbClr val="F7F5F0"/>
                </a:solidFill>
                <a:latin typeface="Georgia"/>
              </a:rPr>
              <a:t>Phishing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611880"/>
            <a:ext cx="1828800" cy="36576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88620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ECE7DD"/>
                </a:solidFill>
                <a:latin typeface="Trebuchet MS"/>
              </a:rPr>
              <a:t>No ataca al sistema: ataca a la persona. Por eso ningún antivirus lo resuelve del todo.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PHISHING · VARIANTES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La misma idea por cinco canales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828800"/>
            <a:ext cx="10515600" cy="4023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28800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40">
                <a:solidFill>
                  <a:srgbClr val="F7F5F0"/>
                </a:solidFill>
                <a:latin typeface="Trebuchet MS"/>
              </a:rPr>
              <a:t>VARIANTE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1828800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40">
                <a:solidFill>
                  <a:srgbClr val="F7F5F0"/>
                </a:solidFill>
                <a:latin typeface="Trebuchet MS"/>
              </a:rPr>
              <a:t>POR DÓNDE LLEGA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1828800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40">
                <a:solidFill>
                  <a:srgbClr val="F7F5F0"/>
                </a:solidFill>
                <a:latin typeface="Trebuchet MS"/>
              </a:rPr>
              <a:t>QUÉ LA DISTINGUE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231136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622499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2231136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Phishing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Correo masivo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2231136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Va a miles: con que piquen unos pocos, alcanza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633472"/>
            <a:ext cx="10515600" cy="402336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3024835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2633472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Spear phishing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2633472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Correo dirigido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2633472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Sabe tu nombre, tu cargo y con quién trabajás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035808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3427171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3035808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Vishing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3035808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Llamada de voz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3035808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«Te llamamos del banco por un movimiento sospechoso»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3438144"/>
            <a:ext cx="10515600" cy="402336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" y="3829507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3438144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Smishing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3438144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SMS o mensajería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3438144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Enlace corto, urgencia, marca conocida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3840480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" y="4231843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2" y="3840480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Trebuchet MS"/>
              </a:rPr>
              <a:t>BEC · fraude del jefe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02152" y="3840480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Correo de una autoridad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3840480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«Hacé esta transferencia ya, estoy en una reunión»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DATO INCÓMODO · VERIZON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Aprendimos a desconfiar del correo, no del teléfono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066544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98064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0" b="1" i="0">
                <a:solidFill>
                  <a:srgbClr val="B3202C"/>
                </a:solidFill>
                <a:latin typeface="Georgia"/>
              </a:rPr>
              <a:t>+40 %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889504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1900" b="0" i="0">
                <a:solidFill>
                  <a:srgbClr val="1A1A1A"/>
                </a:solidFill>
                <a:latin typeface="Trebuchet MS"/>
              </a:rPr>
              <a:t>más éxito tiene la ingeniería social</a:t>
            </a:r>
          </a:p>
          <a:p>
            <a:pPr algn="l">
              <a:lnSpc>
                <a:spcPts val="2800"/>
              </a:lnSpc>
            </a:pPr>
            <a:r>
              <a:rPr sz="1900" b="0" i="0">
                <a:solidFill>
                  <a:srgbClr val="1A1A1A"/>
                </a:solidFill>
                <a:latin typeface="Trebuchet MS"/>
              </a:rPr>
              <a:t>por voz y por SMS que el phishing</a:t>
            </a:r>
          </a:p>
          <a:p>
            <a:pPr algn="l">
              <a:lnSpc>
                <a:spcPts val="2800"/>
              </a:lnSpc>
            </a:pPr>
            <a:r>
              <a:rPr sz="1900" b="0" i="0">
                <a:solidFill>
                  <a:srgbClr val="1A1A1A"/>
                </a:solidFill>
                <a:latin typeface="Trebuchet MS"/>
              </a:rPr>
              <a:t>por correo electrónico.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4764024"/>
            <a:ext cx="10469880" cy="7772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4764024"/>
            <a:ext cx="9875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>
                <a:solidFill>
                  <a:srgbClr val="F7F5F0"/>
                </a:solidFill>
                <a:latin typeface="Trebuchet MS"/>
              </a:rPr>
              <a:t>Una voz tranquila que te llama por tu nombre baja las defensas que un correo ya no logra bajar.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POR QUÉ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Cuatro resortes, ninguna casualidad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 i="0">
                <a:solidFill>
                  <a:srgbClr val="6E6A64"/>
                </a:solidFill>
                <a:latin typeface="Trebuchet MS"/>
              </a:rPr>
              <a:t>Ningún mensaje de phishing es creíble por su redacción: es creíble porque te pone en un estado en el que no pensás.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304288"/>
            <a:ext cx="50292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304288"/>
            <a:ext cx="64008" cy="105156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450592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Georgia"/>
              </a:rPr>
              <a:t>Urgencia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834640"/>
            <a:ext cx="452628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1A1A1A"/>
                </a:solidFill>
                <a:latin typeface="Trebuchet MS"/>
              </a:rPr>
              <a:t>«En 24 horas se bloquea.» No te da tiempo de consultar con nadie.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2304288"/>
            <a:ext cx="50292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2304288"/>
            <a:ext cx="64008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50592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Georgia"/>
              </a:rPr>
              <a:t>Autoridad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834640"/>
            <a:ext cx="452628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1A1A1A"/>
                </a:solidFill>
                <a:latin typeface="Trebuchet MS"/>
              </a:rPr>
              <a:t>El logo, el sello, el nombre del organismo, el tono formal.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538728"/>
            <a:ext cx="50292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3538728"/>
            <a:ext cx="64008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3685032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Georgia"/>
              </a:rPr>
              <a:t>Miedo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4069080"/>
            <a:ext cx="452628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1A1A1A"/>
                </a:solidFill>
                <a:latin typeface="Trebuchet MS"/>
              </a:rPr>
              <a:t>Una deuda, una multa, una cuenta comprometida.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3538728"/>
            <a:ext cx="50292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3538728"/>
            <a:ext cx="64008" cy="105156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3685032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Georgia"/>
              </a:rPr>
              <a:t>Recompensa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069080"/>
            <a:ext cx="452628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1A1A1A"/>
                </a:solidFill>
                <a:latin typeface="Trebuchet MS"/>
              </a:rPr>
              <a:t>Un saldo a favor, un premio, unos puntos por vencer.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GUÍA DE AGESIC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Las seis señales, antes de tocar nada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874519"/>
            <a:ext cx="10469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7451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B3202C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874519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Trebuchet MS"/>
              </a:rPr>
              <a:t>El remitente no coincide o es desconocido. Mirá la dirección completa, no el nombre.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404872"/>
            <a:ext cx="10469880" cy="457200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4048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B3202C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04872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Trebuchet MS"/>
              </a:rPr>
              <a:t>La urgencia. «Con la urgencia buscan impedir que pienses que puede ser un fraude.»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935224"/>
            <a:ext cx="10469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9352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B3202C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935224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Trebuchet MS"/>
              </a:rPr>
              <a:t>Los enlaces: no hagas clic, entrá escribiendo vos la dirección oficial.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465575"/>
            <a:ext cx="10469880" cy="457200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46557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B3202C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465575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Trebuchet MS"/>
              </a:rPr>
              <a:t>Los archivos adjuntos que no esperabas no se abren ni se descargan.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3995927"/>
            <a:ext cx="10469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99592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B3202C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995927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Trebuchet MS"/>
              </a:rPr>
              <a:t>Nadie serio te pide contraseñas, PIN ni códigos.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526279"/>
            <a:ext cx="10469880" cy="457200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5262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B3202C"/>
                </a:solidFill>
                <a:latin typeface="Georgia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526279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Trebuchet MS"/>
              </a:rPr>
              <a:t>Los detalles: faltas de ortografía y pequeñas diferencias con el original.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1663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6E6A64"/>
                </a:solidFill>
                <a:latin typeface="Trebuchet MS"/>
              </a:rPr>
              <a:t>gub.uy · «¿Qué es el phishing y cómo prevenirlo?»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MÁS VALE QUE LAS SEIS SEÑALES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Tres medidas que resuelven casi 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057400"/>
            <a:ext cx="32918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057400"/>
            <a:ext cx="3291840" cy="5486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1005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DD6C8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26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1" i="0">
                <a:solidFill>
                  <a:srgbClr val="1A1A1A"/>
                </a:solidFill>
                <a:latin typeface="Georgia"/>
              </a:rPr>
              <a:t>Verificá por otro canal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204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6E6A64"/>
                </a:solidFill>
                <a:latin typeface="Trebuchet MS"/>
              </a:rPr>
              <a:t>Llamá al número que vos ya tenías. Nunca al que viene en el mensaje.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2057400"/>
            <a:ext cx="32918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057400"/>
            <a:ext cx="3291840" cy="5486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286000"/>
            <a:ext cx="1005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DD6C8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926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1" i="0">
                <a:solidFill>
                  <a:srgbClr val="1A1A1A"/>
                </a:solidFill>
                <a:latin typeface="Georgia"/>
              </a:rPr>
              <a:t>Activá el segundo 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5204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6E6A64"/>
                </a:solidFill>
                <a:latin typeface="Trebuchet MS"/>
              </a:rPr>
              <a:t>Con la contraseña sola no alcanza para entrar a tu cuenta.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057400"/>
            <a:ext cx="32918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057400"/>
            <a:ext cx="3291840" cy="5486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286000"/>
            <a:ext cx="1005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DD6C8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926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1" i="0">
                <a:solidFill>
                  <a:srgbClr val="1A1A1A"/>
                </a:solidFill>
                <a:latin typeface="Georgia"/>
              </a:rPr>
              <a:t>Denunciá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5204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 i="0">
                <a:solidFill>
                  <a:srgbClr val="6E6A64"/>
                </a:solidFill>
                <a:latin typeface="Trebuchet MS"/>
              </a:rPr>
              <a:t>Ante el organismo suplantado y ante el CERTuy. Sirve para cortar la campaña.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URUGUAY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Tres campañas que circularon acá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965960"/>
            <a:ext cx="329184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965960"/>
            <a:ext cx="64008" cy="274320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488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50">
                <a:solidFill>
                  <a:srgbClr val="B3202C"/>
                </a:solidFill>
                <a:latin typeface="Trebuchet MS"/>
              </a:rPr>
              <a:t>DGI · ABRIL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Georgia"/>
              </a:rPr>
              <a:t>El saldo a favor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71800"/>
            <a:ext cx="2788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1A1A1A"/>
                </a:solidFill>
                <a:latin typeface="Trebuchet MS"/>
              </a:rPr>
              <a:t>Un correo anunciaba un saldo a favor y pedía pagar un arancel para cobrarlo. Traía sellos falsificados.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4041648"/>
            <a:ext cx="265176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16052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1">
                <a:solidFill>
                  <a:srgbClr val="6E6A64"/>
                </a:solidFill>
                <a:latin typeface="Trebuchet MS"/>
              </a:rPr>
              <a:t>Nadie que te deba plata te pide plata para dártela.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1965960"/>
            <a:ext cx="329184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965960"/>
            <a:ext cx="64008" cy="274320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1488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50">
                <a:solidFill>
                  <a:srgbClr val="B3202C"/>
                </a:solidFill>
                <a:latin typeface="Trebuchet MS"/>
              </a:rPr>
              <a:t>BROU · ABRIL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4871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Georgia"/>
              </a:rPr>
              <a:t>Los puntos que vencen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971800"/>
            <a:ext cx="2788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1A1A1A"/>
                </a:solidFill>
                <a:latin typeface="Trebuchet MS"/>
              </a:rPr>
              <a:t>«Tus Puntos BROU 6844 vencerán en 24 horas», con un enlace para canjearlos.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4041648"/>
            <a:ext cx="265176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416052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1">
                <a:solidFill>
                  <a:srgbClr val="6E6A64"/>
                </a:solidFill>
                <a:latin typeface="Trebuchet MS"/>
              </a:rPr>
              <a:t>Urgencia y recompensa juntas: la combinación más eficaz.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965960"/>
            <a:ext cx="329184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1965960"/>
            <a:ext cx="64008" cy="274320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1488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50">
                <a:solidFill>
                  <a:srgbClr val="B3202C"/>
                </a:solidFill>
                <a:latin typeface="Trebuchet MS"/>
              </a:rPr>
              <a:t>CORREO · JUNIO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4871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Georgia"/>
              </a:rPr>
              <a:t>El paquete pendiente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971800"/>
            <a:ext cx="2788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1A1A1A"/>
                </a:solidFill>
                <a:latin typeface="Trebuchet MS"/>
              </a:rPr>
              <a:t>Un paquete pendiente que pedía un pago o actualizar la dirección. El organismo lo comunicó oficialmente.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4041648"/>
            <a:ext cx="265176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16052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1">
                <a:solidFill>
                  <a:srgbClr val="6E6A64"/>
                </a:solidFill>
                <a:latin typeface="Trebuchet MS"/>
              </a:rPr>
              <a:t>Un cobro inesperado por algo que ya estaba pago.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Trebuchet MS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E0A32E"/>
                </a:solidFill>
                <a:latin typeface="Trebuchet MS"/>
              </a:rPr>
              <a:t>EL CONTEXTO, EN NÚMEROS DEL CERTUY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F7F5F0"/>
                </a:solidFill>
                <a:latin typeface="Georgia"/>
              </a:rPr>
              <a:t>Uruguay no es un lugar tranquilo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E0A32E"/>
                </a:solidFill>
                <a:latin typeface="Georgia"/>
              </a:rPr>
              <a:t>32.399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200400"/>
            <a:ext cx="822960" cy="27432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ECE7DD"/>
                </a:solidFill>
                <a:latin typeface="Trebuchet MS"/>
              </a:rPr>
              <a:t>incidentes detectados y respondidos en el primer semestre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E0A32E"/>
                </a:solidFill>
                <a:latin typeface="Georgia"/>
              </a:rPr>
              <a:t>+52 %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3200400"/>
            <a:ext cx="822960" cy="27432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3832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ECE7DD"/>
                </a:solidFill>
                <a:latin typeface="Trebuchet MS"/>
              </a:rPr>
              <a:t>más que en el mismo período del año anterior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19456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E0A32E"/>
                </a:solidFill>
                <a:latin typeface="Georgia"/>
              </a:rPr>
              <a:t>≈43 %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200400"/>
            <a:ext cx="822960" cy="27432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3832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ECE7DD"/>
                </a:solidFill>
                <a:latin typeface="Trebuchet MS"/>
              </a:rPr>
              <a:t>de las amenazas identificadas son phishing, en sus dos variantes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177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6E6A64"/>
                </a:solidFill>
                <a:latin typeface="Trebuchet MS"/>
              </a:rPr>
              <a:t>En todo 2025 fueron 42.768 incidentes. Fuente: CERTuy / AGESIC, estadísticas publicadas en 2026.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Trebuchet MS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2633472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0" b="1" i="0">
                <a:solidFill>
                  <a:srgbClr val="B3202C"/>
                </a:solidFill>
                <a:latin typeface="Georgia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517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 i="0">
                <a:solidFill>
                  <a:srgbClr val="F7F5F0"/>
                </a:solidFill>
                <a:latin typeface="Georgia"/>
              </a:rPr>
              <a:t>El caso del año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611880"/>
            <a:ext cx="1828800" cy="36576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88620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ECE7DD"/>
                </a:solidFill>
                <a:latin typeface="Trebuchet MS"/>
              </a:rPr>
              <a:t>Brasil, 30 de junio de 2025. Sin malware, sin vulnerabilidad técnica, sin una sola línea de código.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C&amp;M SOFTWARE · 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15.000 reales por una contraseña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700"/>
              </a:spcAft>
            </a:pPr>
            <a:r>
              <a:rPr sz="1450" b="0" i="0">
                <a:solidFill>
                  <a:srgbClr val="1A1A1A"/>
                </a:solidFill>
                <a:latin typeface="Trebuchet MS"/>
              </a:rPr>
              <a:t>C&amp;M Software conecta a 23 instituciones financieras con el sistema de pagos brasileño.</a:t>
            </a:r>
          </a:p>
          <a:p>
            <a:pPr algn="l">
              <a:lnSpc>
                <a:spcPts val="2200"/>
              </a:lnSpc>
              <a:spcAft>
                <a:spcPts val="700"/>
              </a:spcAft>
            </a:pPr>
            <a:r>
              <a:rPr sz="1450" b="0" i="0">
                <a:solidFill>
                  <a:srgbClr val="1A1A1A"/>
                </a:solidFill>
                <a:latin typeface="Trebuchet MS"/>
              </a:rPr>
              <a:t>En marzo de 2025, en un bar de San Pablo, alguien se acercó a João Nazareno Roque, empleado de la empresa.</a:t>
            </a:r>
          </a:p>
          <a:p>
            <a:pPr algn="l">
              <a:lnSpc>
                <a:spcPts val="2200"/>
              </a:lnSpc>
              <a:spcAft>
                <a:spcPts val="700"/>
              </a:spcAft>
            </a:pPr>
            <a:r>
              <a:rPr sz="1450" b="0" i="0">
                <a:solidFill>
                  <a:srgbClr val="1A1A1A"/>
                </a:solidFill>
                <a:latin typeface="Trebuchet MS"/>
              </a:rPr>
              <a:t>Le pagaron 5.000 reales por su usuario y su contraseña, y 10.000 más por explicar los procedimientos internos.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88620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3886200"/>
            <a:ext cx="2377440" cy="5486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114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B3202C"/>
                </a:solidFill>
                <a:latin typeface="Georgia"/>
              </a:rPr>
              <a:t>R$ 15.000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6E6A64"/>
                </a:solidFill>
                <a:latin typeface="Trebuchet MS"/>
              </a:rPr>
              <a:t>lo que costó el acceso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388620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3886200"/>
            <a:ext cx="2377440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4114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Georgia"/>
              </a:rPr>
              <a:t>3 horas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6177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6E6A64"/>
                </a:solidFill>
                <a:latin typeface="Trebuchet MS"/>
              </a:rPr>
              <a:t>lo que duró la operación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88620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886200"/>
            <a:ext cx="2377440" cy="5486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114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B3202C"/>
                </a:solidFill>
                <a:latin typeface="Georgia"/>
              </a:rPr>
              <a:t>R$ 541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6177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6E6A64"/>
                </a:solidFill>
                <a:latin typeface="Trebuchet MS"/>
              </a:rPr>
              <a:t>lo que se desvió por Pix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388620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400" y="3886200"/>
            <a:ext cx="2377440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4114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Georgia"/>
              </a:rPr>
              <a:t>R$ 270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6177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6E6A64"/>
                </a:solidFill>
                <a:latin typeface="Trebuchet MS"/>
              </a:rPr>
              <a:t>lo que se logró bloquear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rebuchet MS"/>
              </a:rPr>
              <a:t>Se cortó a las 7 de la mañana, cuando otra institución avisó que veía transacciones atípicas.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C&amp;M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El análisis, con el método de la clase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066544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340864"/>
            <a:ext cx="10515600" cy="7863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340864"/>
            <a:ext cx="17373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40">
                <a:solidFill>
                  <a:srgbClr val="F7F5F0"/>
                </a:solidFill>
                <a:latin typeface="Trebuchet MS"/>
              </a:rPr>
              <a:t>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2340864"/>
            <a:ext cx="82296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40">
                <a:solidFill>
                  <a:srgbClr val="F7F5F0"/>
                </a:solidFill>
                <a:latin typeface="Trebuchet MS"/>
              </a:rPr>
              <a:t>ANÁLISIS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127248"/>
            <a:ext cx="10515600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3902659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127248"/>
            <a:ext cx="17373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Trebuchet MS"/>
              </a:rPr>
              <a:t>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3127248"/>
            <a:ext cx="82296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Trebuchet MS"/>
              </a:rPr>
              <a:t>Ingeniería social sobre una persona. No hubo vulnerabilidad técnica: hubo una credencial vendida.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913632"/>
            <a:ext cx="10515600" cy="786384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4689043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3913632"/>
            <a:ext cx="17373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Trebuchet MS"/>
              </a:rPr>
              <a:t>Propiedades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3913632"/>
            <a:ext cx="82296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Trebuchet MS"/>
              </a:rPr>
              <a:t>Integridad: se ordenaron transferencias falsas que el sistema procesó como legítimas. Con ella caen autenticidad y no repudio.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4700016"/>
            <a:ext cx="10515600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0120" y="5475427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700016"/>
            <a:ext cx="17373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Trebuchet MS"/>
              </a:rPr>
              <a:t>Qué falló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6392" y="4700016"/>
            <a:ext cx="82296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Trebuchet MS"/>
              </a:rPr>
              <a:t>Una credencial alcanzaba para mover cientos de millones: faltó separación de privilegios y doble autorización.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5486400"/>
            <a:ext cx="10515600" cy="786384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" y="6261811"/>
            <a:ext cx="1051560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5486400"/>
            <a:ext cx="17373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Trebuchet MS"/>
              </a:rPr>
              <a:t>Qué funcionó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36392" y="5486400"/>
            <a:ext cx="82296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Trebuchet MS"/>
              </a:rPr>
              <a:t>La detección externa. Otra institución vio algo raro y avisó: el control que frenó el desastre fue humano.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SI YA PASÓ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Qué hacer, y en este orden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874519"/>
            <a:ext cx="10469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874519"/>
            <a:ext cx="64008" cy="566928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45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DDD6C8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874519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Trebuchet MS"/>
              </a:rPr>
              <a:t>Desconectá el equipo de la 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874519"/>
            <a:ext cx="5486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E6A64"/>
                </a:solidFill>
                <a:latin typeface="Trebuchet MS"/>
              </a:rPr>
              <a:t>Wifi y cable. No lo apagues si viene alguien técnico: apagarlo borra evidencia.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532887"/>
            <a:ext cx="10469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" y="2532887"/>
            <a:ext cx="64008" cy="566928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532887"/>
            <a:ext cx="45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DDD6C8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532887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Trebuchet MS"/>
              </a:rPr>
              <a:t>Cambiá la contraseña desde otro dispositivo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532887"/>
            <a:ext cx="5486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E6A64"/>
                </a:solidFill>
                <a:latin typeface="Trebuchet MS"/>
              </a:rPr>
              <a:t>Primero la del correo: es la llave que recupera todas las demás.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191256"/>
            <a:ext cx="10469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3191256"/>
            <a:ext cx="64008" cy="566928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191256"/>
            <a:ext cx="45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DDD6C8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191256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Trebuchet MS"/>
              </a:rPr>
              <a:t>Avisá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191256"/>
            <a:ext cx="5486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E6A64"/>
                </a:solidFill>
                <a:latin typeface="Trebuchet MS"/>
              </a:rPr>
              <a:t>Al referente informático. En Uruguay, los incidentes se reportan al CERTuy.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3849624"/>
            <a:ext cx="10469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" y="3849624"/>
            <a:ext cx="64008" cy="566928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3849624"/>
            <a:ext cx="45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DDD6C8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849624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Trebuchet MS"/>
              </a:rPr>
              <a:t>Si hubo plata, llamá al banco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3849624"/>
            <a:ext cx="5486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E6A64"/>
                </a:solidFill>
                <a:latin typeface="Trebuchet MS"/>
              </a:rPr>
              <a:t>De inmediato, y hacé la denuncia.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4507992"/>
            <a:ext cx="10469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" y="4507992"/>
            <a:ext cx="64008" cy="566928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507992"/>
            <a:ext cx="45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DDD6C8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507992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Trebuchet MS"/>
              </a:rPr>
              <a:t>Contá qué pasó sin adornar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4507992"/>
            <a:ext cx="5486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E6A64"/>
                </a:solidFill>
                <a:latin typeface="Trebuchet MS"/>
              </a:rPr>
              <a:t>El tiempo entre que caíste y que avisaste define el tamaño del daño.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5257800"/>
            <a:ext cx="10469880" cy="640080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525780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Trebuchet MS"/>
              </a:rPr>
              <a:t>Avisar de buena fe nunca puede ser motivo de sanción. Castigar al que avisa es comprar silencio.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CINCO MITOS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Que aparecen todos los años, y son falsos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066544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386584"/>
            <a:ext cx="10469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86584"/>
            <a:ext cx="365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B3202C"/>
                </a:solidFill>
                <a:latin typeface="Trebuchet MS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86584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Georgia"/>
              </a:rPr>
              <a:t>«Con el antivirus alcanza»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386584"/>
            <a:ext cx="5303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Es una capa, la del equipo. No frena un phishing ni una credencial vendida.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044952"/>
            <a:ext cx="10469880" cy="566928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044952"/>
            <a:ext cx="365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B3202C"/>
                </a:solidFill>
                <a:latin typeface="Trebuchet MS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44952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Georgia"/>
              </a:rPr>
              <a:t>«A mí no me van a atacar»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044952"/>
            <a:ext cx="5303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Tenés identidad, contactos y una máquina. El ataque masivo no elige: barre.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703320"/>
            <a:ext cx="10469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703320"/>
            <a:ext cx="365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B3202C"/>
                </a:solidFill>
                <a:latin typeface="Trebuchet MS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03320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Georgia"/>
              </a:rPr>
              <a:t>«Si tiene candado, es seguro»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703320"/>
            <a:ext cx="5303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El candado cifra la conexión. No dice quién está del otro lado.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361688"/>
            <a:ext cx="10469880" cy="566928"/>
          </a:xfrm>
          <a:prstGeom prst="rect">
            <a:avLst/>
          </a:prstGeom>
          <a:solidFill>
            <a:srgbClr val="EC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361688"/>
            <a:ext cx="365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B3202C"/>
                </a:solidFill>
                <a:latin typeface="Trebuchet MS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361688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Georgia"/>
              </a:rPr>
              <a:t>«Pagando se soluciona»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361688"/>
            <a:ext cx="5303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El 97 % recuperó por copias de seguridad. Y la confidencialidad no vuelve.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5020056"/>
            <a:ext cx="10469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020056"/>
            <a:ext cx="365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B3202C"/>
                </a:solidFill>
                <a:latin typeface="Trebuchet MS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020056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Georgia"/>
              </a:rPr>
              <a:t>«El phishing se nota porque está mal escrito»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5020056"/>
            <a:ext cx="5303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rebuchet MS"/>
              </a:rPr>
              <a:t>Hoy están bien redactados. Se detecta por el contexto, no por la ortografía.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PARA LA PRÓXIMA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Qué te llevás de 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011680"/>
            <a:ext cx="32918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011680"/>
            <a:ext cx="3291840" cy="5486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3317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600" b="1" i="0">
                <a:solidFill>
                  <a:srgbClr val="1A1A1A"/>
                </a:solidFill>
                <a:latin typeface="Georgia"/>
              </a:rPr>
              <a:t>El vector no es la propiedad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E6A64"/>
                </a:solidFill>
                <a:latin typeface="Trebuchet MS"/>
              </a:rPr>
              <a:t>Preguntá siempre por dónde entraron. Muchas veces entraron caminando.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2011680"/>
            <a:ext cx="32918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011680"/>
            <a:ext cx="3291840" cy="5486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3317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600" b="1" i="0">
                <a:solidFill>
                  <a:srgbClr val="1A1A1A"/>
                </a:solidFill>
                <a:latin typeface="Georgia"/>
              </a:rPr>
              <a:t>La cadena se corta antes del cifrado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06324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E6A64"/>
                </a:solidFill>
                <a:latin typeface="Trebuchet MS"/>
              </a:rPr>
              <a:t>El atacante está adentro días. Los registros son la oportunidad.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011680"/>
            <a:ext cx="32918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011680"/>
            <a:ext cx="3291840" cy="5486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3317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600" b="1" i="0">
                <a:solidFill>
                  <a:srgbClr val="1A1A1A"/>
                </a:solidFill>
                <a:latin typeface="Georgia"/>
              </a:rPr>
              <a:t>La urgencia es la señal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06324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E6A64"/>
                </a:solidFill>
                <a:latin typeface="Trebuchet MS"/>
              </a:rPr>
              <a:t>Está puesta a propósito para que no verifiques. Verificá igual.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069080"/>
            <a:ext cx="10469880" cy="18288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51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Trebuchet MS"/>
              </a:rPr>
              <a:t>Actividad 4 · Disección de mensajes sospechosos — en grupos, con una campaña de alerta como producto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17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rebuchet MS"/>
              </a:rPr>
              <a:t>Autoevaluación · 10 preguntas con respuestas explicadas, no lleva nota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8348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B3202C"/>
                </a:solidFill>
                <a:latin typeface="Trebuchet MS"/>
              </a:rPr>
              <a:t>Clase 5 · Amenazas II: ingeniería social, denegación de servicio y APT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172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7F5F0"/>
                </a:solidFill>
                <a:latin typeface="Trebuchet MS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220">
                <a:solidFill>
                  <a:srgbClr val="B3202C"/>
                </a:solidFill>
                <a:latin typeface="Trebuchet MS"/>
              </a:rPr>
              <a:t>FUENTES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515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900" b="1" i="0">
                <a:solidFill>
                  <a:srgbClr val="1A1A1A"/>
                </a:solidFill>
                <a:latin typeface="Georgia"/>
              </a:rPr>
              <a:t>De dónde salió cada número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54480"/>
            <a:ext cx="1554480" cy="32004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1A1A1A"/>
                </a:solidFill>
                <a:latin typeface="Trebuchet MS"/>
              </a:rPr>
              <a:t>CERTuy / AGESIC. Estadísticas de incidentes de seguridad de la información, primer semestre de 2026 y año 2025.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76856"/>
            <a:ext cx="1042416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1A1A1A"/>
                </a:solidFill>
                <a:latin typeface="Trebuchet MS"/>
              </a:rPr>
              <a:t>AGESIC. «¿Qué es el phishing y cómo prevenirlo?» — guía vigente, gub.uy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734056"/>
            <a:ext cx="1042416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1A1A1A"/>
                </a:solidFill>
                <a:latin typeface="Trebuchet MS"/>
              </a:rPr>
              <a:t>Sophos. The State of Ransomware 2025. Encuesta a 3.400 responsables de tecnología en 17 países. Dato de proveedor.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191256"/>
            <a:ext cx="1042416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6120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1A1A1A"/>
                </a:solidFill>
                <a:latin typeface="Trebuchet MS"/>
              </a:rPr>
              <a:t>Verizon. Data Breach Investigations Report 2026.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648456"/>
            <a:ext cx="1042416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03320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1A1A1A"/>
                </a:solidFill>
                <a:latin typeface="Trebuchet MS"/>
              </a:rPr>
              <a:t>Correo Uruguayo (2/6/2025). Alerta sobre fraudes digitales que suplantan su identidad. gub.uy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4105656"/>
            <a:ext cx="1042416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60520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1A1A1A"/>
                </a:solidFill>
                <a:latin typeface="Trebuchet MS"/>
              </a:rPr>
              <a:t>Ámbito (13/4/2025 y 4/4/2025). Campañas fraudulentas a nombre de DGI y BROU.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4562856"/>
            <a:ext cx="1042416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17720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1A1A1A"/>
                </a:solidFill>
                <a:latin typeface="Trebuchet MS"/>
              </a:rPr>
              <a:t>CNN Brasil (julio de 2025). Ataque a C&amp;M Software: R$ 541 millones desviados vía Pix.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5020056"/>
            <a:ext cx="10424160" cy="1097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578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6E6A64"/>
                </a:solidFill>
                <a:latin typeface="Trebuchet MS"/>
              </a:rPr>
              <a:t>Las cifras de Sophos vienen de una encuesta encargada por una empresa del sector. Decir de dónde sale un dato es parte del oficio.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