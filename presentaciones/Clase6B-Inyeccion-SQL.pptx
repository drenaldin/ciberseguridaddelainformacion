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clase es una profundización sobre UN tema (inyección SQL) aplicada al proyecto que los alumnos están construyendo en UTULab: un e-commerce en PHP y MySQL. No es un tema nuevo abstracto: es su propio login, su catálogo y su detalle de producto.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tres puertas son las tres consultas más comunes de cualquier e-commerce, y las tres están en el proyecto de ellos. Vamos a atacar y cerrar cada una.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concepto que sostiene todo: cuando el dato del usuario se mezcla con la orden, el usuario puede reescribir la orden. La inyección SQL es eso, y nada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código es el que suele estar en la primera versión de casi todos los proyectos. No es que esté «mal hecho» por torpeza: es el camino natural, y por eso hay que conocer el patrón correcto.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Verificado contra una base real: ese payload en el correo devuelve al administrador. Es el ataque más viejo y más común contra un login mal hecho, y funciona en la primera versión de casi todos los proyectos.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catálogo parece inofensivo, pero comparte el mismo error. Y además es el escalón hacia el UNION: una vez que sé que la búsqueda o el detalle son inyectables, puedo sacar datos de otras tablas.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ORDER BY N ordena por la columna número N. Si N no existe, la base da error. Subiendo el número hasta que falla, el atacante cuenta las columnas sin ver el código. Verificado: ORDER BY 4 da 'Unknown column 4'.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Verificado contra base real: ese UNION devuelve los correos y los hashes MD5 (0192023a... es md5('admin123')). Este es el momento de la clase: mostrar que 'entrar' no es lo peor; lo peor es 'llevarse todo'.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anclaje uruguayo: la Ley 18.331 y la URCDP. Esto eleva la seguridad de «buena práctica» a «obligación». Es un argumento fuerte para el proyecto y para la defensa.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patrón, en mysqli, que es lo que usan. prepare pone el hueco, bind_param manda el dato aparte marcando el tipo ('s' string). Verificado: el mismo payload contra la versión parametrizada no devuelve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detalle de producto se cierra con el mismo prepare + bind_param, y además forzando el tipo entero, que es una segunda barrera contra el UNION.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Mínimo privilegio y password_hash ya se vieron en las clases 3 y 6. Acá se aplican al e-commerce. Es la diferencia entre «se filtró una consulta» y «se filtró todo».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tres aparecen solas cuando alguien intenta arreglar la inyección sin conocer el patrón. Conviene descartarlas explícitamente, porque dan una falsa sensación de seguridad.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checklist es lo que se llevan para aplicar en el proyecto. La revisión concreta, consulta por consulta, es la tarea.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operativo: que abran el login del proyecto en el momento. El material completo y el checklist están en el repositorio.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84048" y="0"/>
            <a:ext cx="91440" cy="685800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234440" y="118872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CIBERSEGURIDAD  ·  3.º BT  ·  PROFUNDIZACIÓN SOBRE EL PROYECTO DE UTULAB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27632"/>
            <a:ext cx="9784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Inyección SQL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5B34C7"/>
                </a:solidFill>
                <a:latin typeface="Rockwell"/>
                <a:ea typeface="Rockwell"/>
                <a:cs typeface="Rockwell"/>
              </a:rPr>
              <a:t>en tu e-commerce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3749039"/>
            <a:ext cx="2743200" cy="32004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234440" y="4069080"/>
            <a:ext cx="9646920" cy="1417320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53896" y="4215384"/>
            <a:ext cx="9244584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35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una línea decide si cualquiera entra como administrador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35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$sql = "... WHERE correo = '$correo' ...";   // mal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35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$stmt = $conn-&gt;prepare("... WHERE correo = ?"); // bien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5760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Clase 6B · complementa la clase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POR QUÉ ESTA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Tu tienda tiene tres puertas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1091153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El e-commerce del proyecto le pide datos a MySQL en tres lugares donde el usuario escribe. Cada uno es una consulta, y cada consulta puede estar mal escrita: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2322576"/>
            <a:ext cx="10911535" cy="96012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40080" y="2258568"/>
            <a:ext cx="10911535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40080" y="2258568"/>
            <a:ext cx="128016" cy="96012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2404872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100">
                <a:solidFill>
                  <a:srgbClr val="5B34C7"/>
                </a:solidFill>
                <a:latin typeface="Rockwell"/>
                <a:ea typeface="Rockwell"/>
                <a:cs typeface="Rockwell"/>
              </a:rPr>
              <a:t>LOGIN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2316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Módulo de usuarios: correo, clave y roles (admin, empleado, cliente).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19" y="2423160"/>
            <a:ext cx="277337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→ entrar como administrador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3392424"/>
            <a:ext cx="10911535" cy="96012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40080" y="3328416"/>
            <a:ext cx="10911535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40080" y="3328416"/>
            <a:ext cx="128016" cy="96012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05840" y="347472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100">
                <a:solidFill>
                  <a:srgbClr val="0E7C66"/>
                </a:solidFill>
                <a:latin typeface="Rockwell"/>
                <a:ea typeface="Rockwell"/>
                <a:cs typeface="Rockwell"/>
              </a:rPr>
              <a:t>CATÁLOGO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4930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Búsqueda y filtrado de productos por nombre o categoría.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19" y="3493008"/>
            <a:ext cx="277337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7C66"/>
                </a:solidFill>
                <a:latin typeface="Verdana"/>
                <a:ea typeface="Verdana"/>
                <a:cs typeface="Verdana"/>
              </a:rPr>
              <a:t>→ ver lo que no está publicado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" y="4462272"/>
            <a:ext cx="10911535" cy="960120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40080" y="4398264"/>
            <a:ext cx="10911535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40080" y="4398264"/>
            <a:ext cx="128016" cy="960120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5840" y="454456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100">
                <a:solidFill>
                  <a:srgbClr val="B02A37"/>
                </a:solidFill>
                <a:latin typeface="Rockwell"/>
                <a:ea typeface="Rockwell"/>
                <a:cs typeface="Rockwell"/>
              </a:rPr>
              <a:t>DETALLE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4562856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producto.php?id=…  — el id lo pone quien abre la página.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4562856"/>
            <a:ext cx="277337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02A37"/>
                </a:solidFill>
                <a:latin typeface="Verdana"/>
                <a:ea typeface="Verdana"/>
                <a:cs typeface="Verdana"/>
              </a:rPr>
              <a:t>→ robar la tabla de clientes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EL MECANISMO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Cómo le habla tu PHP a la 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Para validar un login, tu PHP le manda a MySQL una orden en lenguaje SQL: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67128"/>
            <a:ext cx="10911535" cy="640080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2313432"/>
            <a:ext cx="1050919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3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SELECT * FROM usuarios WHERE correo = 'ana@mail.com' AND clave = '...'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358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El problema: parte de esa orden la escribió el usuario en el formulario.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3694176"/>
            <a:ext cx="10911535" cy="1463040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" y="3630168"/>
            <a:ext cx="10911535" cy="1463040"/>
          </a:xfrm>
          <a:prstGeom prst="rect">
            <a:avLst/>
          </a:prstGeom>
          <a:solidFill>
            <a:srgbClr val="FAE8EA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0119" y="3858768"/>
            <a:ext cx="102714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Si el correo se pega directo al texto del SQL, el usuario no está llenando un campo: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02A37"/>
                </a:solidFill>
                <a:latin typeface="Rockwell"/>
                <a:ea typeface="Rockwell"/>
                <a:cs typeface="Rockwell"/>
              </a:rPr>
              <a:t>está escribiendo parte de la orden 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EL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Concatenar el dato del usuario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18488"/>
            <a:ext cx="10911535" cy="384048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7" y="1618488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mysqli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02536"/>
            <a:ext cx="10911535" cy="1581912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2148840"/>
            <a:ext cx="10509199" cy="1307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5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login.php — VULNERABLE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5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$correo = $_POST['correo'];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5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$sql = "SELECT * FROM usuarios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5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        WHERE correo = '$correo'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5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        AND clave = '...'";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5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$res = $conn-&gt;query($sql);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3785616"/>
            <a:ext cx="10911535" cy="141732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" y="3721608"/>
            <a:ext cx="10911535" cy="141732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904488"/>
            <a:ext cx="10436047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34C7"/>
                </a:solidFill>
                <a:latin typeface="Rockwell"/>
                <a:ea typeface="Rockwell"/>
                <a:cs typeface="Rockwell"/>
              </a:rPr>
              <a:t>La regla de oro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La variable $correo se pega al texto del SQL con las comillas. Mientras el usuario escriba un correo normal, funciona; el problema es qué pasa cuando escribe algo que no lo es. El dato del usuario NUNCA se concatena al SQL. Si ves un "... '$variable' ..." armando una consulta, ahí hay una inyección esperando.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1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985455" y="457200"/>
            <a:ext cx="365760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0" b="1" i="0">
                <a:solidFill>
                  <a:srgbClr val="4A27A8"/>
                </a:solidFill>
                <a:latin typeface="Rockwell"/>
                <a:ea typeface="Rockwell"/>
                <a:cs typeface="Rockwel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0604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50" b="1" i="0" spc="250">
                <a:solidFill>
                  <a:srgbClr val="C5B4F5"/>
                </a:solidFill>
                <a:latin typeface="Verdana"/>
                <a:ea typeface="Verdana"/>
                <a:cs typeface="Verdana"/>
              </a:rPr>
              <a:t>ATAQUE 1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Rockwell"/>
                <a:ea typeface="Rockwell"/>
                <a:cs typeface="Rockwell"/>
              </a:rPr>
              <a:t>Entrar como administrador
sin contraseña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ATAQUE 1 · EL BYPASS DE LOGIN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Una comilla, un OR y dos guiones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En el campo CORREO se escribe (y en la clave, cualquier cosa):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56816"/>
            <a:ext cx="10911535" cy="566928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2103120"/>
            <a:ext cx="105091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50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'  OR rol='administrador'  --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La consulta que tu PHP arma y ejecuta: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17520"/>
            <a:ext cx="10911535" cy="841248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9536" y="3163824"/>
            <a:ext cx="1050919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5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SELECT * FROM usuarios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5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WHERE correo = '' OR rol='administrador' -- ' AND clave = '...'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41648"/>
            <a:ext cx="109115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02A37"/>
                </a:solidFill>
                <a:latin typeface="Courier New"/>
                <a:ea typeface="Courier New"/>
                <a:cs typeface="Courier New"/>
              </a:rPr>
              <a:t>'  </a:t>
            </a:r>
            <a:r>
              <a:rPr sz="125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→ cierra el correo antes de tiempo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25696"/>
            <a:ext cx="109115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02A37"/>
                </a:solidFill>
                <a:latin typeface="Courier New"/>
                <a:ea typeface="Courier New"/>
                <a:cs typeface="Courier New"/>
              </a:rPr>
              <a:t>OR rol='administrador'  </a:t>
            </a:r>
            <a:r>
              <a:rPr sz="125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→ «...o cualquiera cuyo rol sea administrador»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09744"/>
            <a:ext cx="1091153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02A37"/>
                </a:solidFill>
                <a:latin typeface="Courier New"/>
                <a:ea typeface="Courier New"/>
                <a:cs typeface="Courier New"/>
              </a:rPr>
              <a:t>--   </a:t>
            </a:r>
            <a:r>
              <a:rPr sz="125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→ comenta el resto: el control de la clave desaparece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212079"/>
            <a:ext cx="10911535" cy="566928"/>
          </a:xfrm>
          <a:prstGeom prst="rect">
            <a:avLst/>
          </a:prstGeom>
          <a:solidFill>
            <a:srgbClr val="FAE8EA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77824" y="5394959"/>
            <a:ext cx="10436047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La base devuelve al administrador y tu PHP lo da por logueado. Entra al panel sin saber ninguna contraseña.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1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985455" y="457200"/>
            <a:ext cx="365760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0" b="1" i="0">
                <a:solidFill>
                  <a:srgbClr val="4A27A8"/>
                </a:solidFill>
                <a:latin typeface="Rockwell"/>
                <a:ea typeface="Rockwell"/>
                <a:cs typeface="Rockwel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0604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50" b="1" i="0" spc="250">
                <a:solidFill>
                  <a:srgbClr val="C5B4F5"/>
                </a:solidFill>
                <a:latin typeface="Verdana"/>
                <a:ea typeface="Verdana"/>
                <a:cs typeface="Verdana"/>
              </a:rPr>
              <a:t>ATAQUE 2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Rockwell"/>
                <a:ea typeface="Rockwell"/>
                <a:cs typeface="Rockwell"/>
              </a:rPr>
              <a:t>Romper la búsqueda
del catálogo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ATAQUE 2 · EL CATÁLOGO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Ver lo que no estaba publicado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18488"/>
            <a:ext cx="10911535" cy="384048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7" y="1618488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mysqli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02536"/>
            <a:ext cx="10911535" cy="1033272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2148840"/>
            <a:ext cx="10509199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buscar.php — VULNERABLE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$q = $_GET['q'];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$sql = "SELECT nombre, precio FROM productos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        WHERE nombre LIKE '%$q%'";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Si en el buscador se escribe: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74720"/>
            <a:ext cx="10911535" cy="566928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59536" y="3621024"/>
            <a:ext cx="105091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50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'  OR  '1'='1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4306824"/>
            <a:ext cx="10911535" cy="1005840"/>
          </a:xfrm>
          <a:prstGeom prst="rect">
            <a:avLst/>
          </a:prstGeom>
          <a:solidFill>
            <a:srgbClr val="C98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40080" y="4242816"/>
            <a:ext cx="10911535" cy="1005840"/>
          </a:xfrm>
          <a:prstGeom prst="rect">
            <a:avLst/>
          </a:prstGeom>
          <a:solidFill>
            <a:srgbClr val="FDF2DE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425696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La condición se vuelve siempre verdadera y el catálogo devuelve TODOS los productos,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incluidos los despublicados o en borrador. Es una entrada menos grave que el login, pero es la que lleva al ataque que sigue.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1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985455" y="457200"/>
            <a:ext cx="365760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0" b="1" i="0">
                <a:solidFill>
                  <a:srgbClr val="4A27A8"/>
                </a:solidFill>
                <a:latin typeface="Rockwell"/>
                <a:ea typeface="Rockwell"/>
                <a:cs typeface="Rockwel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0604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50" b="1" i="0" spc="250">
                <a:solidFill>
                  <a:srgbClr val="C5B4F5"/>
                </a:solidFill>
                <a:latin typeface="Verdana"/>
                <a:ea typeface="Verdana"/>
                <a:cs typeface="Verdana"/>
              </a:rPr>
              <a:t>ATAQUE 3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Rockwell"/>
                <a:ea typeface="Rockwell"/>
                <a:cs typeface="Rockwell"/>
              </a:rPr>
              <a:t>Robar la tabla de clientes
con 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ATAQUE 3 · PASO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Contar las columnas con ORDER BY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18488"/>
            <a:ext cx="10911535" cy="384048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7" y="1618488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mysqli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02536"/>
            <a:ext cx="10911535" cy="1033272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2148840"/>
            <a:ext cx="10509199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producto.php — VULNERABLE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$id = $_GET['id'];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$sql = "SELECT nombre, precio, descripcion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        FROM productos WHERE id = $id";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1868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El id no lleva comillas (es un número): más fácil todavía. Primero, cuántas columnas muestra: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21608"/>
            <a:ext cx="10911535" cy="960120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59536" y="3867912"/>
            <a:ext cx="1050919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3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producto.php?id=1 ORDER BY 3     → funciona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30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producto.php?id=1 ORDER BY 4     → error: Unknown column '4'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27448"/>
            <a:ext cx="10911535" cy="685800"/>
          </a:xfrm>
          <a:prstGeom prst="rect">
            <a:avLst/>
          </a:prstGeom>
          <a:solidFill>
            <a:srgbClr val="ECE6FB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910328"/>
            <a:ext cx="1043604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El error en el 4 dice que hay 3 columnas: nombre, precio, descripción. Ya sabe cuántos «huecos» tiene para meter sus datos.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ATAQUE 3 · PASO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UNION SELECT: volcar la tabla usuarios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Pide un id que no existe (arriba, nada) y abajo pega lo que quiere robar: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38528"/>
            <a:ext cx="10911535" cy="566928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2084832"/>
            <a:ext cx="105091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5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producto.php?id=0 UNION SELECT correo, id, clave FROM usuarios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La página de detalle del producto ahora muestra, en vez de un producto: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17520"/>
            <a:ext cx="10911535" cy="960120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9536" y="3163824"/>
            <a:ext cx="1050919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15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nombre            precio   descripcion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15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admin@tienda.uy   1        0192023a7bbd73250516f069df18b500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15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ana@mail.com      2        17b92615448714587fd56973009d91ad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4197096"/>
            <a:ext cx="10911535" cy="1051560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40080" y="4133087"/>
            <a:ext cx="10911535" cy="1051560"/>
          </a:xfrm>
          <a:prstGeom prst="rect">
            <a:avLst/>
          </a:prstGeom>
          <a:solidFill>
            <a:srgbClr val="FAE8EA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315968"/>
            <a:ext cx="10436047" cy="685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Una página que solo mostraba productos volcó la tabla de usuarios entera: correos y contraseñas.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Con UNION se saca cualquier tabla: clientes, pedidos, direcciones. La inyección en una sola página expone toda la base. Si el hash es MD5, se rompe en segundos.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QUÉ ESTÁ EN JUEGO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No son boletines: son tus clientes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1728216"/>
            <a:ext cx="5257800" cy="169164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" y="1664208"/>
            <a:ext cx="5257800" cy="1691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1847088"/>
            <a:ext cx="4782312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34C7"/>
                </a:solidFill>
                <a:latin typeface="Rockwell"/>
                <a:ea typeface="Rockwell"/>
                <a:cs typeface="Rockwell"/>
              </a:rPr>
              <a:t>Lo que se filtra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En un e-commerce, la base tiene datos de personas que confiaron en la tienda: nombres, correos, direcciones, historial de compras, a veces datos de pago.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728216"/>
            <a:ext cx="5257800" cy="1691640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91072" y="1664208"/>
            <a:ext cx="5257800" cy="1691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28816" y="1847088"/>
            <a:ext cx="4782312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02A37"/>
                </a:solidFill>
                <a:latin typeface="Rockwell"/>
                <a:ea typeface="Rockwell"/>
                <a:cs typeface="Rockwell"/>
              </a:rPr>
              <a:t>Del lado del atacante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Acceder a esa base sin autorización es delito: Ley N.º 20.327, art. 297 BIS. Todo esto se prueba SOLO sobre el proyecto propio, en la máquina propia.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3602736"/>
            <a:ext cx="10911535" cy="160020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40080" y="3538728"/>
            <a:ext cx="10911535" cy="1600200"/>
          </a:xfrm>
          <a:prstGeom prst="rect">
            <a:avLst/>
          </a:prstGeom>
          <a:solidFill>
            <a:srgbClr val="FDF2DE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0119" y="3749039"/>
            <a:ext cx="10271455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Ley N.º 18.331 de Protección de Datos Personales (Uruguay)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Quien maneja datos de clientes tiene la obligación legal de protegerlos, y la URCDP la controla. Una inyección que expone la base de clientes no es solo un error técnico: es un incumplimiento que puede traer sanciones. Para un e-commerce, la seguridad del software es un requisito legal.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1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985455" y="457200"/>
            <a:ext cx="365760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0" b="1" i="0">
                <a:solidFill>
                  <a:srgbClr val="4A27A8"/>
                </a:solidFill>
                <a:latin typeface="Rockwell"/>
                <a:ea typeface="Rockwell"/>
                <a:cs typeface="Rockwel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0604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50" b="1" i="0" spc="250">
                <a:solidFill>
                  <a:srgbClr val="C5B4F5"/>
                </a:solidFill>
                <a:latin typeface="Verdana"/>
                <a:ea typeface="Verdana"/>
                <a:cs typeface="Verdana"/>
              </a:rPr>
              <a:t>LA SOLUCIÓN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Rockwell"/>
                <a:ea typeface="Rockwell"/>
                <a:cs typeface="Rockwell"/>
              </a:rPr>
              <a:t>Consultas
parametrizadas</a:t>
            </a:r>
          </a:p>
          <a:p>
            <a:pPr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 i="0">
                <a:solidFill>
                  <a:srgbClr val="CFC4F2"/>
                </a:solidFill>
                <a:latin typeface="Verdana"/>
                <a:ea typeface="Verdana"/>
                <a:cs typeface="Verdana"/>
              </a:rPr>
              <a:t>Separar la orden del dato. El dato va por un ?, nunca pegado al texto.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LA SOLUCIÓN · EL LOGIN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El dato va por un ?, no pegado al texto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5257800" cy="384048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7" y="1645920"/>
            <a:ext cx="4855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login.php  ✗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8"/>
            <a:ext cx="5257800" cy="1033272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2176272"/>
            <a:ext cx="4855464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VULNERABLE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$sql = "... WHERE correo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1" i="0">
                <a:solidFill>
                  <a:srgbClr val="FF6B78"/>
                </a:solidFill>
                <a:latin typeface="Courier New"/>
                <a:ea typeface="Courier New"/>
                <a:cs typeface="Courier New"/>
              </a:rPr>
              <a:t>   = '$correo' ...";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$conn-&gt;query($sql);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1645920"/>
            <a:ext cx="5257800" cy="384048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1645920"/>
            <a:ext cx="48554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login.php  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1072" y="2029968"/>
            <a:ext cx="5257800" cy="1033272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10528" y="2176272"/>
            <a:ext cx="4855464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SEGURO — mysqli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$stmt = $conn-&gt;prepare(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  "... WHERE correo = ?");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$stmt-&gt;bind_param("s",$correo);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218688"/>
            <a:ext cx="10911535" cy="822960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59536" y="3364992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la contraseña se verifica en PHP, con hashing (nunca en el SQL)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if ($u &amp;&amp; password_verify($clave, $u['clave'])) { /* login ok */ 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4242816"/>
            <a:ext cx="10911535" cy="96012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40080" y="4178808"/>
            <a:ext cx="10911535" cy="960120"/>
          </a:xfrm>
          <a:prstGeom prst="rect">
            <a:avLst/>
          </a:prstGeom>
          <a:solidFill>
            <a:srgbClr val="ECE6FB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361688"/>
            <a:ext cx="10436047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Ahora ' OR rol='administrador' -- se busca como un correo literal: no existe, no entra nadie.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Con PDO es igual: $pdo-&gt;prepare("... correo = ?")-&gt;execute([$correo]). El dato siempre por el ?.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LA SOLUCIÓN · EL DETALLE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Forzar el tipo mata el UNION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64208"/>
            <a:ext cx="10911535" cy="384048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7" y="1664208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mysqli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48256"/>
            <a:ext cx="10911535" cy="1307592"/>
          </a:xfrm>
          <a:prstGeom prst="rect">
            <a:avLst/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2194560"/>
            <a:ext cx="10509199" cy="1033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0" i="0">
                <a:solidFill>
                  <a:srgbClr val="8A929E"/>
                </a:solidFill>
                <a:latin typeface="Courier New"/>
                <a:ea typeface="Courier New"/>
                <a:cs typeface="Courier New"/>
              </a:rPr>
              <a:t>// producto.php — SEGURO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$stmt = $conn-&gt;prepare(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0" i="0">
                <a:solidFill>
                  <a:srgbClr val="E6E8EC"/>
                </a:solidFill>
                <a:latin typeface="Courier New"/>
                <a:ea typeface="Courier New"/>
                <a:cs typeface="Courier New"/>
              </a:rPr>
              <a:t>  "SELECT nombre, precio, descripcion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   FROM productos WHERE id = ?");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50"/>
              </a:spcAft>
            </a:pPr>
            <a:r>
              <a:rPr sz="1200" b="1" i="0">
                <a:solidFill>
                  <a:srgbClr val="3DD08A"/>
                </a:solidFill>
                <a:latin typeface="Courier New"/>
                <a:ea typeface="Courier New"/>
                <a:cs typeface="Courier New"/>
              </a:rPr>
              <a:t>$stmt-&gt;bind_param("i", $id);   // entero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3557016"/>
            <a:ext cx="10911535" cy="91440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" y="3493008"/>
            <a:ext cx="10911535" cy="914400"/>
          </a:xfrm>
          <a:prstGeom prst="rect">
            <a:avLst/>
          </a:prstGeom>
          <a:solidFill>
            <a:srgbClr val="ECE6FB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675888"/>
            <a:ext cx="104360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El "i" obliga a que el id sea un entero.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0 UNION SELECT ... ni siquiera llega a la base como texto: se convierte a número y queda en 0. El UNION del paso anterior muere ahí.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72000"/>
            <a:ext cx="10911535" cy="713232"/>
          </a:xfrm>
          <a:prstGeom prst="rect">
            <a:avLst/>
          </a:prstGeom>
          <a:solidFill>
            <a:srgbClr val="E3F2EE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54880"/>
            <a:ext cx="1043604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Dos defensas en una línea: el ? separa el dato de la orden, y el tipo entero descarta cualquier texto inyectado.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VARIAS CAPAS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Defensa en profundidad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09928"/>
            <a:ext cx="10911535" cy="365760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8" y="1709928"/>
            <a:ext cx="420002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10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MEDIDA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14422" y="1709928"/>
            <a:ext cx="638232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10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QUÉ EVITA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75688"/>
            <a:ext cx="1091153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7C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8" y="2075688"/>
            <a:ext cx="420002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Usuario de BD con mínimo privilegio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14422" y="2075688"/>
            <a:ext cx="638232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Que la app no se conecte como root: si solo puede leer y escribir lo justo, la inyección hace menos daño.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97480"/>
            <a:ext cx="10911535" cy="621792"/>
          </a:xfrm>
          <a:prstGeom prst="rect">
            <a:avLst/>
          </a:prstGeom>
          <a:solidFill>
            <a:srgbClr val="F6F7FA"/>
          </a:solidFill>
          <a:ln w="9525">
            <a:solidFill>
              <a:srgbClr val="C7C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2697480"/>
            <a:ext cx="420002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No mostrar errores de SQL al cliente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4422" y="2697480"/>
            <a:ext cx="638232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Un error revela tablas y columnas. En producción van a un log, no a la pantalla.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319272"/>
            <a:ext cx="1091153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7C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49808" y="3319272"/>
            <a:ext cx="420002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Validar el tipo de cada dato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4422" y="3319272"/>
            <a:ext cx="638232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Un id que debe ser número, convertirlo a número. Corta el UNION del paso 3.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941064"/>
            <a:ext cx="10911535" cy="621792"/>
          </a:xfrm>
          <a:prstGeom prst="rect">
            <a:avLst/>
          </a:prstGeom>
          <a:solidFill>
            <a:srgbClr val="F6F7FA"/>
          </a:solidFill>
          <a:ln w="9525">
            <a:solidFill>
              <a:srgbClr val="C7CC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9808" y="3941064"/>
            <a:ext cx="420002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Contraseñas con password_hash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4422" y="3941064"/>
            <a:ext cx="638232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Si igual se filtra la tabla, con bcrypt no sirven las tablas de MD5.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544568"/>
            <a:ext cx="10911535" cy="640080"/>
          </a:xfrm>
          <a:prstGeom prst="rect">
            <a:avLst/>
          </a:prstGeom>
          <a:solidFill>
            <a:srgbClr val="E3F2EE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77824" y="4727448"/>
            <a:ext cx="10436047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Las consultas parametrizadas cierran la inyección; estas capas hacen que un descuido no exponga todo. Todas van en el proyecto y son gratis.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FALSAS SOLUCIONES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Lo que NO cierra la inyección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1728216"/>
            <a:ext cx="10911535" cy="1051560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" y="1664208"/>
            <a:ext cx="10911535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1938528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02A37"/>
                </a:solidFill>
                <a:latin typeface="Rockwell"/>
                <a:ea typeface="Rockwell"/>
                <a:cs typeface="Rockwel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65376"/>
            <a:ext cx="97228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Escapar las comillas a mano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addslashes / str_replace se escapa por mil lados, y no sirve para el id numérico sin comillas. El motor ya escapa bien: por eso se usan parámetros.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2889503"/>
            <a:ext cx="10911535" cy="1051560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" y="2825496"/>
            <a:ext cx="10911535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099815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02A37"/>
                </a:solidFill>
                <a:latin typeface="Rockwell"/>
                <a:ea typeface="Rockwell"/>
                <a:cs typeface="Rockwel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26664"/>
            <a:ext cx="97228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Validar solo en el navegador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El atacante no usa tu formulario: manda el pedido directo. Toda validación de seguridad va del lado del servidor (PHP).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" y="4050791"/>
            <a:ext cx="10911535" cy="1051560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40080" y="3986783"/>
            <a:ext cx="10911535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77824" y="4261103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02A37"/>
                </a:solidFill>
                <a:latin typeface="Rockwell"/>
                <a:ea typeface="Rockwell"/>
                <a:cs typeface="Rockwel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187951"/>
            <a:ext cx="97228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Esconder los nombres de las tablas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Que la tabla se llame u_9x no frena a nadie: con UNION se descubre. La seguridad no depende de que el diseño sea secreto (diseño abierto, clase 3).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5B34C7"/>
                </a:solidFill>
                <a:latin typeface="Verdana"/>
                <a:ea typeface="Verdana"/>
                <a:cs typeface="Verdana"/>
              </a:rPr>
              <a:t>PARA TU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6181D"/>
                </a:solidFill>
                <a:latin typeface="Rockwell"/>
                <a:ea typeface="Rockwell"/>
                <a:cs typeface="Rockwell"/>
              </a:rPr>
              <a:t>Dónde revisar tu proyecto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11535" cy="20116"/>
          </a:xfrm>
          <a:prstGeom prst="rect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64208"/>
            <a:ext cx="10911535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41247" y="1819656"/>
            <a:ext cx="237744" cy="237744"/>
          </a:xfrm>
          <a:prstGeom prst="rect">
            <a:avLst/>
          </a:prstGeom>
          <a:solidFill>
            <a:srgbClr val="FFFFFF"/>
          </a:solidFill>
          <a:ln w="19050">
            <a:solidFill>
              <a:srgbClr val="5B3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80160" y="1664208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El login: ¿consulta parametrizada y password_verify?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41247" y="2441448"/>
            <a:ext cx="237744" cy="237744"/>
          </a:xfrm>
          <a:prstGeom prst="rect">
            <a:avLst/>
          </a:prstGeom>
          <a:solidFill>
            <a:srgbClr val="FFFFFF"/>
          </a:solidFill>
          <a:ln w="19050">
            <a:solidFill>
              <a:srgbClr val="5B3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80160" y="2286000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La búsqueda del catálogo: ¿el término va por parámetro?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907792"/>
            <a:ext cx="10911535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41247" y="3063240"/>
            <a:ext cx="237744" cy="237744"/>
          </a:xfrm>
          <a:prstGeom prst="rect">
            <a:avLst/>
          </a:prstGeom>
          <a:solidFill>
            <a:srgbClr val="FFFFFF"/>
          </a:solidFill>
          <a:ln w="19050">
            <a:solidFill>
              <a:srgbClr val="5B3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80160" y="2907792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El detalle de producto (?id=): ¿id forzado a entero y por parámetro?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529584"/>
            <a:ext cx="10911535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41247" y="3685032"/>
            <a:ext cx="237744" cy="237744"/>
          </a:xfrm>
          <a:prstGeom prst="rect">
            <a:avLst/>
          </a:prstGeom>
          <a:solidFill>
            <a:srgbClr val="FFFFFF"/>
          </a:solidFill>
          <a:ln w="19050">
            <a:solidFill>
              <a:srgbClr val="5B3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280160" y="3529584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El ABM de productos: ¿todas las consultas parametrizadas?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151376"/>
            <a:ext cx="10911535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41247" y="4306824"/>
            <a:ext cx="237744" cy="237744"/>
          </a:xfrm>
          <a:prstGeom prst="rect">
            <a:avLst/>
          </a:prstGeom>
          <a:solidFill>
            <a:srgbClr val="FFFFFF"/>
          </a:solidFill>
          <a:ln w="19050">
            <a:solidFill>
              <a:srgbClr val="5B3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80160" y="4151376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¿La app se conecta a MySQL con un usuario que NO es root?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773168"/>
            <a:ext cx="10911535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41247" y="4928616"/>
            <a:ext cx="237744" cy="237744"/>
          </a:xfrm>
          <a:prstGeom prst="rect">
            <a:avLst/>
          </a:prstGeom>
          <a:solidFill>
            <a:srgbClr val="FFFFFF"/>
          </a:solidFill>
          <a:ln w="19050">
            <a:solidFill>
              <a:srgbClr val="5B3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280160" y="4773168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¿Las contraseñas se guardan con password_hash, no con MD5?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431536"/>
            <a:ext cx="10911535" cy="676656"/>
          </a:xfrm>
          <a:prstGeom prst="rect">
            <a:avLst/>
          </a:prstGeom>
          <a:solidFill>
            <a:srgbClr val="E3F2EE"/>
          </a:solidFill>
          <a:ln w="15875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77824" y="5614416"/>
            <a:ext cx="104360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Truco: buscá en tu código un $ dentro del texto de una consulta, y los query(.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6181D"/>
                </a:solidFill>
                <a:latin typeface="Verdana"/>
                <a:ea typeface="Verdana"/>
                <a:cs typeface="Verdana"/>
              </a:rPr>
              <a:t>Casi cada resultado es un lugar para pasar a prepare.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B1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234440" y="16916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C5B4F5"/>
                </a:solidFill>
                <a:latin typeface="Verdana"/>
                <a:ea typeface="Verdana"/>
                <a:cs typeface="Verdana"/>
              </a:rPr>
              <a:t>PARA PENSAR ANTES DE TU ENTREGA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148840"/>
            <a:ext cx="95097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400" b="1" i="0">
                <a:solidFill>
                  <a:srgbClr val="FFFFFF"/>
                </a:solidFill>
                <a:latin typeface="Rockwell"/>
                <a:ea typeface="Rockwell"/>
                <a:cs typeface="Rockwell"/>
              </a:rPr>
              <a:t>Abrí el login de tu proyecto
ahora mismo.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DAD1F7"/>
                </a:solidFill>
                <a:latin typeface="Verdana"/>
                <a:ea typeface="Verdana"/>
                <a:cs typeface="Verdana"/>
              </a:rPr>
              <a:t>¿La consulta arma el correo con '$correo' o con ? — Esa sola línea decide si cualquiera entra como administrador.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1234440" y="5074920"/>
            <a:ext cx="2743200" cy="32004"/>
          </a:xfrm>
          <a:prstGeom prst="rect">
            <a:avLst/>
          </a:prstGeom>
          <a:solidFill>
            <a:srgbClr val="5B3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34440" y="5303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5B4F5"/>
                </a:solidFill>
                <a:latin typeface="Verdana"/>
                <a:ea typeface="Verdana"/>
                <a:cs typeface="Verdana"/>
              </a:rPr>
              <a:t>Material completo y checklist: clase 6B en el repositorio del curso.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4373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Verdana"/>
                <a:ea typeface="Verdana"/>
                <a:cs typeface="Verdana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/>
  <Company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diego.renaldin@hotmail.com</dc:creator>
  <cp:lastModifiedBy>diego.renaldin@hotmail.com</cp:lastModifiedBy>
  <cp:revision>1</cp:revision>
</cp:coreProperties>
</file>