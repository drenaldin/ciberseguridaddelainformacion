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Clase de profundizacion sobre el contenido 1.3. Se centra en una sola vulnerabilidad, la inyeccion SQL, sobre el mismo e-commerce que los estudiantes desarrollan en el proyecto de UTULab. Nivel introductorio: dos ataques sencillos desde el navegador y una unica defensa correcta.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 bloque: recordar como una aplicacion le pide datos a la base y donde esta el punto debil.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Recorrido de la clase. El foco esta en entender un solo tipo de falla y su unica solucion correcta, aplicados al proyecto de e-commerce.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Idea base: la aplicacion le habla a la base con SQL. Parte de esa consulta (el correo, la clave, el termino de busqueda) la escribe el usuario. Ahi empieza el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retoma la superficie de ataque de la clase 6. La inyeccion SQL es lo que ocurre cuando uno de esos datos termina siendo interpretado como orden.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 es exactamente la inyeccion SQL y por que aparece en el codigo.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error de fondo, se repite toda la clase: el dato del usuario nunca debe unirse (concatenarse) al texto de la consulta.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Definicion formal y su identificador estandar (CWE-89). Se menciona el CWE Top 25 como referencia reconocida, sin entrar en detalle.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ataques sencillos, ambos desde el navegador, sin herramientas. Se muestran sobre el proyecto propio y en la maquina propia.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ataque clasico y mas comun contra un login mal hecho. No adivina ninguna contraseña: aprovecha como esta escrito el codigo.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leyendo la consulta resultante de la diapositiva anterior, parte por parte. La variante ' OR '1'='1' -- entra como el primer usuario de la tabla.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Segundo ataque, mas leve que el anterior pero muestra que el mismo error aparece en cada consulta de la aplicacion, no solo en el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conecta la falla tecnica con la responsabilidad legal. El marco normativo ya se vio en clases anteriores; aca se aplica al comercio electronico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sola solucion correcta y algunas capas adicionales.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concepto central de la defensa. No es un truco: es la forma en que hoy se resuelve siempre este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mismo login, ahora seguro. El dato viaja por el marcador ?; nunca se pega al texto. La contraseña se compara con password_verify, no dentro del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cierra el circulo: con parametros, la entrada maliciosa se busca como si fuera un correo rarisimo. El ataque deja de funcionar.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consultas parametrizadas cierran la inyeccion. Estas capas son baratas y reducen el daño ante cualquier descuido. Varias ya se vieron en clases 3 y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soluciones aparentes que no cierran la inyeccion. Conviene descartarlas de entrada.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Lista de control aplicada al proyecto de e-commerce. La inyeccion no se arregla solo en el login: hay que revisar todas las consultas.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Sintesis en una frase y fuentes. Para la proxima entrega: abrir el login del proyecto y verificar si la consulta usa '$correo' o el marcador 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0" i="0">
                <a:solidFill>
                  <a:srgbClr val="FFFFFF"/>
                </a:solidFill>
                <a:latin typeface="Calibri"/>
                <a:cs typeface="Calibri"/>
              </a:rPr>
              <a:t>Inyección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a:cs typeface="Calibri"/>
              </a:rPr>
              <a:t>Seguridad en aplicaciones web · Clase 6B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5CCDE"/>
                </a:solidFill>
                <a:latin typeface="Calibri"/>
                <a:cs typeface="Calibri"/>
              </a:rPr>
              <a:t>Ciberseguridad · 3.º Bachillerato Tecnológico · Tecnologías de la Información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5852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0" i="0">
                <a:solidFill>
                  <a:srgbClr val="FFFFFF"/>
                </a:solidFill>
                <a:latin typeface="Calibri"/>
                <a:cs typeface="Calibri"/>
              </a:rP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2971800"/>
            <a:ext cx="3657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B3A6E"/>
                </a:solidFill>
                <a:latin typeface="Calibri"/>
                <a:cs typeface="Calibri"/>
              </a:rPr>
              <a:t>CIBERSEGURIDAD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2B3A6E"/>
                </a:solidFill>
                <a:latin typeface="Calibri"/>
                <a:cs typeface="Calibri"/>
              </a:rPr>
              <a:t>Contenidos de la clase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241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900" b="0" i="0">
                <a:solidFill>
                  <a:srgbClr val="222222"/>
                </a:solidFill>
                <a:latin typeface="Calibri"/>
                <a:cs typeface="Calibri"/>
              </a:rPr>
              <a:t>Cómo la aplicación consulta la base de datos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900" b="0" i="0">
                <a:solidFill>
                  <a:srgbClr val="222222"/>
                </a:solidFill>
                <a:latin typeface="Calibri"/>
                <a:cs typeface="Calibri"/>
              </a:rPr>
              <a:t>El error de fondo: mezclar el dato con la orden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900" b="0" i="0">
                <a:solidFill>
                  <a:srgbClr val="222222"/>
                </a:solidFill>
                <a:latin typeface="Calibri"/>
                <a:cs typeface="Calibri"/>
              </a:rPr>
              <a:t>Dos ataques desde el navegador: </a:t>
            </a:r>
            <a:r>
              <a:rPr sz="1900" b="1" i="0">
                <a:solidFill>
                  <a:srgbClr val="222222"/>
                </a:solidFill>
                <a:latin typeface="Calibri"/>
                <a:cs typeface="Calibri"/>
              </a:rPr>
              <a:t>ingresar sin contraseña</a:t>
            </a:r>
            <a:r>
              <a:rPr sz="1900" b="0" i="0">
                <a:solidFill>
                  <a:srgbClr val="222222"/>
                </a:solidFill>
                <a:latin typeface="Calibri"/>
                <a:cs typeface="Calibri"/>
              </a:rPr>
              <a:t> y </a:t>
            </a:r>
            <a:r>
              <a:rPr sz="1900" b="1" i="0">
                <a:solidFill>
                  <a:srgbClr val="222222"/>
                </a:solidFill>
                <a:latin typeface="Calibri"/>
                <a:cs typeface="Calibri"/>
              </a:rPr>
              <a:t>ver todo el catálogo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900" b="0" i="0">
                <a:solidFill>
                  <a:srgbClr val="222222"/>
                </a:solidFill>
                <a:latin typeface="Calibri"/>
                <a:cs typeface="Calibri"/>
              </a:rPr>
              <a:t>Qué está en juego en un comercio electrónico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900" b="0" i="0">
                <a:solidFill>
                  <a:srgbClr val="222222"/>
                </a:solidFill>
                <a:latin typeface="Calibri"/>
                <a:cs typeface="Calibri"/>
              </a:rPr>
              <a:t>La defensa: consultas parametrizadas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900" b="0" i="0">
                <a:solidFill>
                  <a:srgbClr val="222222"/>
                </a:solidFill>
                <a:latin typeface="Calibri"/>
                <a:cs typeface="Calibri"/>
              </a:rPr>
              <a:t>Buenas prácticas y verificación del proyecto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2B3A6E"/>
                </a:solidFill>
                <a:latin typeface="Calibri"/>
                <a:cs typeface="Calibri"/>
              </a:rPr>
              <a:t>Cómo la aplicación consulta la base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48463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Cada vez que la aplicación valida un ingreso o muestra productos, envía a la base de datos una consulta escrita en lenguaje SQL.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La consulta es una orden. La base la ejecuta y devuelve el resultado.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3716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28016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B667A"/>
                </a:solidFill>
                <a:latin typeface="Consolas"/>
                <a:cs typeface="Consolas"/>
              </a:rPr>
              <a:t>-- Consulta de ingreso (correcta)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B233A"/>
                </a:solidFill>
                <a:latin typeface="Consolas"/>
                <a:cs typeface="Consolas"/>
              </a:rPr>
              <a:t>SELECT * FROM usuarios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B233A"/>
                </a:solidFill>
                <a:latin typeface="Consolas"/>
                <a:cs typeface="Consolas"/>
              </a:rPr>
              <a:t>WHERE correo = </a:t>
            </a:r>
            <a:r>
              <a:rPr sz="1500" b="0">
                <a:solidFill>
                  <a:srgbClr val="1E6B3E"/>
                </a:solidFill>
                <a:latin typeface="Consolas"/>
                <a:cs typeface="Consolas"/>
              </a:rPr>
              <a:t>'ana@mail.com'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B233A"/>
                </a:solidFill>
                <a:latin typeface="Consolas"/>
                <a:cs typeface="Consolas"/>
              </a:rPr>
              <a:t>  AND clave = </a:t>
            </a:r>
            <a:r>
              <a:rPr sz="1500" b="0">
                <a:solidFill>
                  <a:srgbClr val="1E6B3E"/>
                </a:solidFill>
                <a:latin typeface="Consolas"/>
                <a:cs typeface="Consolas"/>
              </a:rPr>
              <a:t>'...'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3429000"/>
            <a:ext cx="5349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B667A"/>
                </a:solidFill>
                <a:latin typeface="Calibri"/>
                <a:cs typeface="Calibri"/>
              </a:rPr>
              <a:t>El valor </a:t>
            </a:r>
            <a:r>
              <a:rPr sz="1500" b="1" i="0">
                <a:solidFill>
                  <a:srgbClr val="5B667A"/>
                </a:solidFill>
                <a:latin typeface="Calibri"/>
                <a:cs typeface="Calibri"/>
              </a:rPr>
              <a:t>'ana@mail.com'</a:t>
            </a:r>
            <a:r>
              <a:rPr sz="1500" b="0" i="0">
                <a:solidFill>
                  <a:srgbClr val="5B667A"/>
                </a:solidFill>
                <a:latin typeface="Calibri"/>
                <a:cs typeface="Calibri"/>
              </a:rPr>
              <a:t> proviene del formulario: lo escribe la persona que usa el sistema.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2B3A6E"/>
                </a:solidFill>
                <a:latin typeface="Calibri"/>
                <a:cs typeface="Calibri"/>
              </a:rPr>
              <a:t>El dato de entrada no está bajo nuestro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Todo punto por el que entra información desde afuera es una posible vía de ataque. En una aplicación web, los más comunes son: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102412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Los campos de un formulario </a:t>
            </a:r>
            <a:r>
              <a:rPr sz="1800" b="0" i="0">
                <a:solidFill>
                  <a:srgbClr val="5B667A"/>
                </a:solidFill>
                <a:latin typeface="Calibri"/>
                <a:cs typeface="Calibri"/>
              </a:rPr>
              <a:t>(correo y contraseña del ingreso)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El término del buscador del catálogo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Los parámetros en la dirección </a:t>
            </a:r>
            <a:r>
              <a:rPr sz="1800" b="0" i="0">
                <a:solidFill>
                  <a:srgbClr val="5B667A"/>
                </a:solidFill>
                <a:latin typeface="Calibri"/>
                <a:cs typeface="Calibri"/>
              </a:rPr>
              <a:t>(por ejemplo, ?id=3)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6052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B3A6E"/>
                </a:solidFill>
                <a:latin typeface="Calibri"/>
                <a:cs typeface="Calibri"/>
              </a:rPr>
              <a:t>Regla general: </a:t>
            </a:r>
            <a:r>
              <a:rPr sz="1800" b="1" i="0">
                <a:solidFill>
                  <a:srgbClr val="222222"/>
                </a:solidFill>
                <a:latin typeface="Calibri"/>
                <a:cs typeface="Calibri"/>
              </a:rPr>
              <a:t>ningún dato que llega de afuera debe considerarse confiable.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5852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0" i="0">
                <a:solidFill>
                  <a:srgbClr val="FFFFFF"/>
                </a:solidFill>
                <a:latin typeface="Calibri"/>
                <a:cs typeface="Calibri"/>
              </a:rPr>
              <a:t>La vulnerabilidad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2971800"/>
            <a:ext cx="3657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B3A6E"/>
                </a:solidFill>
                <a:latin typeface="Calibri"/>
                <a:cs typeface="Calibri"/>
              </a:rPr>
              <a:t>CIBERSEGURIDAD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2B3A6E"/>
                </a:solidFill>
                <a:latin typeface="Calibri"/>
                <a:cs typeface="Calibri"/>
              </a:rPr>
              <a:t>El error: unir el dato a la consulta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48463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La consulta se arma pegando directamente el dato del usuario dentro del texto SQL.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Mientras el usuario escribe un correo normal, funciona.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El problema aparece cuando escribe algo que no es un correo.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371600"/>
            <a:ext cx="5349240" cy="2377440"/>
          </a:xfrm>
          <a:prstGeom prst="roundRect">
            <a:avLst>
              <a:gd name="adj" fmla="val 4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28016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B667A"/>
                </a:solidFill>
                <a:latin typeface="Consolas"/>
                <a:cs typeface="Consolas"/>
              </a:rPr>
              <a:t>// login.php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B233A"/>
                </a:solidFill>
                <a:latin typeface="Consolas"/>
                <a:cs typeface="Consolas"/>
              </a:rPr>
              <a:t>$correo = $_POST['correo'];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B233A"/>
                </a:solidFill>
                <a:latin typeface="Consolas"/>
                <a:cs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B233A"/>
                </a:solidFill>
                <a:latin typeface="Consolas"/>
                <a:cs typeface="Consolas"/>
              </a:rPr>
              <a:t>$sql = "SELECT * FROM usuarios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B233A"/>
                </a:solidFill>
                <a:latin typeface="Consolas"/>
                <a:cs typeface="Consolas"/>
              </a:rPr>
              <a:t>        WHERE correo = </a:t>
            </a:r>
            <a:r>
              <a:rPr sz="1500" b="1">
                <a:solidFill>
                  <a:srgbClr val="B0362F"/>
                </a:solidFill>
                <a:latin typeface="Consolas"/>
                <a:cs typeface="Consolas"/>
              </a:rPr>
              <a:t>'$correo'</a:t>
            </a:r>
            <a:r>
              <a:rPr sz="1500" b="0">
                <a:solidFill>
                  <a:srgbClr val="1B233A"/>
                </a:solidFill>
                <a:latin typeface="Consolas"/>
                <a:cs typeface="Consolas"/>
              </a:rPr>
              <a:t>";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07899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B0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cs typeface="Calibri"/>
              </a:rPr>
              <a:t>VULNERABLE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3977640"/>
            <a:ext cx="5349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5B667A"/>
                </a:solidFill>
                <a:latin typeface="Calibri"/>
                <a:cs typeface="Calibri"/>
              </a:rPr>
              <a:t>El dato </a:t>
            </a:r>
            <a:r>
              <a:rPr sz="1450" b="1" i="0">
                <a:solidFill>
                  <a:srgbClr val="5B667A"/>
                </a:solidFill>
                <a:latin typeface="Calibri"/>
                <a:cs typeface="Calibri"/>
              </a:rPr>
              <a:t>$correo</a:t>
            </a:r>
            <a:r>
              <a:rPr sz="1450" b="0" i="0">
                <a:solidFill>
                  <a:srgbClr val="5B667A"/>
                </a:solidFill>
                <a:latin typeface="Calibri"/>
                <a:cs typeface="Calibri"/>
              </a:rPr>
              <a:t> se une al texto de la consulta. Deja de ser un valor y pasa a formar parte de la orden.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2B3A6E"/>
                </a:solidFill>
                <a:latin typeface="Calibri"/>
                <a:cs typeface="Calibri"/>
              </a:rPr>
              <a:t>Definición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463040"/>
            <a:ext cx="10424160" cy="1737360"/>
          </a:xfrm>
          <a:prstGeom prst="roundRect">
            <a:avLst/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737360"/>
            <a:ext cx="96926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B3A6E"/>
                </a:solidFill>
                <a:latin typeface="Calibri"/>
                <a:cs typeface="Calibri"/>
              </a:rPr>
              <a:t>Inyección SQL </a:t>
            </a:r>
            <a:r>
              <a:rPr sz="2000" b="1" i="0">
                <a:solidFill>
                  <a:srgbClr val="2B3A6E"/>
                </a:solidFill>
                <a:latin typeface="Calibri"/>
                <a:cs typeface="Calibri"/>
              </a:rPr>
              <a:t>(CWE-89). </a:t>
            </a:r>
            <a:r>
              <a:rPr sz="2000" b="0" i="0">
                <a:solidFill>
                  <a:srgbClr val="222222"/>
                </a:solidFill>
                <a:latin typeface="Calibri"/>
                <a:cs typeface="Calibri"/>
              </a:rPr>
              <a:t>Ocurre cuando un dato proporcionado por el usuario se interpreta como parte de la orden SQL, y no como un simple valor.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222222"/>
                </a:solidFill>
                <a:latin typeface="Calibri"/>
                <a:cs typeface="Calibri"/>
              </a:rPr>
              <a:t>CWE </a:t>
            </a:r>
            <a:r>
              <a:rPr sz="1650" b="0" i="0">
                <a:solidFill>
                  <a:srgbClr val="222222"/>
                </a:solidFill>
                <a:latin typeface="Calibri"/>
                <a:cs typeface="Calibri"/>
              </a:rPr>
              <a:t>(Common Weakness Enumeration) es un catálogo internacional de tipos de debilidad de software. La inyección SQL es una de las más frecuentes y peligrosas del catálogo SANS/CWE Top 25.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5852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0" i="0">
                <a:solidFill>
                  <a:srgbClr val="FFFFFF"/>
                </a:solidFill>
                <a:latin typeface="Calibri"/>
                <a:cs typeface="Calibri"/>
              </a:rPr>
              <a:t>Ataques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2971800"/>
            <a:ext cx="3657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B3A6E"/>
                </a:solidFill>
                <a:latin typeface="Calibri"/>
                <a:cs typeface="Calibri"/>
              </a:rPr>
              <a:t>CIBERSEGURIDAD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2B3A6E"/>
                </a:solidFill>
                <a:latin typeface="Calibri"/>
                <a:cs typeface="Calibri"/>
              </a:rPr>
              <a:t>Ataque 1 · Ingresar sin conocer la contraseña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En el campo correo del formulario de ingreso, el atacante introduce el siguiente texto (y en la contraseña, cualquier valor):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926080"/>
            <a:ext cx="4846320" cy="640080"/>
          </a:xfrm>
          <a:prstGeom prst="roundRect">
            <a:avLst>
              <a:gd name="adj" fmla="val 4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28016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B0362F"/>
                </a:solidFill>
                <a:latin typeface="Consolas"/>
                <a:cs typeface="Consolas"/>
              </a:rPr>
              <a:t>' OR '1'='1' --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37160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  <a:cs typeface="Calibri"/>
              </a:rPr>
              <a:t>La consulta que recibe la base: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874520"/>
            <a:ext cx="5349240" cy="1920240"/>
          </a:xfrm>
          <a:prstGeom prst="roundRect">
            <a:avLst>
              <a:gd name="adj" fmla="val 4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28016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B233A"/>
                </a:solidFill>
                <a:latin typeface="Consolas"/>
                <a:cs typeface="Consolas"/>
              </a:rPr>
              <a:t>SELECT * FROM usuarios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B233A"/>
                </a:solidFill>
                <a:latin typeface="Consolas"/>
                <a:cs typeface="Consolas"/>
              </a:rPr>
              <a:t>WHERE correo = </a:t>
            </a:r>
            <a:r>
              <a:rPr sz="1500" b="0">
                <a:solidFill>
                  <a:srgbClr val="1B233A"/>
                </a:solidFill>
                <a:latin typeface="Consolas"/>
                <a:cs typeface="Consolas"/>
              </a:rPr>
              <a:t>''</a:t>
            </a:r>
            <a:r>
              <a:rPr sz="1500" b="1">
                <a:solidFill>
                  <a:srgbClr val="B0362F"/>
                </a:solidFill>
                <a:latin typeface="Consolas"/>
                <a:cs typeface="Consolas"/>
              </a:rPr>
              <a:t> OR </a:t>
            </a:r>
            <a:r>
              <a:rPr sz="1500" b="1">
                <a:solidFill>
                  <a:srgbClr val="B0362F"/>
                </a:solidFill>
                <a:latin typeface="Consolas"/>
                <a:cs typeface="Consolas"/>
              </a:rPr>
              <a:t>'1'='1'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B0362F"/>
                </a:solidFill>
                <a:latin typeface="Consolas"/>
                <a:cs typeface="Consolas"/>
              </a:rPr>
              <a:t>-- </a:t>
            </a:r>
            <a:r>
              <a:rPr sz="1500" b="0">
                <a:solidFill>
                  <a:srgbClr val="5B667A"/>
                </a:solidFill>
                <a:latin typeface="Consolas"/>
                <a:cs typeface="Consolas"/>
              </a:rPr>
              <a:t>' AND clave = '...'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158191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B0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cs typeface="Calibri"/>
              </a:rPr>
              <a:t>VULNERABLE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2B3A6E"/>
                </a:solidFill>
                <a:latin typeface="Calibri"/>
                <a:cs typeface="Calibri"/>
              </a:rPr>
              <a:t>Ataque 1 · Por qué funciona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2412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La comilla </a:t>
            </a:r>
            <a:r>
              <a:rPr sz="1800" b="1" i="0">
                <a:solidFill>
                  <a:srgbClr val="B0362F"/>
                </a:solidFill>
                <a:latin typeface="Calibri"/>
                <a:cs typeface="Calibri"/>
              </a:rPr>
              <a:t>'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 cierra el correo antes de tiempo.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800" b="1" i="0">
                <a:solidFill>
                  <a:srgbClr val="B0362F"/>
                </a:solidFill>
                <a:latin typeface="Calibri"/>
                <a:cs typeface="Calibri"/>
              </a:rPr>
              <a:t>OR '1'='1'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 agrega una condición que siempre es verdadera.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Los dos guiones </a:t>
            </a:r>
            <a:r>
              <a:rPr sz="1800" b="1" i="0">
                <a:solidFill>
                  <a:srgbClr val="B0362F"/>
                </a:solidFill>
                <a:latin typeface="Calibri"/>
                <a:cs typeface="Calibri"/>
              </a:rPr>
              <a:t>-- 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 convierten el resto en un comentario: el control de la contraseña desaparece.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5196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B3A6E"/>
                </a:solidFill>
                <a:latin typeface="Calibri"/>
                <a:cs typeface="Calibri"/>
              </a:rPr>
              <a:t>Efecto: 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la condición es siempre verdadera, la base devuelve un usuario y el sistema concede el acceso sin conocer ninguna contraseña.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2B3A6E"/>
                </a:solidFill>
                <a:latin typeface="Calibri"/>
                <a:cs typeface="Calibri"/>
              </a:rPr>
              <a:t>Ataque 2 · Mostrar todo el catálogo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4846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  <a:cs typeface="Calibri"/>
              </a:rPr>
              <a:t>El buscador arma su consulta de la misma forma, uniendo el término de búsqueda.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  <a:cs typeface="Calibri"/>
              </a:rPr>
              <a:t>Si el atacante busca un texto preparado, la condición se vuelve siempre verdadera y el catálogo devuelve todos los productos, incluidos los no publicados.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37160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28016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B667A"/>
                </a:solidFill>
                <a:latin typeface="Consolas"/>
                <a:cs typeface="Consolas"/>
              </a:rPr>
              <a:t>// buscar.php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B233A"/>
                </a:solidFill>
                <a:latin typeface="Consolas"/>
                <a:cs typeface="Consolas"/>
              </a:rPr>
              <a:t>... WHERE nombre LIKE </a:t>
            </a:r>
            <a:r>
              <a:rPr sz="1500" b="1">
                <a:solidFill>
                  <a:srgbClr val="B0362F"/>
                </a:solidFill>
                <a:latin typeface="Consolas"/>
                <a:cs typeface="Consolas"/>
              </a:rPr>
              <a:t>'%$q%'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07899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B0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cs typeface="Calibri"/>
              </a:rPr>
              <a:t>VULNERABLE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297180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  <a:cs typeface="Calibri"/>
              </a:rPr>
              <a:t>El atacante busca: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3474720"/>
            <a:ext cx="5349240" cy="640080"/>
          </a:xfrm>
          <a:prstGeom prst="roundRect">
            <a:avLst>
              <a:gd name="adj" fmla="val 4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28016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B0362F"/>
                </a:solidFill>
                <a:latin typeface="Consolas"/>
                <a:cs typeface="Consolas"/>
              </a:rPr>
              <a:t>' OR '1'='1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2B3A6E"/>
                </a:solidFill>
                <a:latin typeface="Calibri"/>
                <a:cs typeface="Calibri"/>
              </a:rPr>
              <a:t>Qué está en juego en un comercio electrónico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332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75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Se expone información de personas: nombres, correos, direcciones e historial de compras.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75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En Uruguay, esos datos están protegidos por la </a:t>
            </a:r>
            <a:r>
              <a:rPr sz="1750" b="1" i="0">
                <a:solidFill>
                  <a:srgbClr val="222222"/>
                </a:solidFill>
                <a:latin typeface="Calibri"/>
                <a:cs typeface="Calibri"/>
              </a:rPr>
              <a:t>Ley N.º 18.331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 de Protección de Datos Personales, controlada por la </a:t>
            </a:r>
            <a:r>
              <a:rPr sz="1750" b="1" i="0">
                <a:solidFill>
                  <a:srgbClr val="222222"/>
                </a:solidFill>
                <a:latin typeface="Calibri"/>
                <a:cs typeface="Calibri"/>
              </a:rPr>
              <a:t>URCDP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200"/>
              </a:spcAft>
            </a:pPr>
            <a:r>
              <a:rPr sz="175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Protegerlos con medidas adecuadas es una </a:t>
            </a:r>
            <a:r>
              <a:rPr sz="1750" b="1" i="0">
                <a:solidFill>
                  <a:srgbClr val="222222"/>
                </a:solidFill>
                <a:latin typeface="Calibri"/>
                <a:cs typeface="Calibri"/>
              </a:rPr>
              <a:t>obligación legal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, no una opción.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862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2B3A6E"/>
                </a:solidFill>
                <a:latin typeface="Calibri"/>
                <a:cs typeface="Calibri"/>
              </a:rPr>
              <a:t>Del lado de quien ataca: </a:t>
            </a:r>
            <a:r>
              <a:rPr sz="1650" b="0" i="0">
                <a:solidFill>
                  <a:srgbClr val="222222"/>
                </a:solidFill>
                <a:latin typeface="Calibri"/>
                <a:cs typeface="Calibri"/>
              </a:rPr>
              <a:t>acceder a un sistema ajeno sin autorización es delito (Ley N.º 20.327, art. 297 BIS). Todas las pruebas se hacen solo sobre el proyecto propio.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5852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0" i="0">
                <a:solidFill>
                  <a:srgbClr val="FFFFFF"/>
                </a:solidFill>
                <a:latin typeface="Calibri"/>
                <a:cs typeface="Calibri"/>
              </a:rPr>
              <a:t>La defensa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2971800"/>
            <a:ext cx="3657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B3A6E"/>
                </a:solidFill>
                <a:latin typeface="Calibri"/>
                <a:cs typeface="Calibri"/>
              </a:rPr>
              <a:t>CIBERSEGURIDAD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2B3A6E"/>
                </a:solidFill>
                <a:latin typeface="Calibri"/>
                <a:cs typeface="Calibri"/>
              </a:rPr>
              <a:t>Consultas parametrizadas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cs typeface="Calibri"/>
              </a:rPr>
              <a:t>La solución es siempre la misma: </a:t>
            </a:r>
            <a:r>
              <a:rPr sz="2000" b="1" i="0">
                <a:solidFill>
                  <a:srgbClr val="2B3A6E"/>
                </a:solidFill>
                <a:latin typeface="Calibri"/>
                <a:cs typeface="Calibri"/>
              </a:rPr>
              <a:t>separar la orden del dato.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102412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La orden SQL se escribe con un marcador </a:t>
            </a:r>
            <a:r>
              <a:rPr sz="1800" b="1" i="0">
                <a:solidFill>
                  <a:srgbClr val="222222"/>
                </a:solidFill>
                <a:latin typeface="Calibri"/>
                <a:cs typeface="Calibri"/>
              </a:rPr>
              <a:t>(?)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 en el lugar del dato.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El dato se envía por separado.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El motor de la base lo trata siempre como un valor, aunque contenga comillas, OR o cualquier otro texto.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2B3A6E"/>
                </a:solidFill>
                <a:latin typeface="Calibri"/>
                <a:cs typeface="Calibri"/>
              </a:rPr>
              <a:t>Código seguro: el ingreso con parámetros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371600"/>
            <a:ext cx="10424160" cy="2926080"/>
          </a:xfrm>
          <a:prstGeom prst="roundRect">
            <a:avLst>
              <a:gd name="adj" fmla="val 4000"/>
            </a:avLst>
          </a:prstGeom>
          <a:solidFill>
            <a:srgbClr val="F3F4F7"/>
          </a:solidFill>
          <a:ln w="9525">
            <a:solidFill>
              <a:srgbClr val="D7DD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28016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5B667A"/>
                </a:solidFill>
                <a:latin typeface="Consolas"/>
                <a:cs typeface="Consolas"/>
              </a:rPr>
              <a:t>// login.php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5B667A"/>
                </a:solidFill>
                <a:latin typeface="Consolas"/>
                <a:cs typeface="Consolas"/>
              </a:rPr>
              <a:t>// 1. la orden, con ? donde va el dato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1B233A"/>
                </a:solidFill>
                <a:latin typeface="Consolas"/>
                <a:cs typeface="Consolas"/>
              </a:rPr>
              <a:t>$stmt = $conn-&gt;prepare(</a:t>
            </a:r>
            <a:r>
              <a:rPr sz="1550" b="0">
                <a:solidFill>
                  <a:srgbClr val="1E6B3E"/>
                </a:solidFill>
                <a:latin typeface="Consolas"/>
                <a:cs typeface="Consolas"/>
              </a:rPr>
              <a:t>"SELECT * FROM usuarios WHERE correo = ?"</a:t>
            </a:r>
            <a:r>
              <a:rPr sz="1550" b="0">
                <a:solidFill>
                  <a:srgbClr val="1B233A"/>
                </a:solidFill>
                <a:latin typeface="Consolas"/>
                <a:cs typeface="Consolas"/>
              </a:rPr>
              <a:t>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1B233A"/>
                </a:solidFill>
                <a:latin typeface="Consolas"/>
                <a:cs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5B667A"/>
                </a:solidFill>
                <a:latin typeface="Consolas"/>
                <a:cs typeface="Consolas"/>
              </a:rPr>
              <a:t>// 2. el dato se envía por separado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1B233A"/>
                </a:solidFill>
                <a:latin typeface="Consolas"/>
                <a:cs typeface="Consolas"/>
              </a:rPr>
              <a:t>$stmt-&gt;bind_param(</a:t>
            </a:r>
            <a:r>
              <a:rPr sz="1550" b="0">
                <a:solidFill>
                  <a:srgbClr val="1E6B3E"/>
                </a:solidFill>
                <a:latin typeface="Consolas"/>
                <a:cs typeface="Consolas"/>
              </a:rPr>
              <a:t>"s"</a:t>
            </a:r>
            <a:r>
              <a:rPr sz="1550" b="0">
                <a:solidFill>
                  <a:srgbClr val="1B233A"/>
                </a:solidFill>
                <a:latin typeface="Consolas"/>
                <a:cs typeface="Consolas"/>
              </a:rPr>
              <a:t>, $correo);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1B233A"/>
                </a:solidFill>
                <a:latin typeface="Consolas"/>
                <a:cs typeface="Consolas"/>
              </a:rPr>
              <a:t>$stmt-&gt;execute();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1B233A"/>
                </a:solidFill>
                <a:latin typeface="Consolas"/>
                <a:cs typeface="Consolas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5B667A"/>
                </a:solidFill>
                <a:latin typeface="Consolas"/>
                <a:cs typeface="Consolas"/>
              </a:rPr>
              <a:t>// 3. la contraseña se verifica en PHP, con hashing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>
                <a:solidFill>
                  <a:srgbClr val="1B233A"/>
                </a:solidFill>
                <a:latin typeface="Consolas"/>
                <a:cs typeface="Consolas"/>
              </a:rPr>
              <a:t>password_verify($clave, $usuario['clave']);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07899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1E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cs typeface="Calibri"/>
              </a:rPr>
              <a:t>SEGURO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2B3A6E"/>
                </a:solidFill>
                <a:latin typeface="Calibri"/>
                <a:cs typeface="Calibri"/>
              </a:rPr>
              <a:t>Por qué cierra el ataque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  <a:cs typeface="Calibri"/>
              </a:rPr>
              <a:t>Si el atacante vuelve a escribir el texto del Ataque 1 en el campo correo, la base busca un usuario cuyo correo sea, literalmente, ese texto.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  <a:cs typeface="Calibri"/>
              </a:rPr>
              <a:t>Ese correo no existe. No ingresa nadie.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El mismo cambio se aplica al buscador, al detalle de producto y a cada consulta: </a:t>
            </a:r>
            <a:r>
              <a:rPr sz="1800" b="1" i="0">
                <a:solidFill>
                  <a:srgbClr val="2B3A6E"/>
                </a:solidFill>
                <a:latin typeface="Calibri"/>
                <a:cs typeface="Calibri"/>
              </a:rPr>
              <a:t>el dato siempre va por el marcador.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2B3A6E"/>
                </a:solidFill>
                <a:latin typeface="Calibri"/>
                <a:cs typeface="Calibri"/>
              </a:rPr>
              <a:t>Capas adicionales de defensa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3327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Conectarse a la base con un usuario de </a:t>
            </a:r>
            <a:r>
              <a:rPr sz="1800" b="1" i="0">
                <a:solidFill>
                  <a:srgbClr val="222222"/>
                </a:solidFill>
                <a:latin typeface="Calibri"/>
                <a:cs typeface="Calibri"/>
              </a:rPr>
              <a:t>mínimo privilegio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, no como administrador.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No mostrar los errores de SQL al usuario: </a:t>
            </a:r>
            <a:r>
              <a:rPr sz="1800" b="0" i="0">
                <a:solidFill>
                  <a:srgbClr val="5B667A"/>
                </a:solidFill>
                <a:latin typeface="Calibri"/>
                <a:cs typeface="Calibri"/>
              </a:rPr>
              <a:t>delatan tablas y columnas.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Validar el </a:t>
            </a:r>
            <a:r>
              <a:rPr sz="1800" b="1" i="0">
                <a:solidFill>
                  <a:srgbClr val="222222"/>
                </a:solidFill>
                <a:latin typeface="Calibri"/>
                <a:cs typeface="Calibri"/>
              </a:rPr>
              <a:t>tipo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 de cada dato (si se espera un número, convertirlo a número).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Guardar las contraseñas con </a:t>
            </a:r>
            <a:r>
              <a:rPr sz="1800" b="1" i="0">
                <a:solidFill>
                  <a:srgbClr val="222222"/>
                </a:solidFill>
                <a:latin typeface="Calibri"/>
                <a:cs typeface="Calibri"/>
              </a:rPr>
              <a:t>password_hash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, nunca en texto ni con MD5.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2B3A6E"/>
                </a:solidFill>
                <a:latin typeface="Calibri"/>
                <a:cs typeface="Calibri"/>
              </a:rPr>
              <a:t>Lo que no alcanza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3327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500"/>
              </a:spcAft>
            </a:pPr>
            <a:r>
              <a:rPr sz="18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Escapar las comillas a mano </a:t>
            </a:r>
            <a:r>
              <a:rPr sz="1800" b="0" i="1">
                <a:solidFill>
                  <a:srgbClr val="222222"/>
                </a:solidFill>
                <a:latin typeface="Calibri"/>
                <a:cs typeface="Calibri"/>
              </a:rPr>
              <a:t>(addslashes)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: se escapa por muchos lados. El motor ya sabe hacerlo con parámetros.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500"/>
              </a:spcAft>
            </a:pPr>
            <a:r>
              <a:rPr sz="18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Validar solo en el navegador </a:t>
            </a:r>
            <a:r>
              <a:rPr sz="1800" b="0" i="1">
                <a:solidFill>
                  <a:srgbClr val="222222"/>
                </a:solidFill>
                <a:latin typeface="Calibri"/>
                <a:cs typeface="Calibri"/>
              </a:rPr>
              <a:t>(JavaScript)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: el atacante no usa el formulario, envía el pedido directo. La validación que importa va en el servidor.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500"/>
              </a:spcAft>
            </a:pPr>
            <a:r>
              <a:rPr sz="180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Ocultar los nombres de las tablas: </a:t>
            </a:r>
            <a:r>
              <a:rPr sz="1800" b="0" i="0">
                <a:solidFill>
                  <a:srgbClr val="222222"/>
                </a:solidFill>
                <a:latin typeface="Calibri"/>
                <a:cs typeface="Calibri"/>
              </a:rPr>
              <a:t>la seguridad no puede depender de que el diseño sea secreto.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pattFill prst="ltUpDiag">
            <a:fgClr>
              <a:srgbClr val="C2CAD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2062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2B3A6E"/>
                </a:solidFill>
                <a:latin typeface="Calibri"/>
                <a:cs typeface="Calibri"/>
              </a:rPr>
              <a:t>Verificación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327648"/>
            <a:ext cx="10561320" cy="3048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5B667A"/>
                </a:solidFill>
                <a:latin typeface="Calibri"/>
                <a:cs typeface="Calibri"/>
              </a:rPr>
              <a:t>CIBERSEGURIDAD</a:t>
            </a:r>
            <a:r>
              <a:rPr sz="950" b="0" i="0">
                <a:solidFill>
                  <a:srgbClr val="5B667A"/>
                </a:solidFill>
                <a:latin typeface="Calibri"/>
                <a:cs typeface="Calibri"/>
              </a:rPr>
              <a:t>  ·  3.º Bachillerato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  <a:cs typeface="Calibri"/>
              </a:rPr>
              <a:t>Antes de la entrega, revisar cada lugar donde la aplicación arma una consulta: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103327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El ingreso: ¿usa consulta parametrizada y password_verify?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La búsqueda del catálogo: ¿el término va por marcador?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El detalle de producto y el ABM: ¿todas las consultas son parametrizadas?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¿La aplicación se conecta a la base sin ser administrador?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1100"/>
              </a:spcAft>
            </a:pPr>
            <a:r>
              <a:rPr sz="1750" b="1">
                <a:solidFill>
                  <a:srgbClr val="2B3A6E"/>
                </a:solidFill>
                <a:latin typeface="Calibri"/>
                <a:cs typeface="Calibri"/>
              </a:rPr>
              <a:t>•  </a:t>
            </a:r>
            <a:r>
              <a:rPr sz="1750" b="0" i="0">
                <a:solidFill>
                  <a:srgbClr val="222222"/>
                </a:solidFill>
                <a:latin typeface="Calibri"/>
                <a:cs typeface="Calibri"/>
              </a:rPr>
              <a:t>¿Las contraseñas se guardan con password_hash?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100584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FFFFFF"/>
                </a:solidFill>
                <a:latin typeface="Calibri"/>
                <a:cs typeface="Calibri"/>
              </a:rPr>
              <a:t>La inyección SQL ocurre cuando el dato del usuario se mezcla con la orden SQL, </a:t>
            </a:r>
            <a:r>
              <a:rPr sz="2600" b="1" i="0">
                <a:solidFill>
                  <a:srgbClr val="FFFFFF"/>
                </a:solidFill>
                <a:latin typeface="Calibri"/>
                <a:cs typeface="Calibri"/>
              </a:rPr>
              <a:t>y se cierra separándolos con consultas parametrizadas.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949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C5CCDE"/>
                </a:solidFill>
                <a:latin typeface="Calibri"/>
                <a:cs typeface="Calibri"/>
              </a:rPr>
              <a:t>OWASP · MITRE CWE-89 · Manual de PHP · Ley N.º 18.331 (URCDP) · Ley N.º 20.327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Inyección SQL</dc:title>
  <dc:subject/>
  <dc:creator>diego.renaldin@hotmail.com</dc:creator>
  <cp:keywords/>
  <dc:description/>
  <cp:lastModifiedBy>diego.renaldin@hotmail.com</cp:lastModifiedBy>
  <cp:revision>1</cp:revision>
  <dcterms:created xsi:type="dcterms:W3CDTF">2013-01-27T09:14:16Z</dcterms:created>
  <dcterms:modified xsi:type="dcterms:W3CDTF">2013-01-27T09:15:58Z</dcterms:modified>
  <cp:category/>
  <cp:contentStatus/>
</cp:coreProperties>
</file>