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Encuadre: en la clase 1 la tríada ocupó tres renglones de una tabla. Hoy ocupa toda la clase. Aclarar desde el arranque que no es una definición para memorizar, sino la herramienta de trabajo que vamos a usar el resto del 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el recorrido. Avisar que los cinco casos del final son los que se usan en la actividad, así toman nota mientras se explican.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Preguntar de memoria las tres antes de mostrar. Aclarar la sigla CIA/CID porque toda la bibliografía profesional está en inglés.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cuarto uso es el que más se subestima: la mayor parte del trabajo de un profesional de seguridad es explicarle el riesgo a alguien que no es técnico y que firma el presupuesto.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Insistir en la palabra clave: NO AUTORIZADOS. No es que nadie la vea, es que la vea exactamente quien debe.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dos ejemplos más del liceo antes de mostrar el recuadro. Suelen salir buenos: la clave del wifi de docentes, el acceso a fotocopias.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detenerse en cifrado ni en control de acceso: tienen clase propia. Sí detenerse en clasificación, que es lo que casi ninguna organización hace y explica por qué después protegen todo igual de 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idea más importante de la primera mitad de la clase. Si se llevan una sola cosa, que sea ésta: la confidencialidad es la única de las tres cuya pérdida no se revierte.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con la clase 1: la Ley 18.331 aplica a cualquier organización que maneje datos de personas, incluido el liceo. Volveremos sobre el caso de los registros de vacunación en el bloque de casos.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dos palabras importan. Exactitud: el dato refleja la realidad. Completitud: no le falta nada. Ejemplo: a un registro médico se le borró una alergia — está exacto en todo lo que dice, y es igual de peligroso.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Destacar que separación de funciones y doble control son controles ORGANIZATIVOS, no técnicos, y están entre los más eficaces. Quien carga una operación no es quien la autoriza. Vuelve en el caso de Bangladesh.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la consecuencia: por eso los ataques mejor financiados van contra la integridad. No buscan romper nada visible, buscan que el sistema siga funcionando pero mintiendo.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más fácil de entender y la más fácil de subestimar. Un sistema inaccesible tiene, en la práctica, el mismo valor que un sistema que no existe.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Hacer la cuenta con ellos: 99% suena altísimo y son casi cuatro días al año. Preguntar qué pasaría si el sistema de inscripciones estuviera caído tres días seguidos justo en el período de inscripción.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el concepto más práctico de la clase y el que más se confunde en la prueba. Regla mnemotécnica: RTO = Tiempo, RPO = Puntos de datos. Pedir que fijen ambos para el sistema del liceo en la parte B de la actividad.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con la clase 1: la definición de amenaza incluye las deliberadas, las accidentales y las ambientales. La seguridad no es solo defenderse de alguien.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ejemplo de la laptop cifrada es el que mejor funciona: preguntar primero si se perdió confidencialidad. La mayoría dice que sí. Ahí se ve para qué sirve tener más de tres categorías.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usan como sinónimos todo el tiempo, incluso en la prensa. Vale la pena que lo distingan porque en la clase de protección de datos vuelve.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Insistir: cualquiera puede pedir «máxima seguridad». Lo difícil, y lo que se paga, es decidir qué se resigna. Preguntar qué resignarían ellos en el sistema de calificaciones.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de participación. Que defiendan órdenes distintos; lo que se evalúa es el argumento, no la coincidencia con una respuesta modelo. Esto es exactamente la parte B de la actividad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procedimiento de la actividad y de las evaluaciones. Siempre en este orden. Insistir en el paso 3: reconocer lo que no se sabe también es parte del análisis y suma, no resta.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prensa no escribe en lenguaje técnico. Esta tabla es la traducción. Conviene que la copien: es la que van a usar leyendo las fichas de la actividad.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Avisar: estos cinco casos son los que aparecen en el material escrito con la ficha completa de análisis. En la clase alcanza con la idea central de cada uno.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Preguntar antes de mostrar la columna de propiedades: ¿solo disponibilidad? Ahí aparece la exfiltración. La integridad queda 'en riesgo' porque tras una intrusión prolongada no se puede afirmar que los datos no fueron alterados: hay que verificarlo.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También hubo filtraciones en Migraciones (14.877 formularios de visa), Mides (37.756 archivos), MTSS (350.800 registros) y Fiscalía. Preguntar quién de ellos está en alguna de estas bases: la respuesta es prácticamente todos.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sistemas tributario y aduanero recién se restablecieron en junio: dos meses. El 31 de mayo un segundo grupo, Hive, atacó la Caja Costarricense de Seguro Social con 800 servidores infectados. Sirve para dimensionar qué significa un plan de continuidad.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el caso que más discusión genera. Preguntar: ¿es esto un incidente de ciberseguridad? Sí, y de manual. La lección práctica es el despliegue por anillos: nunca actualizar todo a la vez.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del bloque de casos. Vincular con la separación de funciones: no había doble autorización efectiva para montos altos. Y con la confidencialidad: los atacantes estuvieron semanas observando cómo operaba el banco antes de mover un peso.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 momento para volver atrás: pedirles que tapen las columnas C/I/D y las reconstruyan de memoria antes de mostrarlas.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Leerlos de a uno y pedir un ejemplo propio del error 1: es el más común. Sirve para cerrar la clase con lo que se evalúa.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Repartir las fichas de caso de la actividad ahora si queda tiempo, para que lleguen a la clase 3 con el análisis empezado. Recordar el material completo en el repositorio de GitHub del 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Material completo, actividad y autoevaluación en el repositorio del 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51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CIBERSEGURIDAD · 3.º TRAMO 8 · DGETP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Clase 2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9A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tríada CID en profundidad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protege cada propiedad, cómo se rompe cada una,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cómo se clasifica un incidente real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611880"/>
            <a:ext cx="457200" cy="45720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88720" y="3611880"/>
            <a:ext cx="457200" cy="457200"/>
          </a:xfrm>
          <a:prstGeom prst="ellipse">
            <a:avLst/>
          </a:prstGeom>
          <a:solidFill>
            <a:srgbClr val="D98C1F"/>
          </a:solidFill>
          <a:ln w="12700">
            <a:solidFill>
              <a:srgbClr val="D98C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737360" y="3611880"/>
            <a:ext cx="457200" cy="457200"/>
          </a:xfrm>
          <a:prstGeom prst="ellipse">
            <a:avLst/>
          </a:prstGeom>
          <a:solidFill>
            <a:srgbClr val="D4504E"/>
          </a:solidFill>
          <a:ln w="12700">
            <a:solidFill>
              <a:srgbClr val="D450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423160" y="3703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1.1 del programa · Competencia CET1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3434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Diego Renaldín Medina · Curso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Hoja de ruta de hoy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39776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545336"/>
            <a:ext cx="429768" cy="429768"/>
          </a:xfrm>
          <a:prstGeom prst="ellipse">
            <a:avLst/>
          </a:prstGeom>
          <a:solidFill>
            <a:srgbClr val="0B1A2A"/>
          </a:solidFill>
          <a:ln w="12700">
            <a:solidFill>
              <a:srgbClr val="0B1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4533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07008" y="14721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qué sirve la tríada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207008" y="17647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usos concretos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325880"/>
            <a:ext cx="39776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92040" y="1545336"/>
            <a:ext cx="429768" cy="42976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54533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58968" y="14721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Confidencialidad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58968" y="17647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propiedad irreversible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59152"/>
            <a:ext cx="39776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578608"/>
            <a:ext cx="429768" cy="429768"/>
          </a:xfrm>
          <a:prstGeom prst="ellipse">
            <a:avLst/>
          </a:prstGeom>
          <a:solidFill>
            <a:srgbClr val="D98C1F"/>
          </a:solidFill>
          <a:ln w="12700">
            <a:solidFill>
              <a:srgbClr val="D98C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578608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25054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207008" y="27980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propiedad silenciosa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2359152"/>
            <a:ext cx="39776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92040" y="2578608"/>
            <a:ext cx="429768" cy="429768"/>
          </a:xfrm>
          <a:prstGeom prst="ellipse">
            <a:avLst/>
          </a:prstGeom>
          <a:solidFill>
            <a:srgbClr val="D4504E"/>
          </a:solidFill>
          <a:ln w="12700">
            <a:solidFill>
              <a:srgbClr val="D4504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578608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58968" y="25054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458968" y="27980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propiedad que se mide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392424"/>
            <a:ext cx="39776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3611880"/>
            <a:ext cx="429768" cy="429768"/>
          </a:xfrm>
          <a:prstGeom prst="ellipse">
            <a:avLst/>
          </a:prstGeom>
          <a:solidFill>
            <a:srgbClr val="0B1A2A"/>
          </a:solidFill>
          <a:ln w="12700">
            <a:solidFill>
              <a:srgbClr val="0B1A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61188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07008" y="35387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la tríada no cubre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207008" y="38313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Parker, privacidad, conflictos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3392424"/>
            <a:ext cx="39776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92040" y="3611880"/>
            <a:ext cx="429768" cy="429768"/>
          </a:xfrm>
          <a:prstGeom prst="ellipse">
            <a:avLst/>
          </a:prstGeom>
          <a:solidFill>
            <a:srgbClr val="0B1A2A"/>
          </a:solidFill>
          <a:ln w="12700">
            <a:solidFill>
              <a:srgbClr val="0B1A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361188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458968" y="35387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y cinco casos reales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458968" y="38313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 con fundamento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6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 DE LA CLASE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propiedades, una definición cada una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28803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00200"/>
            <a:ext cx="548640" cy="54864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Confidencialidad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6060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información solo es accesible para quien está autorizado.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3703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«Se filtró la base de datos»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606040" cy="28803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20440" y="1600200"/>
            <a:ext cx="548640" cy="548640"/>
          </a:xfrm>
          <a:prstGeom prst="ellipse">
            <a:avLst/>
          </a:prstGeom>
          <a:solidFill>
            <a:srgbClr val="D98C1F"/>
          </a:solidFill>
          <a:ln w="12700">
            <a:solidFill>
              <a:srgbClr val="D98C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20440" y="22860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20440" y="26060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información es exacta y completa, y nadie la modifica sin autorización.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520440" y="3703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98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«Alteraron los registros»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1371600"/>
            <a:ext cx="2606040" cy="28803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55080" y="1600200"/>
            <a:ext cx="548640" cy="548640"/>
          </a:xfrm>
          <a:prstGeom prst="ellipse">
            <a:avLst/>
          </a:prstGeom>
          <a:solidFill>
            <a:srgbClr val="D4504E"/>
          </a:solidFill>
          <a:ln w="12700">
            <a:solidFill>
              <a:srgbClr val="D450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55080" y="22860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55080" y="26060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información y los servicios están accesibles cuando se los necesita.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355080" y="3703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45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«El sistema estuvo caído»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27000 · En inglés se la llama CIA triad: no tiene nada que ver con la agencia de inteligencia.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tríada sirve para cuatro cosas distintas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9776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13232" y="15361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13232" y="18288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incidente que ya ocurrió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13232" y="212140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66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se rompió acá, exactamente?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1371600"/>
            <a:ext cx="39776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65192" y="15361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65192" y="18288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protege primero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965192" y="212140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66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hospital, ¿qué duele más?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39776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13232" y="3044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3232" y="33375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proporcionados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13232" y="363016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66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¿Cifrar, respaldar o firmar?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2880360"/>
            <a:ext cx="39776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65192" y="3044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65192" y="33375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quien no es técnico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965192" y="363016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66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«No podemos garantizar que las notas sean las que se pusieron»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600200"/>
            <a:ext cx="1371600" cy="137160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002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377440" y="182880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Confidencialidad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377440" y="2450592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«Que la información no se ponga a disposición ni se revele a individuos, entidades o procesos no autorizados» (ISO/IEC 27000)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CONFIDENCIALIDAD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principios la sostienen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72768"/>
            <a:ext cx="384048" cy="38404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600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privilegio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084832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persona, cuenta o proceso tiene los permisos mínimos que necesita para su tarea, y ni uno más.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9776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1572768"/>
            <a:ext cx="384048" cy="38404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40680" y="1600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Necesidad de conocer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2084832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Aunque alguien tenga el nivel de autorización suficiente, solo accede a lo que su tarea concreta requiere.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8229600" cy="1234440"/>
          </a:xfrm>
          <a:prstGeom prst="roundRect">
            <a:avLst>
              <a:gd name="adj" fmla="val 4444"/>
            </a:avLst>
          </a:prstGeom>
          <a:solidFill>
            <a:srgbClr val="EAF6F6"/>
          </a:solidFill>
          <a:ln w="12700">
            <a:solidFill>
              <a:srgbClr val="BFE3E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3456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escuela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749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adscripto necesita ver las inasistencias del grupo que tiene a cargo. No necesita poder exportar la base entera del liceo. Esa diferencia es, exactamente, la distancia entre los dos principios.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CONFIDENCIALIDAD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se protege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77640" cy="886968"/>
          </a:xfrm>
          <a:prstGeom prst="roundRect">
            <a:avLst>
              <a:gd name="adj" fmla="val 6186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4447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acceso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7099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puede hacer qué sobre cada recurso. Es el control central (clase 8).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1325880"/>
            <a:ext cx="3977640" cy="886968"/>
          </a:xfrm>
          <a:prstGeom prst="roundRect">
            <a:avLst>
              <a:gd name="adj" fmla="val 6186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4447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7099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tránsito (HTTPS, VPN) y en reposo (disco, base de datos). Clase 9.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3977640" cy="886968"/>
          </a:xfrm>
          <a:prstGeom prst="roundRect">
            <a:avLst>
              <a:gd name="adj" fmla="val 6186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24963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7614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Etiquetar los datos: público, interno, confidencial, reservado.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2377440"/>
            <a:ext cx="3977640" cy="886968"/>
          </a:xfrm>
          <a:prstGeom prst="roundRect">
            <a:avLst>
              <a:gd name="adj" fmla="val 6186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24963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Enmascaramiento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7614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****4821 en lugar del número completo. Anonimizar para estadística.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3977640" cy="886968"/>
          </a:xfrm>
          <a:prstGeom prst="roundRect">
            <a:avLst>
              <a:gd name="adj" fmla="val 6186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35478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físicos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38130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Puertas, pantallas orientadas, acuerdos de confidencialidad.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3429000"/>
            <a:ext cx="3977640" cy="886968"/>
          </a:xfrm>
          <a:prstGeom prst="roundRect">
            <a:avLst>
              <a:gd name="adj" fmla="val 6186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35478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la mirada ajena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38130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 se pierde mirando por encima del hombro: shoulder surfing.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PROPIEDAD ASIMÉTRICA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dato filtrado no se puede «desfiltrar»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7863840" cy="658368"/>
          </a:xfrm>
          <a:prstGeom prst="roundRect">
            <a:avLst>
              <a:gd name="adj" fmla="val 6944"/>
            </a:avLst>
          </a:prstGeom>
          <a:solidFill>
            <a:srgbClr val="1E3145"/>
          </a:solidFill>
          <a:ln w="12700">
            <a:solidFill>
              <a:srgbClr val="2A3E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20824"/>
            <a:ext cx="365760" cy="365760"/>
          </a:xfrm>
          <a:prstGeom prst="ellipse">
            <a:avLst/>
          </a:prstGeom>
          <a:solidFill>
            <a:srgbClr val="D4504E"/>
          </a:solidFill>
          <a:ln w="12700">
            <a:solidFill>
              <a:srgbClr val="D450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20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19202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0" y="192024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servicio caído se levanta.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949440" y="192024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Recuperable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670048"/>
            <a:ext cx="7863840" cy="658368"/>
          </a:xfrm>
          <a:prstGeom prst="roundRect">
            <a:avLst>
              <a:gd name="adj" fmla="val 6944"/>
            </a:avLst>
          </a:prstGeom>
          <a:solidFill>
            <a:srgbClr val="1E3145"/>
          </a:solidFill>
          <a:ln w="12700">
            <a:solidFill>
              <a:srgbClr val="2A3E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816352"/>
            <a:ext cx="365760" cy="365760"/>
          </a:xfrm>
          <a:prstGeom prst="ellipse">
            <a:avLst/>
          </a:prstGeom>
          <a:solidFill>
            <a:srgbClr val="D98C1F"/>
          </a:solidFill>
          <a:ln w="12700">
            <a:solidFill>
              <a:srgbClr val="D98C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816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25880" y="271576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271576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dato alterado se restaura desde una copia.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949440" y="271576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Recuperable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465576"/>
            <a:ext cx="7863840" cy="658368"/>
          </a:xfrm>
          <a:prstGeom prst="roundRect">
            <a:avLst>
              <a:gd name="adj" fmla="val 6944"/>
            </a:avLst>
          </a:prstGeom>
          <a:solidFill>
            <a:srgbClr val="2A3E55"/>
          </a:solidFill>
          <a:ln w="19050">
            <a:solidFill>
              <a:srgbClr val="0E9AA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3611880"/>
            <a:ext cx="365760" cy="36576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351129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Confidencialidad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91840" y="351129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dato que salió está en manos de otro, y se copia infinitas veces.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949440" y="351129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Irreversible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3434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Consecuencia práctica: para los datos cuya exposición sería catastrófica —salud, menores, situación judicial— se justifica una inversión en prevención que a primera vista parece desproporcionada. Después no hay reparación posible.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CONFIDENCIALIDAD · URUGUAY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todos los datos valen lo mismo ante la ley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16052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N.º 18.331 · Datos sensibles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3232" y="178308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 racial o étnico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Preferencias políticas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Convicciones religiosas o morales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Afiliación sindical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Vida sexual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00600" y="1325880"/>
            <a:ext cx="3886200" cy="2194560"/>
          </a:xfrm>
          <a:prstGeom prst="roundRect">
            <a:avLst>
              <a:gd name="adj" fmla="val 2500"/>
            </a:avLst>
          </a:prstGeom>
          <a:solidFill>
            <a:srgbClr val="EAF6F6"/>
          </a:solidFill>
          <a:ln w="12700">
            <a:solidFill>
              <a:srgbClr val="BFE3E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56632" y="14813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cambia el análisis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56632" y="1810512"/>
            <a:ext cx="3383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filtración de 1.645.000 registros de vacunación no es «una filtración grande».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filtración de datos sensibles de salud, con un régimen legal más estricto y un daño potencial mayor para las personas.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B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clasificar un incidente, el tipo de dato cambia la gravedad tanto como la cantidad.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600200"/>
            <a:ext cx="1371600" cy="1371600"/>
          </a:xfrm>
          <a:prstGeom prst="ellipse">
            <a:avLst/>
          </a:prstGeom>
          <a:solidFill>
            <a:srgbClr val="D98C1F"/>
          </a:solidFill>
          <a:ln w="12700">
            <a:solidFill>
              <a:srgbClr val="D98C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002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377440" y="182880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Integridad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377440" y="2450592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«Propiedad de exactitud y completitud de la información» (ISO/IEC 27000)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D98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Integridad de los datos e integridad del sistema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8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datos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13232" y="1874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información no se modifica de forma no autorizada ni se corrompe.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2514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66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calificación alterada en el sistema de gestión.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371600"/>
            <a:ext cx="397764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65192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8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sistema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65192" y="1874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hace lo que se supone que hace, sin manipulaciones.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65192" y="25146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66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servidor con un programa oculto instalado por un atacante: los datos pueden estar correctos y aun así perdió integridad.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337560"/>
            <a:ext cx="8229600" cy="1188720"/>
          </a:xfrm>
          <a:prstGeom prst="roundRect">
            <a:avLst>
              <a:gd name="adj" fmla="val 4615"/>
            </a:avLst>
          </a:prstGeom>
          <a:solidFill>
            <a:srgbClr val="FBF2E3"/>
          </a:solidFill>
          <a:ln w="12700">
            <a:solidFill>
              <a:srgbClr val="EAD3A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493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D98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típicos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785616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hash · Firmas digitales · Validación de entradas · Registros de auditoría · Separación de funciones y doble control · Control de versiones y copias de seguridad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D98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propiedad silenciosa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0604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81328"/>
            <a:ext cx="384048" cy="384048"/>
          </a:xfrm>
          <a:prstGeom prst="ellipse">
            <a:avLst/>
          </a:prstGeom>
          <a:solidFill>
            <a:srgbClr val="D4504E"/>
          </a:solidFill>
          <a:ln w="12700">
            <a:solidFill>
              <a:srgbClr val="D450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508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D45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nota en segundos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25603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Alguien llama y dice que no anda.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280160"/>
            <a:ext cx="260604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20440" y="1481328"/>
            <a:ext cx="384048" cy="38404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023360" y="1508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Confidencialidad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20440" y="20116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nota tarde, pero se nota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520440" y="25603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aparecen publicados.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280160"/>
            <a:ext cx="2606040" cy="1965960"/>
          </a:xfrm>
          <a:prstGeom prst="roundRect">
            <a:avLst>
              <a:gd name="adj" fmla="val 2791"/>
            </a:avLst>
          </a:prstGeom>
          <a:solidFill>
            <a:srgbClr val="FBF2E3"/>
          </a:solidFill>
          <a:ln w="12700">
            <a:solidFill>
              <a:srgbClr val="D98C1F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55080" y="1481328"/>
            <a:ext cx="384048" cy="384048"/>
          </a:xfrm>
          <a:prstGeom prst="ellipse">
            <a:avLst/>
          </a:prstGeom>
          <a:solidFill>
            <a:srgbClr val="D98C1F"/>
          </a:solidFill>
          <a:ln w="12700">
            <a:solidFill>
              <a:srgbClr val="D98C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0" y="1508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55080" y="20116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D98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no notarse nunca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355080" y="25603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dato alterado se ve exactamente igual que antes.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429000"/>
            <a:ext cx="8229600" cy="1097280"/>
          </a:xfrm>
          <a:prstGeom prst="roundRect">
            <a:avLst>
              <a:gd name="adj" fmla="val 5000"/>
            </a:avLst>
          </a:prstGeom>
          <a:solidFill>
            <a:srgbClr val="0B1A2A"/>
          </a:solidFill>
          <a:ln w="12700">
            <a:solidFill>
              <a:srgbClr val="0B1A2A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" y="361188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dato alterado sigue disponible, sigue siendo confidencial y se ve igual. Simplemente es falso — y todas las decisiones que se tomen con él serán equivocadas, tomadas con total confianza.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600200"/>
            <a:ext cx="1371600" cy="1371600"/>
          </a:xfrm>
          <a:prstGeom prst="ellipse">
            <a:avLst/>
          </a:prstGeom>
          <a:solidFill>
            <a:srgbClr val="D4504E"/>
          </a:solidFill>
          <a:ln w="12700">
            <a:solidFill>
              <a:srgbClr val="D450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002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377440" y="182880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Disponibilidad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377440" y="2450592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«Propiedad de ser accesible y utilizable a demanda por una entidad autorizada» (ISO/IEC 27000)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D45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única propiedad que se expresa con un número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compromete en un acuerdo de nivel de servicio (SLA): el porcentaje de tiempo en que el servicio está operativo.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51206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4688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Disponibilidad comprometida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Fuera de servicio admisible por año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99 %  ·  dos nueves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días 15 horas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99,9 %  ·  tres nueves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horas 46 minutos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99,99 %  ·  cuatro nueves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 minutos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99,999 %  ·  cinco nueves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minutos 15 segundos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806440" y="1691640"/>
            <a:ext cx="2880360" cy="1920240"/>
          </a:xfrm>
          <a:prstGeom prst="roundRect">
            <a:avLst>
              <a:gd name="adj" fmla="val 2857"/>
            </a:avLst>
          </a:prstGeom>
          <a:solidFill>
            <a:srgbClr val="FAECEC"/>
          </a:solidFill>
          <a:ln w="12700">
            <a:solidFill>
              <a:srgbClr val="EFC4C3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035040" y="1874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D45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nueve adicional multiplica el costo.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035040" y="24688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Ahí está la decisión de gestión: nadie paga cinco nueves para la cartelera de novedades del liceo.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57200" y="3886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66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Ojo con un error frecuente: si te bloquearon la cuenta porque erraste la contraseña, el sistema está perfectamente disponible. La disponibilidad se define para el usuario autorizado.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D45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siglas que hay que saber: RTO y RPO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7680960" cy="0"/>
          </a:xfrm>
          <a:prstGeom prst="line">
            <a:avLst/>
          </a:prstGeom>
          <a:noFill/>
          <a:ln w="19050">
            <a:solidFill>
              <a:srgbClr val="667C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43400" y="2103120"/>
            <a:ext cx="457200" cy="457200"/>
          </a:xfrm>
          <a:prstGeom prst="ellipse">
            <a:avLst/>
          </a:prstGeom>
          <a:solidFill>
            <a:srgbClr val="0B1A2A"/>
          </a:solidFill>
          <a:ln w="12700">
            <a:solidFill>
              <a:srgbClr val="0B1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434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794760" y="26060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0B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1520" y="123444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AECEC"/>
          </a:solidFill>
          <a:ln w="12700">
            <a:solidFill>
              <a:srgbClr val="EFC4C3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13258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5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 · Recovery Point Objective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15819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Cuántos datos se acepta perder. Se mide hacia atrás.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37760" y="123444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AECEC"/>
          </a:solidFill>
          <a:ln w="12700">
            <a:solidFill>
              <a:srgbClr val="EFC4C3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0" y="13258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5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 · Recovery Time Objective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120640" y="15819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tiempo puede estar caído el servicio. Se mide hacia adelante.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377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última copia de seguridad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212080" y="2377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6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restablecido →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82296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2004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D45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34747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de calificaciones con RTO de 4 horas y RPO de 24 horas: si se cae el martes a las 10, tiene que estar funcionando a las 14, y se acepta perder lo cargado desde la copia del lunes a la noche.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liceo no tolera perder un día de carga, el RPO no es 24 horas y hay que respaldar más seguido. Fijar el RPO es una decisión de gestión, no del técnico.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D45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siempre hay un atacante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408176"/>
            <a:ext cx="329184" cy="329184"/>
          </a:xfrm>
          <a:prstGeom prst="ellipse">
            <a:avLst/>
          </a:prstGeom>
          <a:solidFill>
            <a:srgbClr val="D4504E"/>
          </a:solidFill>
          <a:ln w="12700">
            <a:solidFill>
              <a:srgbClr val="D450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408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78992" y="13441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Fallas de hardware y de energía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434840" y="13441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intención, sin atacante, y muy frecuentes.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956816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" y="2066544"/>
            <a:ext cx="329184" cy="329184"/>
          </a:xfrm>
          <a:prstGeom prst="ellipse">
            <a:avLst/>
          </a:prstGeom>
          <a:solidFill>
            <a:srgbClr val="D4504E"/>
          </a:solidFill>
          <a:ln w="12700">
            <a:solidFill>
              <a:srgbClr val="D450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78992" y="200253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humanos y de configuración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434840" y="200253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Incluidas las actualizaciones mal probadas.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615184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" y="2724912"/>
            <a:ext cx="329184" cy="329184"/>
          </a:xfrm>
          <a:prstGeom prst="ellipse">
            <a:avLst/>
          </a:prstGeom>
          <a:solidFill>
            <a:srgbClr val="D4504E"/>
          </a:solidFill>
          <a:ln w="12700">
            <a:solidFill>
              <a:srgbClr val="D450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2724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78992" y="266090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Denegación de servicio (DoS / DDoS)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434840" y="266090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Saturar un servicio hasta dejarlo inaccesible.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273552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" y="3383280"/>
            <a:ext cx="329184" cy="329184"/>
          </a:xfrm>
          <a:prstGeom prst="ellipse">
            <a:avLst/>
          </a:prstGeom>
          <a:solidFill>
            <a:srgbClr val="D4504E"/>
          </a:solidFill>
          <a:ln w="12700">
            <a:solidFill>
              <a:srgbClr val="D450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3383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78992" y="331927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434840" y="33192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 los archivos y exige un pago.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" y="4041648"/>
            <a:ext cx="329184" cy="329184"/>
          </a:xfrm>
          <a:prstGeom prst="ellipse">
            <a:avLst/>
          </a:prstGeom>
          <a:solidFill>
            <a:srgbClr val="D4504E"/>
          </a:solidFill>
          <a:ln w="12700">
            <a:solidFill>
              <a:srgbClr val="D4504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78992" y="3977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Desastres físicos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434840" y="3977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Incendio, inundación, robo del equipamiento.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45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caso 4 de hoy es la mayor caída informática de la historia reciente. No hubo ningún atacante.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6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LA TRÍADA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propiedades que la tríada clasifica mal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 Parker (1998) propuso ampliar la tríada a seis propiedades: el hexágono de Parker. Agrega dos que resuelven casos que C, I y D no explican bien.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97764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18105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Posesión o control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" y="2103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Tener el soporte del dato, se haya leído o no.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13232" y="2487168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Roban una laptop con el disco cifrado: NO se perdió confidencialidad —nadie puede leer nada— pero sí la posesión. Y es un incidente que se reporta.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1645920"/>
            <a:ext cx="397764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65192" y="18105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Utilidad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65192" y="2103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el dato efectivamente sirva para algo.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965192" y="2487168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Tenés el archivo, está íntegro, está disponible, nadie lo vio… y se perdió la clave de cifrado. Está ahí y no sirve para nada.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0B1A2A"/>
          </a:solidFill>
          <a:ln w="12700">
            <a:solidFill>
              <a:srgbClr val="0B1A2A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391363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conocidas de la clase 1:  autenticidad  ·  no repudio  ·  trazabilidad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6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LA TRÍADA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Privacidad no es lo mismo que confidencialidad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1600200"/>
          </a:xfrm>
          <a:prstGeom prst="roundRect">
            <a:avLst>
              <a:gd name="adj" fmla="val 3429"/>
            </a:avLst>
          </a:prstGeom>
          <a:solidFill>
            <a:srgbClr val="EAF6F6"/>
          </a:solidFill>
          <a:ln w="12700">
            <a:solidFill>
              <a:srgbClr val="BFE3E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5361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Confidencialidad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13232" y="1847088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 técnica de la información: quién puede acceder al dato que ya tenés.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1371600"/>
            <a:ext cx="3977640" cy="1600200"/>
          </a:xfrm>
          <a:prstGeom prst="roundRect">
            <a:avLst>
              <a:gd name="adj" fmla="val 3429"/>
            </a:avLst>
          </a:prstGeom>
          <a:solidFill>
            <a:srgbClr val="F0EEF8"/>
          </a:solidFill>
          <a:ln w="12700">
            <a:solidFill>
              <a:srgbClr val="CFC9E5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65192" y="15361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65192" y="1847088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Derecho de la persona sobre sus datos: qué se recolecta, para qué, por cuánto tiempo y qué control conserva.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32918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app puede cifrar todo de punta a punta y controlar los accesos con rigor —confidencialidad impecable— y ser un desastre de privacidad, porque pide tus contactos, tu ubicación permanente y tu galería para funcionar.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B1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confidencialidad protege el dato que ya tenés. La privacidad pregunta si tenías que tenerlo.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triángulo se tensa: las tres entran en conflicto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3258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5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↔ 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286000" y="1325880"/>
            <a:ext cx="6172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Cifrar la base con una clave que custodia una sola persona: confidencialidad máxima, disponibilidad cero el día que se toma licencia.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82296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216712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5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↔ 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86000" y="2167128"/>
            <a:ext cx="6172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tan estricta que rechaza operaciones legítimas mal tipeadas: no entra nada corrupto y tampoco entra media clase.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962656"/>
            <a:ext cx="82296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3008376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5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↔ Trazabilidad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86000" y="3008376"/>
            <a:ext cx="6172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registro de auditoría completo es una gran herramienta forense y, a la vez, una base de datos personales más para proteger.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803904"/>
            <a:ext cx="82296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3849624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5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↔ Usabilidad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86000" y="3849624"/>
            <a:ext cx="6172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Contraseñas de 20 caracteres cambiadas cada 30 días: la gente las anota bajo el teclado y el control produce el riesgo que quería evitar.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4645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B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seguridad no consiste en llevar las tres al máximo, sino en equilibrarlas según lo que hay que proteger.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hay jerarquía universal: hay jerarquía por organización</a:t>
            </a:r>
            <a:endParaRPr lang="en-US" sz="27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4572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Prioridad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Hospital, emergencia médica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450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→ I → 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sistema caído durante una urgencia cuesta vidas.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Banco, sistema de pagos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98C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→ C → 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saldo equivocado destruye la confianza en todo el sistema.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Periodismo de investigación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9A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→ I → 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Revelar una fuente puede poner en riesgo a una persona.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Comercio electrónico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450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→ I → 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minuto caído es venta perdida.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Centro educativo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98C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→ C → 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calificación alterada invalida el sistema; y son datos de menores.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B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pensar: ¿cuál sería el orden en el sistema de gestión de nuestro liceo, y con qué argumento lo defenderías?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B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una única respuesta correcta. Hay respuestas fundamentadas y respuestas improvisadas.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6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DE TRABAJO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se analiza un incidente: cinco pasos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399032"/>
            <a:ext cx="329184" cy="329184"/>
          </a:xfrm>
          <a:prstGeom prst="ellipse">
            <a:avLst/>
          </a:prstGeom>
          <a:solidFill>
            <a:srgbClr val="0B1A2A"/>
          </a:solidFill>
          <a:ln w="12700">
            <a:solidFill>
              <a:srgbClr val="0B1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32588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0" y="1325880"/>
            <a:ext cx="5257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se afectó? Nombrarlo con precisión.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947672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" y="2066544"/>
            <a:ext cx="329184" cy="329184"/>
          </a:xfrm>
          <a:prstGeom prst="ellipse">
            <a:avLst/>
          </a:prstGeom>
          <a:solidFill>
            <a:srgbClr val="0B1A2A"/>
          </a:solidFill>
          <a:ln w="12700">
            <a:solidFill>
              <a:srgbClr val="0B1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199339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0" y="1993392"/>
            <a:ext cx="5257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se rompió: C, I, D? Puede ser más de una. Justificar cada una.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615184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" y="2734056"/>
            <a:ext cx="329184" cy="329184"/>
          </a:xfrm>
          <a:prstGeom prst="ellipse">
            <a:avLst/>
          </a:prstGeom>
          <a:solidFill>
            <a:srgbClr val="0B1A2A"/>
          </a:solidFill>
          <a:ln w="12700">
            <a:solidFill>
              <a:srgbClr val="0B1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27340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266090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0" y="2660904"/>
            <a:ext cx="5257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dónde entró? Si no se sabe, decirlo.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282696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" y="3401568"/>
            <a:ext cx="329184" cy="329184"/>
          </a:xfrm>
          <a:prstGeom prst="ellipse">
            <a:avLst/>
          </a:prstGeom>
          <a:solidFill>
            <a:srgbClr val="0B1A2A"/>
          </a:solidFill>
          <a:ln w="12700">
            <a:solidFill>
              <a:srgbClr val="0B1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3401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3328416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0" y="3328416"/>
            <a:ext cx="5257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¿Sobre quién recae el daño, y de qué tipo es?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3950208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" y="4069080"/>
            <a:ext cx="329184" cy="329184"/>
          </a:xfrm>
          <a:prstGeom prst="ellipse">
            <a:avLst/>
          </a:prstGeom>
          <a:solidFill>
            <a:srgbClr val="0B1A2A"/>
          </a:solidFill>
          <a:ln w="12700">
            <a:solidFill>
              <a:srgbClr val="0B1A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" y="4069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97280" y="399592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00400" y="3995928"/>
            <a:ext cx="5257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lo habría evitado o reducido? Priorizados.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4681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66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impacto se recorre en cuatro dimensiones: operativo · económico · reputacional · sobre las personas. La última es la que menos aparece en la prensa y la más importante.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6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DE TRABAJO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Diccionario: de la noticia a la propiedad</a:t>
            </a:r>
            <a:endParaRPr lang="en-US" sz="27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329184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 que dice la noticia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Propiedad afectada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2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«se filtraron», «quedaron expuestos», «publicaron la base»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9A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Confidencialidad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«alteraron», «modificaron el sitio», «transferencias no autorizadas»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D98C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«se cayó», «fuera de servicio», «no se pudo operar durante X horas»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D450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Disponibilidad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«cifraron los archivos y piden un rescate»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Disponibilidad + casi siempre Confidencialidad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«suplantaron la identidad de», «se hicieron pasar por»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Autenticidad (y normalmente C)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«no se puede determinar quién hizo la operación»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Trazabilidad / no repudio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PARTE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casos reales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Elegidos para cubrir combinaciones distintas de propiedades.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Mirá cada uno con el diccionario y los cinco pasos al lado.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38912" cy="438912"/>
          </a:xfrm>
          <a:prstGeom prst="ellipse">
            <a:avLst/>
          </a:prstGeom>
          <a:solidFill>
            <a:srgbClr val="0B1A2A"/>
          </a:solidFill>
          <a:ln w="12700">
            <a:solidFill>
              <a:srgbClr val="0B1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05840" y="329184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66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URUGUAY · OCTUBRE DE 2025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" y="5486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Ransomware al Banco Hipotecario del Uruguay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07492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1371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66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pasó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13232" y="1645920"/>
            <a:ext cx="457200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grupo crypto24 sustrajo unos 700 GB de información: expedientes reservados por quince años, expedientes judiciales de grupos empresariales y procesos de ejecución hipotecaria.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prensa especializada lo describió como el ciberataque más grave que conoce Uruguay hasta la fecha, atribuido no a una falla puntual sino a una acumulación de debilidades y a una cultura institucional que relegó la ciberseguridad.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806440" y="1234440"/>
            <a:ext cx="288036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0" y="1371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66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35040" y="1691640"/>
            <a:ext cx="384048" cy="38404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37960" y="1673352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Afectada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2313432"/>
            <a:ext cx="384048" cy="384048"/>
          </a:xfrm>
          <a:prstGeom prst="ellipse">
            <a:avLst/>
          </a:prstGeom>
          <a:solidFill>
            <a:srgbClr val="D98C1F"/>
          </a:solidFill>
          <a:ln w="12700">
            <a:solidFill>
              <a:srgbClr val="D98C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37960" y="2295144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riesgo / no verificable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2935224"/>
            <a:ext cx="384048" cy="384048"/>
          </a:xfrm>
          <a:prstGeom prst="ellipse">
            <a:avLst/>
          </a:prstGeom>
          <a:solidFill>
            <a:srgbClr val="D4504E"/>
          </a:solidFill>
          <a:ln w="12700">
            <a:solidFill>
              <a:srgbClr val="D450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2935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37960" y="2916936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Afectada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0B1A2A"/>
          </a:solidFill>
          <a:ln w="12700">
            <a:solidFill>
              <a:srgbClr val="0B1A2A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" y="382219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enseña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4059936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ransomware moderno es de doble extorsión: primero roban los datos, después los cifran. Pagar podría devolver la disponibilidad, pero nunca la confidencialidad.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38912" cy="438912"/>
          </a:xfrm>
          <a:prstGeom prst="ellipse">
            <a:avLst/>
          </a:prstGeom>
          <a:solidFill>
            <a:srgbClr val="0B1A2A"/>
          </a:solidFill>
          <a:ln w="12700">
            <a:solidFill>
              <a:srgbClr val="0B1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05840" y="329184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66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URUGUAY · DURANTE TODO 2025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" y="5486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cadena de filtraciones al Estado uruguayo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2801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9A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2,7 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58368" y="167335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de ANEP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19019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6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docentes, estudiantes y personal · setiembre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91840" y="118872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93008" y="12801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9A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 M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493008" y="167335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de vacunación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93008" y="19019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6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sensibles de salud · junio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27648" y="12801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9A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M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327648" y="167335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de Ceibal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27648" y="19019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6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nombres, documentos y equipos · setiembre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242316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8368" y="25146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9A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622.649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58368" y="290779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de la Corte Electoral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" y="31363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6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documento, contacto y foto · setiembre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91840" y="242316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493008" y="25146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9A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618.000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3493008" y="290779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de Sucive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93008" y="31363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6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cédulas, matrículas y chasis · mayo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26480" y="242316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327648" y="25146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9A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17.000+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327648" y="290779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ciberincidentes en el país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27648" y="31363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6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semestre de 2025 · CERTuy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3703320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0B1A2A"/>
          </a:solidFill>
          <a:ln w="12700">
            <a:solidFill>
              <a:srgbClr val="0B1A2A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31520" y="380390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Confidencialidad, casi en estado puro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31520" y="4059936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sistemas siguieron funcionando y no hay evidencia de datos alterados. Un incidente puede afectar una sola propiedad y ser gravísimo: la cédula y la fecha de nacimiento no se cambian como una contraseña.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38912" cy="438912"/>
          </a:xfrm>
          <a:prstGeom prst="ellipse">
            <a:avLst/>
          </a:prstGeom>
          <a:solidFill>
            <a:srgbClr val="0B1A2A"/>
          </a:solidFill>
          <a:ln w="12700">
            <a:solidFill>
              <a:srgbClr val="0B1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05840" y="329184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66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COSTA RICA · ABRIL A JUNIO DE 2022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" y="5486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ataque que paró un país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07492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1371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66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pasó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13232" y="1645920"/>
            <a:ext cx="457200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17 de abril el grupo Conti atacó unas 30 instituciones públicas y sustrajo 1 TB del Ministerio de Hacienda, exigiendo 10 millones de dólares. El 8 de mayo el gobierno declaró estado de emergencia nacional: la primera vez que un país lo hacía por un ciberataque.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cierre de aduanas costó unos 30 millones de dólares diarios al sector productivo y más de 16.000 trabajadores de Educación cobraron tarde o mal. El gobierno no pagó.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806440" y="1234440"/>
            <a:ext cx="288036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0" y="1371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66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35040" y="1691640"/>
            <a:ext cx="384048" cy="38404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37960" y="1673352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Afectada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2313432"/>
            <a:ext cx="384048" cy="384048"/>
          </a:xfrm>
          <a:prstGeom prst="ellipse">
            <a:avLst/>
          </a:prstGeom>
          <a:solidFill>
            <a:srgbClr val="D98C1F"/>
          </a:solidFill>
          <a:ln w="12700">
            <a:solidFill>
              <a:srgbClr val="D98C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37960" y="2295144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Afectada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2935224"/>
            <a:ext cx="384048" cy="384048"/>
          </a:xfrm>
          <a:prstGeom prst="ellipse">
            <a:avLst/>
          </a:prstGeom>
          <a:solidFill>
            <a:srgbClr val="D4504E"/>
          </a:solidFill>
          <a:ln w="12700">
            <a:solidFill>
              <a:srgbClr val="D450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2935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37960" y="2916936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Afectada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0B1A2A"/>
          </a:solidFill>
          <a:ln w="12700">
            <a:solidFill>
              <a:srgbClr val="0B1A2A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" y="382219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enseña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4059936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ciberseguridad es infraestructura crítica, no informática de apoyo. Y no pagar el rescate es defendible: pagar financia al atacante y no garantiza nada.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38912" cy="438912"/>
          </a:xfrm>
          <a:prstGeom prst="ellipse">
            <a:avLst/>
          </a:prstGeom>
          <a:solidFill>
            <a:srgbClr val="0B1A2A"/>
          </a:solidFill>
          <a:ln w="12700">
            <a:solidFill>
              <a:srgbClr val="0B1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05840" y="329184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66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· 19 DE JULIO DE 2024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" y="5486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caída global sin atacante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07492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1371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66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pasó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13232" y="1645920"/>
            <a:ext cx="457200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las 04:09 UTC, la empresa de seguridad CrowdStrike distribuyó una actualización defectuosa de su producto Falcon. El archivo provocó una falla en el núcleo de Windows y dejó los equipos en un bucle de reinicio.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Unos 8,5 millones de dispositivos afectados: más de mil vuelos cancelados, cirugías suspendidas, bancos y medios fuera de línea, servicios de emergencia 911 caídos. La actualización se revirtió en 78 minutos, pero cada equipo había que repararlo a mano.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806440" y="1234440"/>
            <a:ext cx="288036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0" y="1371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66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35040" y="1691640"/>
            <a:ext cx="384048" cy="384048"/>
          </a:xfrm>
          <a:prstGeom prst="ellipse">
            <a:avLst/>
          </a:prstGeom>
          <a:solidFill>
            <a:srgbClr val="C3CDD9"/>
          </a:solidFill>
          <a:ln w="12700">
            <a:solidFill>
              <a:srgbClr val="C3CD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37960" y="1673352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afectada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2313432"/>
            <a:ext cx="384048" cy="384048"/>
          </a:xfrm>
          <a:prstGeom prst="ellipse">
            <a:avLst/>
          </a:prstGeom>
          <a:solidFill>
            <a:srgbClr val="C3CDD9"/>
          </a:solidFill>
          <a:ln w="12700">
            <a:solidFill>
              <a:srgbClr val="C3CD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37960" y="2295144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afectada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2935224"/>
            <a:ext cx="384048" cy="384048"/>
          </a:xfrm>
          <a:prstGeom prst="ellipse">
            <a:avLst/>
          </a:prstGeom>
          <a:solidFill>
            <a:srgbClr val="D4504E"/>
          </a:solidFill>
          <a:ln w="12700">
            <a:solidFill>
              <a:srgbClr val="D450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2935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37960" y="2916936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Afectada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0B1A2A"/>
          </a:solidFill>
          <a:ln w="12700">
            <a:solidFill>
              <a:srgbClr val="0B1A2A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" y="382219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enseña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4059936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incidente de seguridad no requiere un atacante. Y el producto que causó la mayor caída reciente era un producto de seguridad: todo control agrega también una nueva forma de fallar.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38912" cy="438912"/>
          </a:xfrm>
          <a:prstGeom prst="ellipse">
            <a:avLst/>
          </a:prstGeom>
          <a:solidFill>
            <a:srgbClr val="0B1A2A"/>
          </a:solidFill>
          <a:ln w="12700">
            <a:solidFill>
              <a:srgbClr val="0B1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05840" y="329184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66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CENTRAL DE BANGLADESH · FEBRERO DE 2016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" y="5486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ataque a la integridad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07492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1371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66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pasó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13232" y="1645920"/>
            <a:ext cx="457200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Atacantes que llevaban semanas dentro de la red emitieron 35 órdenes de transferencia falsas por unos 951 millones de dólares a través de la red SWIFT, usando credenciales legítimas del banco.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se ejecutaron: 81 millones a Filipinas y 20 a Sri Lanka. La Reserva Federal bloqueó las otras 30. La transferencia a Sri Lanka se frenó porque los atacantes escribieron «Fandation» en lugar de «Foundation» y el banco intermediario sospechó.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806440" y="1234440"/>
            <a:ext cx="288036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0" y="1371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66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35040" y="1691640"/>
            <a:ext cx="384048" cy="38404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37960" y="1673352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Afectada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2313432"/>
            <a:ext cx="384048" cy="384048"/>
          </a:xfrm>
          <a:prstGeom prst="ellipse">
            <a:avLst/>
          </a:prstGeom>
          <a:solidFill>
            <a:srgbClr val="D98C1F"/>
          </a:solidFill>
          <a:ln w="12700">
            <a:solidFill>
              <a:srgbClr val="D98C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37960" y="2295144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Afectada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2935224"/>
            <a:ext cx="384048" cy="384048"/>
          </a:xfrm>
          <a:prstGeom prst="ellipse">
            <a:avLst/>
          </a:prstGeom>
          <a:solidFill>
            <a:srgbClr val="C3CDD9"/>
          </a:solidFill>
          <a:ln w="12700">
            <a:solidFill>
              <a:srgbClr val="C3CD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2935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37960" y="2916936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afectada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0B1A2A"/>
          </a:solidFill>
          <a:ln w="12700">
            <a:solidFill>
              <a:srgbClr val="0B1A2A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" y="382219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enseña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4059936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ataque más rentable no rompe nada visible: deja el sistema funcionando y le hace decir mentiras. El control que salvó 850 millones no fue tecnológico, fue una persona atenta.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cinco casos en una tabla</a:t>
            </a:r>
            <a:endParaRPr lang="en-US" sz="27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658368"/>
                <a:gridCol w="658368"/>
                <a:gridCol w="658368"/>
                <a:gridCol w="3831336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 que ilustra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BHU (UY, 2025)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9A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98C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riesgo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450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Doble extorsión: pagar no devuelve la confidencialidad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Filtraciones al Estado (UY, 2025)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9A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AB7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AB7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sola propiedad, daño masivo y permanente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Costa Rica (CR, 2022)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9A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98C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450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 nacional, infraestructura crítica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CrowdStrike (global, 2024)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AB7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AB7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450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Incidente grave sin atacante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Banco de Bangladesh (BD, 2016)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9A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98C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AB7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integridad es la propiedad silenciosa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B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combinación es «la normal». Por eso cada caso se analiza, no se clasifica de memoria.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errores frecuentes al clasificar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AECEC"/>
          </a:solidFill>
          <a:ln w="12700">
            <a:solidFill>
              <a:srgbClr val="EFC4C3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21792" y="1399032"/>
            <a:ext cx="329184" cy="329184"/>
          </a:xfrm>
          <a:prstGeom prst="ellipse">
            <a:avLst/>
          </a:prstGeom>
          <a:solidFill>
            <a:srgbClr val="D4504E"/>
          </a:solidFill>
          <a:ln w="12700">
            <a:solidFill>
              <a:srgbClr val="D450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132588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Confundir el vector con la propiedad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37760" y="132588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«Fue un phishing» dice cómo entraron, no qué rompieron.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47672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AECEC"/>
          </a:solidFill>
          <a:ln w="12700">
            <a:solidFill>
              <a:srgbClr val="EFC4C3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" y="2066544"/>
            <a:ext cx="329184" cy="329184"/>
          </a:xfrm>
          <a:prstGeom prst="ellipse">
            <a:avLst/>
          </a:prstGeom>
          <a:solidFill>
            <a:srgbClr val="D4504E"/>
          </a:solidFill>
          <a:ln w="12700">
            <a:solidFill>
              <a:srgbClr val="D450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1993392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= solo disponibilidad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1993392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 siempre roban los datos antes de cifrarlos: también hay C.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615184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AECEC"/>
          </a:solidFill>
          <a:ln w="12700">
            <a:solidFill>
              <a:srgbClr val="EFC4C3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" y="2734056"/>
            <a:ext cx="329184" cy="329184"/>
          </a:xfrm>
          <a:prstGeom prst="ellipse">
            <a:avLst/>
          </a:prstGeom>
          <a:solidFill>
            <a:srgbClr val="D4504E"/>
          </a:solidFill>
          <a:ln w="12700">
            <a:solidFill>
              <a:srgbClr val="D450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7340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2660904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Olvidar la integridad tras una intrusión larga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2660904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«No hay evidencia de alteración» no es «no hubo alteración».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282696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AECEC"/>
          </a:solidFill>
          <a:ln w="12700">
            <a:solidFill>
              <a:srgbClr val="EFC4C3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" y="3401568"/>
            <a:ext cx="329184" cy="329184"/>
          </a:xfrm>
          <a:prstGeom prst="ellipse">
            <a:avLst/>
          </a:prstGeom>
          <a:solidFill>
            <a:srgbClr val="D4504E"/>
          </a:solidFill>
          <a:ln w="12700">
            <a:solidFill>
              <a:srgbClr val="D4504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3401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3328416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 por lo escandaloso, no por lo ocurrido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3328416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marca lo que la evidencia sostiene, nada más.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950208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AECEC"/>
          </a:solidFill>
          <a:ln w="12700">
            <a:solidFill>
              <a:srgbClr val="EFC4C3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" y="4069080"/>
            <a:ext cx="329184" cy="329184"/>
          </a:xfrm>
          <a:prstGeom prst="ellipse">
            <a:avLst/>
          </a:prstGeom>
          <a:solidFill>
            <a:srgbClr val="D4504E"/>
          </a:solidFill>
          <a:ln w="12700">
            <a:solidFill>
              <a:srgbClr val="D4504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" y="4069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97280" y="3995928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Confundir cuenta bloqueada con sistema caído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3995928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disponibilidad se define para el usuario autorizado.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6817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Estos cinco explican la mayoría de las respuestas mal calificadas en el análisis de casos.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1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PRÓXIMA CLASE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te llevás de hoy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7863840" cy="603504"/>
          </a:xfrm>
          <a:prstGeom prst="roundRect">
            <a:avLst>
              <a:gd name="adj" fmla="val 7576"/>
            </a:avLst>
          </a:prstGeom>
          <a:solidFill>
            <a:srgbClr val="1E3145"/>
          </a:solidFill>
          <a:ln w="12700">
            <a:solidFill>
              <a:srgbClr val="2A3E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01952"/>
            <a:ext cx="365760" cy="36576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01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181051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confidencialidad no se restaura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663440" y="1810512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única pérdida irreversible de las tres.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514600"/>
            <a:ext cx="7863840" cy="603504"/>
          </a:xfrm>
          <a:prstGeom prst="roundRect">
            <a:avLst>
              <a:gd name="adj" fmla="val 7576"/>
            </a:avLst>
          </a:prstGeom>
          <a:solidFill>
            <a:srgbClr val="1E3145"/>
          </a:solidFill>
          <a:ln w="12700">
            <a:solidFill>
              <a:srgbClr val="2A3E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633472"/>
            <a:ext cx="365760" cy="365760"/>
          </a:xfrm>
          <a:prstGeom prst="ellipse">
            <a:avLst/>
          </a:prstGeom>
          <a:solidFill>
            <a:srgbClr val="D98C1F"/>
          </a:solidFill>
          <a:ln w="12700">
            <a:solidFill>
              <a:srgbClr val="D98C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633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25880" y="254203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integridad es silenciosa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663440" y="2542032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no notarse nunca, y por eso es la más buscada.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246120"/>
            <a:ext cx="7863840" cy="603504"/>
          </a:xfrm>
          <a:prstGeom prst="roundRect">
            <a:avLst>
              <a:gd name="adj" fmla="val 7576"/>
            </a:avLst>
          </a:prstGeom>
          <a:solidFill>
            <a:srgbClr val="1E3145"/>
          </a:solidFill>
          <a:ln w="12700">
            <a:solidFill>
              <a:srgbClr val="2A3E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364992"/>
            <a:ext cx="365760" cy="365760"/>
          </a:xfrm>
          <a:prstGeom prst="ellipse">
            <a:avLst/>
          </a:prstGeom>
          <a:solidFill>
            <a:srgbClr val="D4504E"/>
          </a:solidFill>
          <a:ln w="12700">
            <a:solidFill>
              <a:srgbClr val="D450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364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25880" y="327355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disponibilidad se mide y se negocia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663440" y="3273552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SLA, RTO y RPO son decisiones de gestión.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40690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2 · Clasificación CID y diseño de controles  —  en grupos, con defensa oral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Autoevaluación · 10 preguntas con respuestas explicadas, no lleva nota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3 · Principios de arquitectura de seguridad y políticas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Fuentes de los casos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8229600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A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508760"/>
            <a:ext cx="7589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Observador (2025). BHU, Masonería y Ceibal: los ciberataques más graves en Uruguay en 2025.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Infobae (8/4/2025). Más de 37 mil documentos filtrados en un nuevo ciberataque a un ministerio en Uruguay.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CERTuy / Agesic. Informe de ciberincidentes, primer semestre de 2025.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Wikipedia. Ciberataque al Gobierno de Costa Rica.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Wikipedia. Incidente de CrowdStrike de 2024.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Wikipedia. Bangladesh Bank robbery.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27000:2018 · Ley N.º 18.331 de Protección de Datos Personales (Uruguay).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66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cifras provienen de fuentes periodísticas e informes públicos y pueden ajustarse a medida que avanzan las investigaciones. Citar la fuente y la fecha de consulta es parte del oficio: se pide en todas las actividades.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DGETP · UTU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2 · La tríada CID en profundidad</dc:title>
  <dc:subject>PptxGenJS Presentation</dc:subject>
  <dc:creator>Diego Renaldín Medina</dc:creator>
  <cp:lastModifiedBy>Diego Renaldín Medina</cp:lastModifiedBy>
  <cp:revision>1</cp:revision>
  <dcterms:created xsi:type="dcterms:W3CDTF">2026-08-18T04:09:19Z</dcterms:created>
  <dcterms:modified xsi:type="dcterms:W3CDTF">2026-08-18T04:09:19Z</dcterms:modified>
</cp:coreProperties>
</file>