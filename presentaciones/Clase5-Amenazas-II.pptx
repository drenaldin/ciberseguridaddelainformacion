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el contenido 1.5, que arrancó en la clase 4. Las tres amenazas de hoy atacan cosas distintas: ese es el hilo.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ingeniería social es transversal: casi siempre es la puerta de entrada de otra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ataca la máquina: ataca la confianza, el apuro, el miedo o las ganas de ayudar. Ningún antivirus la detiene.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organización que reta al que cae se queda sin su mejor sensor. Insistir en la cultura de reportar.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cinco tienen la misma defensa aburrida: verificar antes de actuar, por otro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ejemplo más puro de pérdida de disponibilidad, la tercera propiedad de la tríada.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¿De dónde salen los miles de equipos? De una botnet: computadoras, cámaras y routers infectados.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Analogía: mandar diez mil personas a una panadería a preguntar la hora. No roban el pan; el que quiere comprar no llega al mostrador.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AGESIC no desglosa DDoS en Uruguay, así que no hay un número nacional para citar. Aclararlo.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Conectar: el DDoS rompió disponibilidad; la filtración simultánea rompió confidencialidad. Dos cosas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más distinta de las tres. Es a las amenazas lo que la integridad a la tríada: la silenciosa.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malware sofisticado que entra y sale en un día no es APT. Un aficionado que se queda tampoco. Lo define la combinación.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tiempo que el atacante pasa adentro sin ser detectado tiene nombre: dwell time. En las APT se mide en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SolarWinds conecta con la clase 3: la superficie de ataque incluye a tus proveedores. El eslabón débil puede no estar en tu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Mínimo privilegio, segmentación, registros, confianza cero, reportar sin miedo. Todo ya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el contenido 1.5. La clase 6 ya es la primera evaluación formativa.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pide en todas las actividades: citar fuente y fecha, y decir si el dato es de proveedor.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9BE60E"/>
                </a:solidFill>
                <a:latin typeface="Consolas"/>
              </a:rPr>
              <a:t>// CIBERSEGURIDAD · 3.º BT · TRAMO 8 · DGETP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7C8B96"/>
                </a:solidFill>
                <a:latin typeface="Consolas"/>
              </a:rPr>
              <a:t>CLASE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400" b="1" i="0">
                <a:solidFill>
                  <a:srgbClr val="CFE8EF"/>
                </a:solidFill>
                <a:latin typeface="Arial Black"/>
              </a:rPr>
              <a:t>AMENAZAS II</a:t>
            </a:r>
          </a:p>
          <a:p>
            <a:pPr algn="l">
              <a:lnSpc>
                <a:spcPts val="4800"/>
              </a:lnSpc>
            </a:pPr>
            <a:r>
              <a:rPr sz="4400" b="1" i="0">
                <a:solidFill>
                  <a:srgbClr val="CFE8EF"/>
                </a:solidFill>
                <a:latin typeface="Arial Black"/>
              </a:rPr>
              <a:t>Ingeniería social,</a:t>
            </a:r>
          </a:p>
          <a:p>
            <a:pPr algn="l">
              <a:lnSpc>
                <a:spcPts val="4800"/>
              </a:lnSpc>
            </a:pPr>
            <a:r>
              <a:rPr sz="4400" b="1" i="0">
                <a:solidFill>
                  <a:srgbClr val="CFE8EF"/>
                </a:solidFill>
                <a:latin typeface="Arial Black"/>
              </a:rPr>
              <a:t>DoS/DDoS y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Una engaña a la persona. Otra tira abajo el servicio. La tercera se queda adentro y no hace ruido.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7C8B96"/>
                </a:solidFill>
                <a:latin typeface="Consolas"/>
              </a:rPr>
              <a:t>Contenido 1.5 · Competencia CET1 · Prof. Diego Renaldín Medina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Tres amenazas, tres blancos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BE60E"/>
                </a:solidFill>
                <a:latin typeface="Arial Blac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926080"/>
            <a:ext cx="914400" cy="45720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b="1" i="0">
                <a:solidFill>
                  <a:srgbClr val="CFE8EF"/>
                </a:solidFill>
                <a:latin typeface="Arial Black"/>
              </a:rPr>
              <a:t>INGENIERÍA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7C8B96"/>
                </a:solidFill>
                <a:latin typeface="Segoe UI"/>
              </a:rPr>
              <a:t>Ataca a la persona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8A3D"/>
                </a:solidFill>
                <a:latin typeface="Arial Black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926080"/>
            <a:ext cx="914400" cy="457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b="1" i="0">
                <a:solidFill>
                  <a:srgbClr val="CFE8EF"/>
                </a:solidFill>
                <a:latin typeface="Arial Black"/>
              </a:rPr>
              <a:t>DoS / DDoS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86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7C8B96"/>
                </a:solidFill>
                <a:latin typeface="Segoe UI"/>
              </a:rPr>
              <a:t>Ataca la disponibilidad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337560" cy="31089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3D4B"/>
                </a:solidFill>
                <a:latin typeface="Arial Black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926080"/>
            <a:ext cx="914400" cy="45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1546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b="1" i="0">
                <a:solidFill>
                  <a:srgbClr val="CFE8EF"/>
                </a:solidFill>
                <a:latin typeface="Arial Black"/>
              </a:rPr>
              <a:t>APT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86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7C8B96"/>
                </a:solidFill>
                <a:latin typeface="Segoe UI"/>
              </a:rPr>
              <a:t>Se queda adentro, en silencio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E60E"/>
                </a:solidFill>
                <a:latin typeface="Consolas"/>
              </a:rPr>
              <a:t>Si podés decir qué propiedad de la tríada rompe cada una, entendiste la clase.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9BE60E"/>
                </a:solidFill>
                <a:latin typeface="Arial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FE8EF"/>
                </a:solidFill>
                <a:latin typeface="Arial Black"/>
              </a:rPr>
              <a:t>Ingeniería 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3200400"/>
            <a:ext cx="1828800" cy="45720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34290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Manipular a una persona para que entregue información, dé un acceso o haga algo que no debería.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EL ESLABÓN HUMANO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La tecnología mejoró más rápido que nosotros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9BE60E"/>
                </a:solidFill>
                <a:latin typeface="Arial Black"/>
              </a:rPr>
              <a:t>~60 %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rgbClr val="CFE8EF"/>
                </a:solidFill>
                <a:latin typeface="Segoe UI"/>
              </a:rPr>
              <a:t>de las brechas involucró el factor humano (Verizon, 2025).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5740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331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BE60E"/>
                </a:solidFill>
                <a:latin typeface="Segoe UI"/>
              </a:rPr>
              <a:t>Por eso este curso insiste 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88036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700"/>
              </a:spcAft>
            </a:pPr>
            <a:r>
              <a:rPr sz="1350" b="0" i="0">
                <a:solidFill>
                  <a:srgbClr val="CFE8EF"/>
                </a:solidFill>
                <a:latin typeface="Segoe UI"/>
              </a:rPr>
              <a:t>· Verificar por otro canal antes de actuar.</a:t>
            </a:r>
          </a:p>
          <a:p>
            <a:pPr algn="l">
              <a:lnSpc>
                <a:spcPts val="1800"/>
              </a:lnSpc>
              <a:spcAft>
                <a:spcPts val="700"/>
              </a:spcAft>
            </a:pPr>
            <a:r>
              <a:rPr sz="1350" b="0" i="0">
                <a:solidFill>
                  <a:srgbClr val="CFE8EF"/>
                </a:solidFill>
                <a:latin typeface="Segoe UI"/>
              </a:rPr>
              <a:t>· Segundo factor: la contraseña sola no alcanza.</a:t>
            </a:r>
          </a:p>
          <a:p>
            <a:pPr algn="l">
              <a:lnSpc>
                <a:spcPts val="1800"/>
              </a:lnSpc>
              <a:spcAft>
                <a:spcPts val="700"/>
              </a:spcAft>
            </a:pPr>
            <a:r>
              <a:rPr sz="1350" b="0" i="0">
                <a:solidFill>
                  <a:srgbClr val="CFE8EF"/>
                </a:solidFill>
                <a:latin typeface="Segoe UI"/>
              </a:rPr>
              <a:t>· Mínimo privilegio: que engañar a uno haga poco daño.</a:t>
            </a:r>
          </a:p>
          <a:p>
            <a:pPr algn="l">
              <a:lnSpc>
                <a:spcPts val="1800"/>
              </a:lnSpc>
              <a:spcAft>
                <a:spcPts val="700"/>
              </a:spcAft>
            </a:pPr>
            <a:r>
              <a:rPr sz="1350" b="0" i="0">
                <a:solidFill>
                  <a:srgbClr val="CFE8EF"/>
                </a:solidFill>
                <a:latin typeface="Segoe UI"/>
              </a:rPr>
              <a:t>· Reportar sin miedo: quien cae es el mejor sensor.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TÉCNICAS CLÁSICAS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Cinco trucos viejos que siguen funcionando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45775" cy="713232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Arial Black"/>
              </a:rPr>
              <a:t>Pretexting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20240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FE8EF"/>
                </a:solidFill>
                <a:latin typeface="Segoe UI"/>
              </a:rPr>
              <a:t>Un pretexto creíble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4114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7C8B96"/>
                </a:solidFill>
                <a:latin typeface="Segoe UI"/>
              </a:rPr>
              <a:t>«Soy del soporte de la ANEP»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61488"/>
            <a:ext cx="10545775" cy="713232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Arial Black"/>
              </a:rPr>
              <a:t>Baiting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761488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FE8EF"/>
                </a:solidFill>
                <a:latin typeface="Segoe UI"/>
              </a:rPr>
              <a:t>Un cebo tentador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61488"/>
            <a:ext cx="4114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7C8B96"/>
                </a:solidFill>
                <a:latin typeface="Segoe UI"/>
              </a:rPr>
              <a:t>Un pendrive «olvidado» en el patio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02736"/>
            <a:ext cx="10545775" cy="713232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02736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Arial Black"/>
              </a:rPr>
              <a:t>Tailgating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602736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FE8EF"/>
                </a:solidFill>
                <a:latin typeface="Segoe UI"/>
              </a:rPr>
              <a:t>Colarse detrás de alguien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02736"/>
            <a:ext cx="4114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7C8B96"/>
                </a:solidFill>
                <a:latin typeface="Segoe UI"/>
              </a:rPr>
              <a:t>Pasar a la sala atrás de un profe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43984"/>
            <a:ext cx="10545775" cy="713232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43984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Arial Black"/>
              </a:rPr>
              <a:t>Quid pro quo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443984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FE8EF"/>
                </a:solidFill>
                <a:latin typeface="Segoe UI"/>
              </a:rPr>
              <a:t>Algo a cambio del acceso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43984"/>
            <a:ext cx="4114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7C8B96"/>
                </a:solidFill>
                <a:latin typeface="Segoe UI"/>
              </a:rPr>
              <a:t>«Te instalo juegos si me das tu clave»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2"/>
            <a:ext cx="10545775" cy="713232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85232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Arial Black"/>
              </a:rPr>
              <a:t>Shoulder surfing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285232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FE8EF"/>
                </a:solidFill>
                <a:latin typeface="Segoe UI"/>
              </a:rPr>
              <a:t>Espiar por encima del hombro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285232"/>
            <a:ext cx="4114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7C8B96"/>
                </a:solidFill>
                <a:latin typeface="Segoe UI"/>
              </a:rPr>
              <a:t>Mirar el PIN mientras lo escribís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FF8A3D"/>
                </a:solidFill>
                <a:latin typeface="Arial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FE8EF"/>
                </a:solidFill>
                <a:latin typeface="Arial Black"/>
              </a:rPr>
              <a:t>DoS / DDoS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3200400"/>
            <a:ext cx="1828800" cy="457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34290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No roban ni modifican nada: rompen la disponibilidad. El servicio existe, pero nadie puede usarlo.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DOS SIGLAS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DoS contra DDoS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8A3D"/>
                </a:solidFill>
                <a:latin typeface="Arial Black"/>
              </a:rPr>
              <a:t>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FE8EF"/>
                </a:solidFill>
                <a:latin typeface="Segoe UI"/>
              </a:rPr>
              <a:t>Un solo origen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333756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783080" y="3584448"/>
            <a:ext cx="2057400" cy="0"/>
          </a:xfrm>
          <a:prstGeom prst="line">
            <a:avLst/>
          </a:prstGeom>
          <a:ln w="30480">
            <a:solidFill>
              <a:srgbClr val="FF8A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1920" y="3246120"/>
            <a:ext cx="1371600" cy="685800"/>
          </a:xfrm>
          <a:prstGeom prst="rect">
            <a:avLst/>
          </a:prstGeom>
          <a:solidFill>
            <a:srgbClr val="1D3342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324612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CFE8EF"/>
                </a:solidFill>
                <a:latin typeface="Consolas"/>
              </a:rPr>
              <a:t>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60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7C8B96"/>
                </a:solidFill>
                <a:latin typeface="Segoe UI"/>
              </a:rPr>
              <a:t>Fácil de frenar: se corta esa fuente.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23D4B"/>
                </a:solidFill>
                <a:latin typeface="Arial Black"/>
              </a:rPr>
              <a:t>DDoS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FE8EF"/>
                </a:solidFill>
                <a:latin typeface="Segoe UI"/>
              </a:rPr>
              <a:t>Miles de equipos a la vez (botnet)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3200400"/>
            <a:ext cx="256032" cy="256032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931152" y="3328415"/>
            <a:ext cx="2395728" cy="283465"/>
          </a:xfrm>
          <a:prstGeom prst="line">
            <a:avLst/>
          </a:prstGeom>
          <a:ln w="1778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629400" y="3493008"/>
            <a:ext cx="256032" cy="256032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931152" y="3611880"/>
            <a:ext cx="2395728" cy="9143"/>
          </a:xfrm>
          <a:prstGeom prst="line">
            <a:avLst/>
          </a:prstGeom>
          <a:ln w="1778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629400" y="3785615"/>
            <a:ext cx="256032" cy="256032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931152" y="3611880"/>
            <a:ext cx="2395728" cy="301751"/>
          </a:xfrm>
          <a:prstGeom prst="line">
            <a:avLst/>
          </a:prstGeom>
          <a:ln w="1778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629400" y="4078224"/>
            <a:ext cx="256032" cy="256032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931152" y="3611880"/>
            <a:ext cx="2395728" cy="594360"/>
          </a:xfrm>
          <a:prstGeom prst="line">
            <a:avLst/>
          </a:prstGeom>
          <a:ln w="1778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629400" y="4370832"/>
            <a:ext cx="256032" cy="256032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6931152" y="3611880"/>
            <a:ext cx="2395728" cy="886968"/>
          </a:xfrm>
          <a:prstGeom prst="line">
            <a:avLst/>
          </a:prstGeom>
          <a:ln w="1778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18320" y="3264408"/>
            <a:ext cx="1371600" cy="685800"/>
          </a:xfrm>
          <a:prstGeom prst="rect">
            <a:avLst/>
          </a:prstGeom>
          <a:solidFill>
            <a:srgbClr val="1D3342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264408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23D4B"/>
                </a:solidFill>
                <a:latin typeface="Consolas"/>
              </a:rPr>
              <a:t>saturado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60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7C8B96"/>
                </a:solidFill>
                <a:latin typeface="Segoe UI"/>
              </a:rPr>
              <a:t>Difícil: no hay una sola fuente que cortar.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El atacante no rompe nada: pide de más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3337560"/>
            <a:ext cx="1737360" cy="1097280"/>
          </a:xfrm>
          <a:prstGeom prst="rect">
            <a:avLst/>
          </a:prstGeom>
          <a:solidFill>
            <a:srgbClr val="1D334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33375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FE8EF"/>
                </a:solidFill>
                <a:latin typeface="Consolas"/>
              </a:rPr>
              <a:t>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5262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C8B96"/>
                </a:solidFill>
                <a:latin typeface="Consolas"/>
              </a:rPr>
              <a:t>atiende 1.000/s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103120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295144"/>
            <a:ext cx="5532119" cy="1591056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05840" y="2670048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67004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2862072"/>
            <a:ext cx="5532119" cy="1024128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05840" y="3236976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2369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429000"/>
            <a:ext cx="5532119" cy="457200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05840" y="3803904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80390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00400" y="3886200"/>
            <a:ext cx="5532119" cy="109728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05840" y="4370831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370831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200400" y="3886200"/>
            <a:ext cx="5532119" cy="676655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05840" y="4937760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937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00400" y="3886200"/>
            <a:ext cx="5532119" cy="1243584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05840" y="5504688"/>
            <a:ext cx="384048" cy="38404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504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C8B96"/>
                </a:solidFill>
                <a:latin typeface="Consolas"/>
              </a:rPr>
              <a:t>bot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200400" y="3886200"/>
            <a:ext cx="5532119" cy="1810512"/>
          </a:xfrm>
          <a:prstGeom prst="line">
            <a:avLst/>
          </a:prstGeom>
          <a:ln w="13970">
            <a:solidFill>
              <a:srgbClr val="E23D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0120" y="1801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23D4B"/>
                </a:solidFill>
                <a:latin typeface="Consolas"/>
              </a:rPr>
              <a:t>BOTNET · miles de equipos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943600"/>
            <a:ext cx="10545775" cy="68580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943600"/>
            <a:ext cx="999713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Le llega un millón de pedidos por segundo. Los pedidos legítimos quedan mezclados entre los falsos y nadie entra. Es un problema de escala, no de cerradura.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LOS NÚMEROS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Las cifras son enormes y crecen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FF8A3D"/>
                </a:solidFill>
                <a:latin typeface="Arial Black"/>
              </a:rPr>
              <a:t>31,4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Tbps: el DDoS más grande registrado, durante 35 segundos (nov. 2025).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48840"/>
            <a:ext cx="5257800" cy="246888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423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BE60E"/>
                </a:solidFill>
                <a:latin typeface="Segoe UI"/>
              </a:rPr>
              <a:t>Es dato de proveedor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92608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Lo publica Cloudflare, la empresa que mitiga el ataque. Sirve para dimensionar la magnitud, no como estadística neutral.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/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Decir de dónde sale un dato es parte del oficio.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CASO PARA ANALIZAR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Internet Archive · octubre de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500" b="0" i="0">
                <a:solidFill>
                  <a:srgbClr val="CFE8EF"/>
                </a:solidFill>
                <a:latin typeface="Segoe UI"/>
              </a:rPr>
              <a:t>La Wayback Machine —el sitio que guarda copias históricas de la web— sufrió un DDoS que coincidió, además, con una filtración de 31 millones de cuentas.</a:t>
            </a:r>
          </a:p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500" b="0" i="0">
                <a:solidFill>
                  <a:srgbClr val="CFE8EF"/>
                </a:solidFill>
                <a:latin typeface="Segoe UI"/>
              </a:rPr>
              <a:t>La organización tuvo que ponerla fuera de línea para reforzar las defensas, y la reabrió por etapas: primero en modo solo lectura, y recién a los días completa.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10545775" cy="12801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BE60E"/>
                </a:solidFill>
                <a:latin typeface="Segoe UI"/>
              </a:rPr>
              <a:t>Lo que enseña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CFE8EF"/>
                </a:solidFill>
                <a:latin typeface="Segoe UI"/>
              </a:rPr>
              <a:t>A veces la mejor respuesta a un DDoS es apagar el servicio a propósito para defenderlo. Y un DDoS puede ser la cortina de humo de otro ataque que pasa al mismo tiempo.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23D4B"/>
                </a:solidFill>
                <a:latin typeface="Arial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FE8EF"/>
                </a:solidFill>
                <a:latin typeface="Arial Black"/>
              </a:rPr>
              <a:t>APT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3200400"/>
            <a:ext cx="1828800" cy="45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342900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Advanced Persistent Threat: un atacante con muchos recursos que entra</a:t>
            </a:r>
          </a:p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FE8EF"/>
                </a:solidFill>
                <a:latin typeface="Segoe UI"/>
              </a:rPr>
              <a:t>y se queda mucho tiempo, sin hacerse notar, con un objetivo concreto.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QUÉ LA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Cuatro rasgos, y hacen falta los cuatro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" cy="1188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23D4B"/>
                </a:solidFill>
                <a:latin typeface="Arial Black"/>
              </a:rPr>
              <a:t>AVANZADA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8775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Técnicas sofisticadas, a veces vulnerabilidades desconocidas.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65960"/>
            <a:ext cx="82296" cy="1188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23D4B"/>
                </a:solidFill>
                <a:latin typeface="Arial Black"/>
              </a:rPr>
              <a:t>PERSISTENTE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8775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No entra y sale: se queda meses o años.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82296" cy="1188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23D4B"/>
                </a:solidFill>
                <a:latin typeface="Arial Black"/>
              </a:rPr>
              <a:t>CON RECURSOS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Detrás suele haber un Estado o un grupo grande.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37560"/>
            <a:ext cx="82296" cy="118872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23D4B"/>
                </a:solidFill>
                <a:latin typeface="Arial Black"/>
              </a:rPr>
              <a:t>DIRIGIDA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5935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Va por un objetivo concreto: espionaje o sabotaje, no plata rápida.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LA SILENCIOSA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Ransomware contra APT: la línea de tiempo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3D"/>
                </a:solidFill>
                <a:latin typeface="Consolas"/>
              </a:rPr>
              <a:t>RANSOMWARE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10545775" cy="54864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350008"/>
            <a:ext cx="292608" cy="29260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B96"/>
                </a:solidFill>
                <a:latin typeface="Consolas"/>
              </a:rPr>
              <a:t>entra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2350008"/>
            <a:ext cx="292608" cy="29260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8EF"/>
                </a:solidFill>
                <a:latin typeface="Consolas"/>
              </a:rPr>
              <a:t>te avisa con un cartel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3D4B"/>
                </a:solidFill>
                <a:latin typeface="Consolas"/>
              </a:rPr>
              <a:t>APT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10545775" cy="54864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904487"/>
            <a:ext cx="292608" cy="292608"/>
          </a:xfrm>
          <a:prstGeom prst="ellipse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B96"/>
                </a:solidFill>
                <a:latin typeface="Consolas"/>
              </a:rPr>
              <a:t>entra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6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3941063"/>
            <a:ext cx="201168" cy="201168"/>
          </a:xfrm>
          <a:prstGeom prst="ellipse">
            <a:avLst/>
          </a:prstGeom>
          <a:solidFill>
            <a:srgbClr val="1D3342"/>
          </a:solidFill>
          <a:ln w="15240">
            <a:solidFill>
              <a:srgbClr val="E2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251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B96"/>
                </a:solidFill>
                <a:latin typeface="Consolas"/>
              </a:rPr>
              <a:t>meses copiando de a poco y borrando huellas…</a:t>
            </a:r>
          </a:p>
        </p:txBody>
      </p:sp>
      <p:sp>
        <p:nvSpPr>
          <p:cNvPr id="22" name="Oval 21"/>
          <p:cNvSpPr/>
          <p:nvPr/>
        </p:nvSpPr>
        <p:spPr>
          <a:xfrm>
            <a:off x="11155680" y="3886200"/>
            <a:ext cx="310896" cy="310896"/>
          </a:xfrm>
          <a:prstGeom prst="ellipse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2702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BE60E"/>
                </a:solidFill>
                <a:latin typeface="Consolas"/>
              </a:rPr>
              <a:t>se descubre mucho después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8348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83480"/>
            <a:ext cx="99056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CFE8EF"/>
                </a:solidFill>
                <a:latin typeface="Segoe UI"/>
              </a:rPr>
              <a:t>El ransomware quiere que te des cuenta. La APT quiere exactamente lo contrario. Por eso casi todos los casos conocidos se descubrieron mucho después de empezar.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DOS CASOS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Stuxnet y SolarWinds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3D4B"/>
                </a:solidFill>
                <a:latin typeface="Arial Black"/>
              </a:rPr>
              <a:t>STUXNET · 2010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Un gusano hecho para sabotear un equipo industrial muy específico: las centrifugadoras de un programa nuclear.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/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Las rompía solas mientras los tableros mostraban que todo andaba bien. Un ciberataque con efecto físico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3D4B"/>
                </a:solidFill>
                <a:latin typeface="Arial Black"/>
              </a:rPr>
              <a:t>SOLARWINDS ·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No atacaron a cada víctima: comprometieron a un proveedor de software e insertaron código en una actualización oficial.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/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00" b="0" i="0">
                <a:solidFill>
                  <a:srgbClr val="CFE8EF"/>
                </a:solidFill>
                <a:latin typeface="Segoe UI"/>
              </a:rPr>
              <a:t>Miles de organizaciones la instalaron confiadas. Ataque a la cadena de suministro.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DEFENSAS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Tres problemas distintos, los mismos principios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45775" cy="1051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82296" cy="1051560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>
                <a:solidFill>
                  <a:srgbClr val="9BE60E"/>
                </a:solidFill>
                <a:latin typeface="Arial Black"/>
              </a:rPr>
              <a:t>Ingeniería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9456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Formación · verificar por otro canal · segundo factor · mínimo privilegio · reportar sin miedo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10545775" cy="1051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82296" cy="10515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2900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>
                <a:solidFill>
                  <a:srgbClr val="FF8A3D"/>
                </a:solidFill>
                <a:latin typeface="Arial Black"/>
              </a:rPr>
              <a:t>DoS / DDoS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2900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Filtrado y mitigación de tráfico · capacidad de sobra · continuidad · detectar el pico a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60"/>
            <a:ext cx="10545775" cy="1051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82296" cy="1051560"/>
          </a:xfrm>
          <a:prstGeom prst="rect">
            <a:avLst/>
          </a:prstGeom>
          <a:solidFill>
            <a:srgbClr val="E2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6344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>
                <a:solidFill>
                  <a:srgbClr val="E23D4B"/>
                </a:solidFill>
                <a:latin typeface="Arial Black"/>
              </a:rPr>
              <a:t>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6344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CFE8EF"/>
                </a:solidFill>
                <a:latin typeface="Segoe UI"/>
              </a:rPr>
              <a:t>Segmentación · registros que alguien mire · detección de anomalías · cuidar la cadena · confianza cero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E60E"/>
                </a:solidFill>
                <a:latin typeface="Consolas"/>
              </a:rPr>
              <a:t>No hay controles nuevos y mágicos: son los de las clases 2 y 3, bien puestos.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PARA LA PRÓXIMA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Qué te llevás de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9BE60E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39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1" i="0">
                <a:solidFill>
                  <a:srgbClr val="CFE8EF"/>
                </a:solidFill>
                <a:latin typeface="Arial Black"/>
              </a:rPr>
              <a:t>Cada una ataca algo distinto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7C8B96"/>
                </a:solidFill>
                <a:latin typeface="Segoe UI"/>
              </a:rPr>
              <a:t>Persona, disponibilidad, y la organización en silencio.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8A3D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34639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1" i="0">
                <a:solidFill>
                  <a:srgbClr val="CFE8EF"/>
                </a:solidFill>
                <a:latin typeface="Arial Black"/>
              </a:rPr>
              <a:t>El DDoS es escala, no cerradura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747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7C8B96"/>
                </a:solidFill>
                <a:latin typeface="Segoe UI"/>
              </a:rPr>
              <a:t>No se arregla con antivirus: se filtra y se absorbe.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152733"/>
          </a:solidFill>
          <a:ln w="12700">
            <a:solidFill>
              <a:srgbClr val="27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23D4B"/>
                </a:solidFill>
                <a:latin typeface="Arial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39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 b="1" i="0">
                <a:solidFill>
                  <a:srgbClr val="CFE8EF"/>
                </a:solidFill>
                <a:latin typeface="Arial Black"/>
              </a:rPr>
              <a:t>La APT es la silenciosa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7C8B96"/>
                </a:solidFill>
                <a:latin typeface="Segoe UI"/>
              </a:rPr>
              <a:t>Se define por persistencia y sigilo, no por el malware.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34840"/>
            <a:ext cx="10545775" cy="22860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FE8EF"/>
                </a:solidFill>
                <a:latin typeface="Segoe UI"/>
              </a:rPr>
              <a:t>Actividad 5 · Tres amenazas, tres defensas — en grupos, con análisis de casos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FE8EF"/>
                </a:solidFill>
                <a:latin typeface="Segoe UI"/>
              </a:rPr>
              <a:t>Autoevaluación · 10 preguntas con respuestas explicadas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9BE60E"/>
                </a:solidFill>
                <a:latin typeface="Consolas"/>
              </a:rPr>
              <a:t>Clase 6 · Vulnerabilidades y superficie de ataque + primera evaluación formativa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9BE60E"/>
                </a:solidFill>
                <a:latin typeface="Consolas"/>
              </a:rPr>
              <a:t>// 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600" b="1" i="0">
                <a:solidFill>
                  <a:srgbClr val="CFE8EF"/>
                </a:solidFill>
                <a:latin typeface="Arial Black"/>
              </a:rPr>
              <a:t>De dónde salió cada dato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25603"/>
          </a:xfrm>
          <a:prstGeom prst="rect">
            <a:avLst/>
          </a:prstGeom>
          <a:solidFill>
            <a:srgbClr val="9BE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Consolas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CFE8EF"/>
                </a:solidFill>
                <a:latin typeface="Segoe UI"/>
              </a:rPr>
              <a:t>Verizon. Data Breach Investigations Report 2025 — factor humano en ~60 % de las brechas.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2468880"/>
            <a:ext cx="10088575" cy="10972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Consola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7004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CFE8EF"/>
                </a:solidFill>
                <a:latin typeface="Segoe UI"/>
              </a:rPr>
              <a:t>Cloudflare. DDoS Threat Report Q4 2025 — récord de 31,4 Tbps. DATO DE PROVEEDOR.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127248"/>
            <a:ext cx="10088575" cy="10972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2841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Consola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28416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CFE8EF"/>
                </a:solidFill>
                <a:latin typeface="Segoe UI"/>
              </a:rPr>
              <a:t>Internet Archive cyberattack, octubre de 2024.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785616"/>
            <a:ext cx="10088575" cy="10972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8678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Consolas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86784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CFE8EF"/>
                </a:solidFill>
                <a:latin typeface="Segoe UI"/>
              </a:rPr>
              <a:t>Stuxnet (2010) · SolarWinds / SUNBURST (2020) — CISA, actividad APT.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443984"/>
            <a:ext cx="10088575" cy="10972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4515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E60E"/>
                </a:solidFill>
                <a:latin typeface="Consola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645152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CFE8EF"/>
                </a:solidFill>
                <a:latin typeface="Segoe UI"/>
              </a:rPr>
              <a:t>CERTuy / AGESIC — informes de incidentes (agregados, sin desglose de DoS).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5102352"/>
            <a:ext cx="10088575" cy="10972"/>
          </a:xfrm>
          <a:prstGeom prst="rect">
            <a:avLst/>
          </a:prstGeom>
          <a:solidFill>
            <a:srgbClr val="27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7C8B96"/>
                </a:solidFill>
                <a:latin typeface="Segoe UI"/>
              </a:rPr>
              <a:t>Las cifras de DDoS vienen de la empresa que mitiga y las publica. Distinguir el origen de un dato es parte del oficio.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