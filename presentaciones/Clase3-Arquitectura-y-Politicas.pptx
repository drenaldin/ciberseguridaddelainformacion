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Arrancar preguntando: en la clase 2 aprendimos a decir qué se rompió. ¿Y quién decide cómo se protege? Ahí entra esta 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dos mitades son la misma cosa: principio sin política es una buena idea que no se aplica; política sin principios es un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Insistir: un sistema puede tener todos los productos del mercado y una arquitectura pésima.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Preguntar por qué un texto de 1975 sigue vigente. Respuesta: no habla de tecnología, habla de cómo falla la gente y los sistemas complejos.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2 es el que más se viola en la práctica: carpetas compartidas que nacen abiertas. El 4: red wifi oculta no es red segura.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Ejemplo del 5: para borrar el acta del grupo hacen falta dos personas. Ejemplo del 7: la red de alumnos no puede ser la de administración.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Pedir ejemplos del liceo de reglas que nadie cumple. Suelen salir enseguida y son el mejor material de la 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cuadro es el que más se usa en el iRAT. Dejarlo en pantalla mientras se comenta cada fila.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Analogía de la fortificación: foso, muralla, patio, torre. Ninguna capa pretende ser perfecta.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Preguntar en qué capa está cada control que ya nombraron en la clase 2. Casi todos caen en equipo y dato; física y persona quedan vacías.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Detenerse en la capa 5: si reportar te puede costar una sanción, nadie reporta y te enterás por la prensa.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Conectar con CrowdStrike de la clase pasada. Todo control protege de algo y crea una nueva superficie de falla.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Nadie decide un lunes exponer más el sistema. Se instalan cosas, se crean usuarios de prueba, se conecta una cámara.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Anticipar la clase 6: ahí se hace el análisis completo de superficie de ataque de un sistema del liceo, y es evaluación formativa.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la ficha D de la actividad 2: si la trabajaron, retomar lo que dijo ese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Aclarar desde el arranque: zero trust es una arquitectura, no un producto que se compra.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Preguntar: ¿el wifi del liceo funciona como castillo? Respuesta casi siempre sí, y con la misma clave desde hace años.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un proveedor vende «zero trust» en una caja, ya sabemos qué contestar.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Acá empieza la segunda mitad. Avisar que esto es lo que se va a redactar en la actividad.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Truco de examen: mirar el verbo. Si un documento mezcla los cuatro tonos, no es ninguno de los cuatro.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obligación existe desde 2009. Que exista la norma no significa que esté cumplida: eso viene en dos diapositivas.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función es una clase del curso: identificar es la 1, proteger las 8 a 10, detectar la 10, responder y recuperar las 11 y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Pedir que ubiquen al liceo en la escala. Casi siempre dicen 1, y la discusión de por qué es la mejor parte.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el puente entre las dos clases. Que quede claro: la obligación existe desde 2009.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Estas siete partes son exactamente lo que se pide en la actividad. Anotarlas.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última fila es la más importante de todas: una política que castiga al que avisa está comprando silencio.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Estos seis explican por qué muchas organizaciones tienen política y les pasa lo mismo que a las que no tienen.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Dejar la pregunta para pensar: elegí una regla informática que ya funcione de hecho en el liceo. ¿A qué nivel de la pirámide corresponde? ¿Qué madurez tiene?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Citar fuente y fecha de consulta se pide en todas las actividades. Es parte del oficio.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5156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200">
                <a:solidFill>
                  <a:srgbClr val="8FA6BE"/>
                </a:solidFill>
                <a:latin typeface="Calibri"/>
              </a:rPr>
              <a:t>CIBERSEGURIDAD · 3.º TRAMO 8 · DGETP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Clase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0E9AA7"/>
                </a:solidFill>
                <a:latin typeface="Cambria"/>
              </a:rPr>
              <a:t>Arquitectura de seguridad y políticas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5852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400" b="0">
                <a:solidFill>
                  <a:srgbClr val="C9D8E8"/>
                </a:solidFill>
                <a:latin typeface="Calibri"/>
              </a:rPr>
              <a:t>Ocho principios de 1975 que siguen mandando,</a:t>
            </a:r>
          </a:p>
          <a:p>
            <a:pPr algn="l">
              <a:lnSpc>
                <a:spcPts val="2000"/>
              </a:lnSpc>
            </a:pPr>
            <a:r>
              <a:rPr sz="1400" b="0">
                <a:solidFill>
                  <a:srgbClr val="C9D8E8"/>
                </a:solidFill>
                <a:latin typeface="Calibri"/>
              </a:rPr>
              <a:t>y el documento que los vuelve obligatorios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1188720" y="3611880"/>
            <a:ext cx="457200" cy="4572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611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703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8FA6BE"/>
                </a:solidFill>
                <a:latin typeface="Calibri"/>
              </a:rPr>
              <a:t>Contenidos 1.2 y 1.6 del programa · Competencia CET1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8FA6BE"/>
                </a:solidFill>
                <a:latin typeface="Calibri"/>
              </a:rPr>
              <a:t>Prof. Diego Renaldín Medina · Curso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0B1A2A"/>
                </a:solidFill>
                <a:latin typeface="Cambria"/>
              </a:rPr>
              <a:t>Hoja de ruta de hoy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25880"/>
            <a:ext cx="3977639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545336"/>
            <a:ext cx="429768" cy="42976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45336"/>
            <a:ext cx="42976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7" y="147218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B1A2A"/>
                </a:solidFill>
                <a:latin typeface="Calibri"/>
              </a:rPr>
              <a:t>Del qué al cómo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7" y="17647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667C93"/>
                </a:solidFill>
                <a:latin typeface="Calibri"/>
              </a:rPr>
              <a:t>Diagnóstico contra diseño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325880"/>
            <a:ext cx="3977639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92040" y="1545336"/>
            <a:ext cx="429768" cy="42976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545336"/>
            <a:ext cx="42976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8" y="147218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B1A2A"/>
                </a:solidFill>
                <a:latin typeface="Calibri"/>
              </a:rPr>
              <a:t>Ocho principios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8968" y="17647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667C93"/>
                </a:solidFill>
                <a:latin typeface="Calibri"/>
              </a:rPr>
              <a:t>Saltzer y Schroeder, 1975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359152"/>
            <a:ext cx="3977639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" y="2578608"/>
            <a:ext cx="429768" cy="42976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578608"/>
            <a:ext cx="42976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250545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B1A2A"/>
                </a:solidFill>
                <a:latin typeface="Calibri"/>
              </a:rPr>
              <a:t>Defensa en profundidad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279806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667C93"/>
                </a:solidFill>
                <a:latin typeface="Calibri"/>
              </a:rPr>
              <a:t>Seis capas, no cinco productos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2359152"/>
            <a:ext cx="3977639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92040" y="2578608"/>
            <a:ext cx="429768" cy="42976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2578608"/>
            <a:ext cx="42976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58968" y="250545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B1A2A"/>
                </a:solidFill>
                <a:latin typeface="Calibri"/>
              </a:rPr>
              <a:t>Superficie de ataque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58968" y="279806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667C93"/>
                </a:solidFill>
                <a:latin typeface="Calibri"/>
              </a:rPr>
              <a:t>Menos es más seguro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392424"/>
            <a:ext cx="3977639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" y="3611880"/>
            <a:ext cx="429768" cy="42976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611880"/>
            <a:ext cx="42976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7" y="353872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B1A2A"/>
                </a:solidFill>
                <a:latin typeface="Calibri"/>
              </a:rPr>
              <a:t>Confianza cero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7" y="3831335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667C93"/>
                </a:solidFill>
                <a:latin typeface="Calibri"/>
              </a:rPr>
              <a:t>Se murió el perímetro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3392424"/>
            <a:ext cx="3977639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92040" y="3611880"/>
            <a:ext cx="429768" cy="42976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92040" y="3611880"/>
            <a:ext cx="42976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58968" y="353872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B1A2A"/>
                </a:solidFill>
                <a:latin typeface="Calibri"/>
              </a:rPr>
              <a:t>Políticas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58968" y="3831335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667C93"/>
                </a:solidFill>
                <a:latin typeface="Calibri"/>
              </a:rPr>
              <a:t>La pirámide y el marco uruguayo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spc="180">
                <a:solidFill>
                  <a:srgbClr val="0E9AA7"/>
                </a:solidFill>
                <a:latin typeface="Calibri"/>
              </a:rPr>
              <a:t>DE DÓNDE VENIMOS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0B1A2A"/>
                </a:solidFill>
                <a:latin typeface="Cambria"/>
              </a:rPr>
              <a:t>La pregunta cambia de lugar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977639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7276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120">
                <a:solidFill>
                  <a:srgbClr val="667C93"/>
                </a:solidFill>
                <a:latin typeface="Calibri"/>
              </a:rPr>
              <a:t>CLASE 2 · Diagnóstico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B1A2A"/>
                </a:solidFill>
                <a:latin typeface="Cambria"/>
              </a:rPr>
              <a:t>¿Qué se rompió acá?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4747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>
                <a:solidFill>
                  <a:srgbClr val="1F2D3D"/>
                </a:solidFill>
                <a:latin typeface="Calibri"/>
              </a:rPr>
              <a:t>Mirás un incidente que ya ocurrió y nombrás la propiedad afectada. Es una habilidad imprescindible y llega siempre tarde.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371600"/>
            <a:ext cx="3977639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F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157276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120">
                <a:solidFill>
                  <a:srgbClr val="0E9AA7"/>
                </a:solidFill>
                <a:latin typeface="Calibri"/>
              </a:rPr>
              <a:t>CLASE 3 · Diseño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9202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B1A2A"/>
                </a:solidFill>
                <a:latin typeface="Cambria"/>
              </a:rPr>
              <a:t>¿Cómo se hace difícil de romper?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2468880"/>
            <a:ext cx="34747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>
                <a:solidFill>
                  <a:srgbClr val="1F2D3D"/>
                </a:solidFill>
                <a:latin typeface="Calibri"/>
              </a:rPr>
              <a:t>Y la pregunta gemela: ¿qué regla escrita y firmada obliga a sostener esa propiedad cuando el técnico que la sabía se va?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0000"/>
            </a:avLst>
          </a:prstGeom>
          <a:solidFill>
            <a:srgbClr val="EAF6F6"/>
          </a:solidFill>
          <a:ln w="12700">
            <a:solidFill>
              <a:srgbClr val="BF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77639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1F2D3D"/>
                </a:solidFill>
                <a:latin typeface="Calibri"/>
              </a:rPr>
              <a:t>Arquitectura no es dibujar servidores: es la estructura de decisiones sobre qué se separa de qué, quién puede hacer qué y qué pasa cuando algo falla.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1600200"/>
            <a:ext cx="1371600" cy="13716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13716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828800"/>
            <a:ext cx="6126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mbria"/>
              </a:rPr>
              <a:t>Ocho principios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450592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400" b="0">
                <a:solidFill>
                  <a:srgbClr val="C9D8E8"/>
                </a:solidFill>
                <a:latin typeface="Calibri"/>
              </a:rPr>
              <a:t>Saltzer y Schroeder, MIT, 1975. Se escribieron sin internet comercial y siguen siendo la base de todo.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spc="180">
                <a:solidFill>
                  <a:srgbClr val="0E9AA7"/>
                </a:solidFill>
                <a:latin typeface="Calibri"/>
              </a:rPr>
              <a:t>PRINCIPIOS DE DISEÑO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0B1A2A"/>
                </a:solidFill>
                <a:latin typeface="Cambria"/>
              </a:rPr>
              <a:t>Los primeros cuatro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977639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572768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002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B1A2A"/>
                </a:solidFill>
                <a:latin typeface="Calibri"/>
              </a:rPr>
              <a:t>Economía de mecanismo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3520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>
                <a:solidFill>
                  <a:srgbClr val="1F2D3D"/>
                </a:solidFill>
                <a:latin typeface="Calibri"/>
              </a:rPr>
              <a:t>Lo más simple posible. Lo complejo no se puede revisar, y lo que no se revisa esconde errores.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371600"/>
            <a:ext cx="3977639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37760" y="1572768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57276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16002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B1A2A"/>
                </a:solidFill>
                <a:latin typeface="Calibri"/>
              </a:rPr>
              <a:t>Predeterminados seguros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057400"/>
            <a:ext cx="3520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>
                <a:solidFill>
                  <a:srgbClr val="1F2D3D"/>
                </a:solidFill>
                <a:latin typeface="Calibri"/>
              </a:rPr>
              <a:t>Por omisión, denegar. El acceso se concede explícitamente; no se otorga a todos y se recorta después.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71800"/>
            <a:ext cx="3977639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72968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17296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2004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B1A2A"/>
                </a:solidFill>
                <a:latin typeface="Calibri"/>
              </a:rPr>
              <a:t>Mediación completa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657600"/>
            <a:ext cx="3520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>
                <a:solidFill>
                  <a:srgbClr val="1F2D3D"/>
                </a:solidFill>
                <a:latin typeface="Calibri"/>
              </a:rPr>
              <a:t>Cada acceso se verifica todas las veces, no solo al iniciar sesión.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2971800"/>
            <a:ext cx="3977639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937760" y="3172968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317296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32004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B1A2A"/>
                </a:solidFill>
                <a:latin typeface="Calibri"/>
              </a:rPr>
              <a:t>Diseño abierto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3657600"/>
            <a:ext cx="3520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>
                <a:solidFill>
                  <a:srgbClr val="1F2D3D"/>
                </a:solidFill>
                <a:latin typeface="Calibri"/>
              </a:rPr>
              <a:t>La seguridad no depende de que el diseño sea secreto. Lo único secreto es la clave.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67C93"/>
                </a:solidFill>
                <a:latin typeface="Calibri"/>
              </a:rPr>
              <a:t>Saltzer, J. y Schroeder, M. (1975). The Protection of Information in Computer Systems.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spc="180">
                <a:solidFill>
                  <a:srgbClr val="0E9AA7"/>
                </a:solidFill>
                <a:latin typeface="Calibri"/>
              </a:rPr>
              <a:t>PRINCIPIOS DE DISEÑO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0B1A2A"/>
                </a:solidFill>
                <a:latin typeface="Cambria"/>
              </a:rPr>
              <a:t>Los otros cuatro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977639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572768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002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B1A2A"/>
                </a:solidFill>
                <a:latin typeface="Calibri"/>
              </a:rPr>
              <a:t>Separación de privilegios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3520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>
                <a:solidFill>
                  <a:srgbClr val="1F2D3D"/>
                </a:solidFill>
                <a:latin typeface="Calibri"/>
              </a:rPr>
              <a:t>Dos condiciones independientes para una acción crítica, no una sola contraseña.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371600"/>
            <a:ext cx="3977639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37760" y="1572768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57276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16002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B1A2A"/>
                </a:solidFill>
                <a:latin typeface="Calibri"/>
              </a:rPr>
              <a:t>Mínimo privilegio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057400"/>
            <a:ext cx="3520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>
                <a:solidFill>
                  <a:srgbClr val="1F2D3D"/>
                </a:solidFill>
                <a:latin typeface="Calibri"/>
              </a:rPr>
              <a:t>Los permisos justos para la tarea, y ni uno más. Ya lo vimos en la clase 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71800"/>
            <a:ext cx="3977639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72968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17296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2004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B1A2A"/>
                </a:solidFill>
                <a:latin typeface="Calibri"/>
              </a:rPr>
              <a:t>Mínimo mecanismo común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657600"/>
            <a:ext cx="3520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>
                <a:solidFill>
                  <a:srgbClr val="1F2D3D"/>
                </a:solidFill>
                <a:latin typeface="Calibri"/>
              </a:rPr>
              <a:t>Cuanto menos se comparta entre usuarios distintos, menos caminos hay de uno a otro.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2971800"/>
            <a:ext cx="3977639" cy="1417320"/>
          </a:xfrm>
          <a:prstGeom prst="roundRect">
            <a:avLst>
              <a:gd name="adj" fmla="val 8000"/>
            </a:avLst>
          </a:prstGeom>
          <a:solidFill>
            <a:srgbClr val="EAF6F6"/>
          </a:solidFill>
          <a:ln w="12700">
            <a:solidFill>
              <a:srgbClr val="BF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937760" y="3172968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317296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32004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B1A2A"/>
                </a:solidFill>
                <a:latin typeface="Calibri"/>
              </a:rPr>
              <a:t>Aceptabilidad psicológica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3657600"/>
            <a:ext cx="3520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>
                <a:solidFill>
                  <a:srgbClr val="1F2D3D"/>
                </a:solidFill>
                <a:latin typeface="Calibri"/>
              </a:rPr>
              <a:t>Si el control es insoportable, la gente lo esquiva y el sistema queda peor que antes.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0E9AA7"/>
                </a:solidFill>
                <a:latin typeface="Calibri"/>
              </a:rPr>
              <a:t>El 8 es el que más se olvida y el que más incidentes causa.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8872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180">
                <a:solidFill>
                  <a:srgbClr val="8FA6BE"/>
                </a:solidFill>
                <a:latin typeface="Calibri"/>
              </a:rPr>
              <a:t>PRINCIPIO 8 · ACEPTABILIDAD PSICOLÓGICA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786384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sz="2500" b="1">
                <a:solidFill>
                  <a:srgbClr val="FFFFFF"/>
                </a:solidFill>
                <a:latin typeface="Cambria"/>
              </a:rPr>
              <a:t>Un control que la gente no puede cumplir</a:t>
            </a:r>
          </a:p>
          <a:p>
            <a:pPr algn="l">
              <a:lnSpc>
                <a:spcPts val="3600"/>
              </a:lnSpc>
            </a:pPr>
            <a:r>
              <a:rPr sz="2500" b="1">
                <a:solidFill>
                  <a:srgbClr val="FFFFFF"/>
                </a:solidFill>
                <a:latin typeface="Cambria"/>
              </a:rPr>
              <a:t>no es un control estricto: es un control</a:t>
            </a:r>
          </a:p>
          <a:p>
            <a:pPr algn="l">
              <a:lnSpc>
                <a:spcPts val="3600"/>
              </a:lnSpc>
            </a:pPr>
            <a:r>
              <a:rPr sz="2500" b="1">
                <a:solidFill>
                  <a:srgbClr val="FFFFFF"/>
                </a:solidFill>
                <a:latin typeface="Cambria"/>
              </a:rPr>
              <a:t>que no existe, más la ilusión de que existe.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154680"/>
            <a:ext cx="54864" cy="82296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15468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00"/>
              </a:lnSpc>
              <a:spcAft>
                <a:spcPts val="600"/>
              </a:spcAft>
            </a:pPr>
            <a:r>
              <a:rPr sz="1300" b="0">
                <a:solidFill>
                  <a:srgbClr val="C9D8E8"/>
                </a:solidFill>
                <a:latin typeface="Calibri"/>
              </a:rPr>
              <a:t>Contraseñas de veinte caracteres cambiadas cada treinta días: la gente las anota en un papel abajo del teclado.</a:t>
            </a:r>
          </a:p>
          <a:p>
            <a:pPr algn="l">
              <a:lnSpc>
                <a:spcPts val="2000"/>
              </a:lnSpc>
              <a:spcAft>
                <a:spcPts val="600"/>
              </a:spcAft>
            </a:pPr>
            <a:r>
              <a:rPr sz="1300" b="0">
                <a:solidFill>
                  <a:srgbClr val="C9D8E8"/>
                </a:solidFill>
                <a:latin typeface="Calibri"/>
              </a:rPr>
              <a:t>Cuando una regla la incumple todo el mundo, el problema casi nunca es la gente.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spc="180">
                <a:solidFill>
                  <a:srgbClr val="0E9AA7"/>
                </a:solidFill>
                <a:latin typeface="Calibri"/>
              </a:rPr>
              <a:t>CONEXIÓN CON LA CLASE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0B1A2A"/>
                </a:solidFill>
                <a:latin typeface="Cambria"/>
              </a:rPr>
              <a:t>Ningún caso fue mala suerte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8229600" cy="384048"/>
          </a:xfrm>
          <a:prstGeom prst="rect">
            <a:avLst/>
          </a:prstGeom>
          <a:solidFill>
            <a:srgbClr val="0B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spc="120">
                <a:solidFill>
                  <a:srgbClr val="FFFFFF"/>
                </a:solidFill>
                <a:latin typeface="Calibri"/>
              </a:rPr>
              <a:t>CASO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3258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spc="120">
                <a:solidFill>
                  <a:srgbClr val="FFFFFF"/>
                </a:solidFill>
                <a:latin typeface="Calibri"/>
              </a:rPr>
              <a:t>PRINCIPIO QUE FALTABA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325880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spc="120">
                <a:solidFill>
                  <a:srgbClr val="FFFFFF"/>
                </a:solidFill>
                <a:latin typeface="Calibri"/>
              </a:rPr>
              <a:t>CÓMO SE HABRÍA VISTO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09928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26517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0B1A2A"/>
                </a:solidFill>
                <a:latin typeface="Calibri"/>
              </a:rPr>
              <a:t>Banco de Bangladesh · 2016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709928"/>
            <a:ext cx="23774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0E9AA7"/>
                </a:solidFill>
                <a:latin typeface="Calibri"/>
              </a:rPr>
              <a:t>Separación de privilegios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709928"/>
            <a:ext cx="27432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00"/>
              </a:lnSpc>
            </a:pPr>
            <a:r>
              <a:rPr sz="1100" b="0">
                <a:solidFill>
                  <a:srgbClr val="1F2D3D"/>
                </a:solidFill>
                <a:latin typeface="Calibri"/>
              </a:rPr>
              <a:t>Doble autorización real para montos altos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40280"/>
            <a:ext cx="822960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40280"/>
            <a:ext cx="26517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0B1A2A"/>
                </a:solidFill>
                <a:latin typeface="Calibri"/>
              </a:rPr>
              <a:t>Costa Rica · 2022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240280"/>
            <a:ext cx="23774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0E9AA7"/>
                </a:solidFill>
                <a:latin typeface="Calibri"/>
              </a:rPr>
              <a:t>Mínimo mecanismo común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240280"/>
            <a:ext cx="27432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00"/>
              </a:lnSpc>
            </a:pPr>
            <a:r>
              <a:rPr sz="1100" b="0">
                <a:solidFill>
                  <a:srgbClr val="1F2D3D"/>
                </a:solidFill>
                <a:latin typeface="Calibri"/>
              </a:rPr>
              <a:t>Redes segmentadas: no se salta de una a treinta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770632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770632"/>
            <a:ext cx="26517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0B1A2A"/>
                </a:solidFill>
                <a:latin typeface="Calibri"/>
              </a:rPr>
              <a:t>CrowdStrike ·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770632"/>
            <a:ext cx="23774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0E9AA7"/>
                </a:solidFill>
                <a:latin typeface="Calibri"/>
              </a:rPr>
              <a:t>Economía de mecanismo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770632"/>
            <a:ext cx="27432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00"/>
              </a:lnSpc>
            </a:pPr>
            <a:r>
              <a:rPr sz="1100" b="0">
                <a:solidFill>
                  <a:srgbClr val="1F2D3D"/>
                </a:solidFill>
                <a:latin typeface="Calibri"/>
              </a:rPr>
              <a:t>Despliegue por anillos, no a 8,5 millones de una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00984"/>
            <a:ext cx="822960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300984"/>
            <a:ext cx="26517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0B1A2A"/>
                </a:solidFill>
                <a:latin typeface="Calibri"/>
              </a:rPr>
              <a:t>Filtraciones al Estado ·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300984"/>
            <a:ext cx="23774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0E9AA7"/>
                </a:solidFill>
                <a:latin typeface="Calibri"/>
              </a:rPr>
              <a:t>Mínimo privilegio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300984"/>
            <a:ext cx="27432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00"/>
              </a:lnSpc>
            </a:pPr>
            <a:r>
              <a:rPr sz="1100" b="0">
                <a:solidFill>
                  <a:srgbClr val="1F2D3D"/>
                </a:solidFill>
                <a:latin typeface="Calibri"/>
              </a:rPr>
              <a:t>Ninguna cuenta exporta millones de registros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831335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831335"/>
            <a:ext cx="26517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0B1A2A"/>
                </a:solidFill>
                <a:latin typeface="Calibri"/>
              </a:rPr>
              <a:t>BHU ·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3831335"/>
            <a:ext cx="23774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0E9AA7"/>
                </a:solidFill>
                <a:latin typeface="Calibri"/>
              </a:rPr>
              <a:t>Predeterminados seguros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3831335"/>
            <a:ext cx="27432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00"/>
              </a:lnSpc>
            </a:pPr>
            <a:r>
              <a:rPr sz="1100" b="0">
                <a:solidFill>
                  <a:srgbClr val="1F2D3D"/>
                </a:solidFill>
                <a:latin typeface="Calibri"/>
              </a:rPr>
              <a:t>Accesos uno a uno y respaldos desconectados por diseño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1600200"/>
            <a:ext cx="1371600" cy="13716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13716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828800"/>
            <a:ext cx="6126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mbria"/>
              </a:rPr>
              <a:t>Defensa en profundidad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450592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400" b="0">
                <a:solidFill>
                  <a:srgbClr val="C9D8E8"/>
                </a:solidFill>
                <a:latin typeface="Calibri"/>
              </a:rPr>
              <a:t>Superponer capas independientes para que el fallo de una no comprometa todo el sistema.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spc="180">
                <a:solidFill>
                  <a:srgbClr val="0E9AA7"/>
                </a:solidFill>
                <a:latin typeface="Calibri"/>
              </a:rPr>
              <a:t>DEFENSA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0B1A2A"/>
                </a:solidFill>
                <a:latin typeface="Cambria"/>
              </a:rPr>
              <a:t>Seis capas que fallan distinto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82296" cy="45720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B1A2A"/>
                </a:solidFill>
                <a:latin typeface="Calibri"/>
              </a:rPr>
              <a:t>Física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298448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F2D3D"/>
                </a:solidFill>
                <a:latin typeface="Calibri"/>
              </a:rPr>
              <a:t>Puerta con llave, cámara, control de visitas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10512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10512"/>
            <a:ext cx="82296" cy="45720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B1A2A"/>
                </a:solidFill>
                <a:latin typeface="Calibri"/>
              </a:rPr>
              <a:t>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810512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F2D3D"/>
                </a:solidFill>
                <a:latin typeface="Calibri"/>
              </a:rPr>
              <a:t>Segmentación, cortafuegos, wifi por rol, VPN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22576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322576"/>
            <a:ext cx="82296" cy="45720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322576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B1A2A"/>
                </a:solidFill>
                <a:latin typeface="Calibri"/>
              </a:rPr>
              <a:t>Equipo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322576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F2D3D"/>
                </a:solidFill>
                <a:latin typeface="Calibri"/>
              </a:rPr>
              <a:t>Sistema actualizado, disco cifrado, bloqueo de pantalla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834640"/>
            <a:ext cx="82296" cy="45720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83464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B1A2A"/>
                </a:solidFill>
                <a:latin typeface="Calibri"/>
              </a:rPr>
              <a:t>Aplicación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283464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F2D3D"/>
                </a:solidFill>
                <a:latin typeface="Calibri"/>
              </a:rPr>
              <a:t>Validación de entradas, permisos por rol, auditoría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46704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346704"/>
            <a:ext cx="82296" cy="45720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34670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B1A2A"/>
                </a:solidFill>
                <a:latin typeface="Calibri"/>
              </a:rPr>
              <a:t>Dato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3346704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F2D3D"/>
                </a:solidFill>
                <a:latin typeface="Calibri"/>
              </a:rPr>
              <a:t>Cifrado en reposo, clasificación, respaldos, minimización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858768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858768"/>
            <a:ext cx="82296" cy="45720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858768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B1A2A"/>
                </a:solidFill>
                <a:latin typeface="Calibri"/>
              </a:rPr>
              <a:t>Persona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3858768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F2D3D"/>
                </a:solidFill>
                <a:latin typeface="Calibri"/>
              </a:rPr>
              <a:t>Formación, procedimientos, cultura de reportar sin miedo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67C93"/>
                </a:solidFill>
                <a:latin typeface="Calibri"/>
              </a:rPr>
              <a:t>Cinco antivirus del mismo tipo son una sola capa repetida cinco veces.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spc="180">
                <a:solidFill>
                  <a:srgbClr val="0E9AA7"/>
                </a:solidFill>
                <a:latin typeface="Calibri"/>
              </a:rPr>
              <a:t>EJEMPLO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0B1A2A"/>
                </a:solidFill>
                <a:latin typeface="Cambria"/>
              </a:rPr>
              <a:t>Roban la contraseña de un docente. ¿Cuántas capas quedan?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5544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" y="1645920"/>
            <a:ext cx="420624" cy="42062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64592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76272"/>
            <a:ext cx="133502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00"/>
              </a:lnSpc>
            </a:pPr>
            <a:r>
              <a:rPr sz="1150" b="1">
                <a:solidFill>
                  <a:srgbClr val="0B1A2A"/>
                </a:solidFill>
                <a:latin typeface="Calibri"/>
              </a:rPr>
              <a:t>Segundo factor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670048"/>
            <a:ext cx="13350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</a:pPr>
            <a:r>
              <a:rPr sz="950" b="0">
                <a:solidFill>
                  <a:srgbClr val="667C93"/>
                </a:solidFill>
                <a:latin typeface="Calibri"/>
              </a:rPr>
              <a:t>La contraseña sola no alcanza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30552" y="1463040"/>
            <a:ext cx="15544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97480" y="1645920"/>
            <a:ext cx="420624" cy="42062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164592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76272"/>
            <a:ext cx="133502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00"/>
              </a:lnSpc>
            </a:pPr>
            <a:r>
              <a:rPr sz="1150" b="1">
                <a:solidFill>
                  <a:srgbClr val="0B1A2A"/>
                </a:solidFill>
                <a:latin typeface="Calibri"/>
              </a:rPr>
              <a:t>Mínimo privilegio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670048"/>
            <a:ext cx="13350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</a:pPr>
            <a:r>
              <a:rPr sz="950" b="0">
                <a:solidFill>
                  <a:srgbClr val="667C93"/>
                </a:solidFill>
                <a:latin typeface="Calibri"/>
              </a:rPr>
              <a:t>Solo puede tocar sus propios grupos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03904" y="1463040"/>
            <a:ext cx="15544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70832" y="1645920"/>
            <a:ext cx="420624" cy="42062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0832" y="164592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2" y="2176272"/>
            <a:ext cx="133502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00"/>
              </a:lnSpc>
            </a:pPr>
            <a:r>
              <a:rPr sz="1150" b="1">
                <a:solidFill>
                  <a:srgbClr val="0B1A2A"/>
                </a:solidFill>
                <a:latin typeface="Calibri"/>
              </a:rPr>
              <a:t>Registro de auditoría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13632" y="2670048"/>
            <a:ext cx="13350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</a:pPr>
            <a:r>
              <a:rPr sz="950" b="0">
                <a:solidFill>
                  <a:srgbClr val="667C93"/>
                </a:solidFill>
                <a:latin typeface="Calibri"/>
              </a:rPr>
              <a:t>Se sabe exactamente qué se modificó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77256" y="1463040"/>
            <a:ext cx="15544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44184" y="1645920"/>
            <a:ext cx="420624" cy="42062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44184" y="164592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86984" y="2176272"/>
            <a:ext cx="133502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00"/>
              </a:lnSpc>
            </a:pPr>
            <a:r>
              <a:rPr sz="1150" b="1">
                <a:solidFill>
                  <a:srgbClr val="0B1A2A"/>
                </a:solidFill>
                <a:latin typeface="Calibri"/>
              </a:rPr>
              <a:t>Respaldo diario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86984" y="2670048"/>
            <a:ext cx="13350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</a:pPr>
            <a:r>
              <a:rPr sz="950" b="0">
                <a:solidFill>
                  <a:srgbClr val="667C93"/>
                </a:solidFill>
                <a:latin typeface="Calibri"/>
              </a:rPr>
              <a:t>Se restaura el estado correcto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50608" y="1463040"/>
            <a:ext cx="15544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17536" y="1645920"/>
            <a:ext cx="420624" cy="42062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17536" y="164592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0336" y="2176272"/>
            <a:ext cx="133502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00"/>
              </a:lnSpc>
            </a:pPr>
            <a:r>
              <a:rPr sz="1150" b="1">
                <a:solidFill>
                  <a:srgbClr val="0B1A2A"/>
                </a:solidFill>
                <a:latin typeface="Calibri"/>
              </a:rPr>
              <a:t>Cultura de aviso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0336" y="2670048"/>
            <a:ext cx="13350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</a:pPr>
            <a:r>
              <a:rPr sz="950" b="0">
                <a:solidFill>
                  <a:srgbClr val="667C93"/>
                </a:solidFill>
                <a:latin typeface="Calibri"/>
              </a:rPr>
              <a:t>Se detecta en horas y no en meses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33756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AF6F6"/>
          </a:solidFill>
          <a:ln w="12700">
            <a:solidFill>
              <a:srgbClr val="BF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493008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100">
                <a:solidFill>
                  <a:srgbClr val="0E9AA7"/>
                </a:solidFill>
                <a:latin typeface="Calibri"/>
              </a:rPr>
              <a:t>La cuenta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767328"/>
            <a:ext cx="7589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Un liceo con una sola capa pierde todo con una contraseña. El mismo liceo con cinco pierde una tarde de trabajo.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spc="180">
                <a:solidFill>
                  <a:srgbClr val="0E9AA7"/>
                </a:solidFill>
                <a:latin typeface="Calibri"/>
              </a:rPr>
              <a:t>CUIDADO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0B1A2A"/>
                </a:solidFill>
                <a:latin typeface="Cambria"/>
              </a:rPr>
              <a:t>Defensa en profundidad no es comprar cinco productos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3977639" cy="2377440"/>
          </a:xfrm>
          <a:prstGeom prst="roundRect">
            <a:avLst>
              <a:gd name="adj" fmla="val 10000"/>
            </a:avLst>
          </a:prstGeom>
          <a:solidFill>
            <a:srgbClr val="FAECEC"/>
          </a:solidFill>
          <a:ln w="12700">
            <a:solidFill>
              <a:srgbClr val="EFC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2763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120">
                <a:solidFill>
                  <a:srgbClr val="D4504E"/>
                </a:solidFill>
                <a:latin typeface="Calibri"/>
              </a:rPr>
              <a:t>LO QUE NO 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47472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00"/>
              </a:lnSpc>
              <a:spcAft>
                <a:spcPts val="800"/>
              </a:spcAft>
            </a:pPr>
            <a:r>
              <a:rPr sz="1250" b="0">
                <a:solidFill>
                  <a:srgbClr val="1F2D3D"/>
                </a:solidFill>
                <a:latin typeface="Calibri"/>
              </a:rPr>
              <a:t>· Cinco herramientas que hacen lo mismo.</a:t>
            </a:r>
          </a:p>
          <a:p>
            <a:pPr algn="l">
              <a:lnSpc>
                <a:spcPts val="1700"/>
              </a:lnSpc>
              <a:spcAft>
                <a:spcPts val="800"/>
              </a:spcAft>
            </a:pPr>
            <a:r>
              <a:rPr sz="1250" b="0">
                <a:solidFill>
                  <a:srgbClr val="1F2D3D"/>
                </a:solidFill>
                <a:latin typeface="Calibri"/>
              </a:rPr>
              <a:t>· Comprar sin saber qué capa cubre cada cosa.</a:t>
            </a:r>
          </a:p>
          <a:p>
            <a:pPr algn="l">
              <a:lnSpc>
                <a:spcPts val="1700"/>
              </a:lnSpc>
              <a:spcAft>
                <a:spcPts val="800"/>
              </a:spcAft>
            </a:pPr>
            <a:r>
              <a:rPr sz="1250" b="0">
                <a:solidFill>
                  <a:srgbClr val="1F2D3D"/>
                </a:solidFill>
                <a:latin typeface="Calibri"/>
              </a:rPr>
              <a:t>· Suponer que más productos es más seguridad.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417320"/>
            <a:ext cx="3977639" cy="2377440"/>
          </a:xfrm>
          <a:prstGeom prst="roundRect">
            <a:avLst>
              <a:gd name="adj" fmla="val 10000"/>
            </a:avLst>
          </a:prstGeom>
          <a:solidFill>
            <a:srgbClr val="EAF6F6"/>
          </a:solidFill>
          <a:ln w="12700">
            <a:solidFill>
              <a:srgbClr val="BF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0" y="162763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120">
                <a:solidFill>
                  <a:srgbClr val="0E9AA7"/>
                </a:solidFill>
                <a:latin typeface="Calibri"/>
              </a:rPr>
              <a:t>LO QUE SÍ 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1965960"/>
            <a:ext cx="347472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00"/>
              </a:lnSpc>
              <a:spcAft>
                <a:spcPts val="800"/>
              </a:spcAft>
            </a:pPr>
            <a:r>
              <a:rPr sz="1250" b="0">
                <a:solidFill>
                  <a:srgbClr val="1F2D3D"/>
                </a:solidFill>
                <a:latin typeface="Calibri"/>
              </a:rPr>
              <a:t>· Capas que fallan de maneras distintas.</a:t>
            </a:r>
          </a:p>
          <a:p>
            <a:pPr algn="l">
              <a:lnSpc>
                <a:spcPts val="1700"/>
              </a:lnSpc>
              <a:spcAft>
                <a:spcPts val="800"/>
              </a:spcAft>
            </a:pPr>
            <a:r>
              <a:rPr sz="1250" b="0">
                <a:solidFill>
                  <a:srgbClr val="1F2D3D"/>
                </a:solidFill>
                <a:latin typeface="Calibri"/>
              </a:rPr>
              <a:t>· Preguntarse cómo falla cada control.</a:t>
            </a:r>
          </a:p>
          <a:p>
            <a:pPr algn="l">
              <a:lnSpc>
                <a:spcPts val="1700"/>
              </a:lnSpc>
              <a:spcAft>
                <a:spcPts val="800"/>
              </a:spcAft>
            </a:pPr>
            <a:r>
              <a:rPr sz="1250" b="0">
                <a:solidFill>
                  <a:srgbClr val="1F2D3D"/>
                </a:solidFill>
                <a:latin typeface="Calibri"/>
              </a:rPr>
              <a:t>· Aceptar que cada capa nueva agrega también una forma nueva de fallar.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0B1A2A"/>
                </a:solidFill>
                <a:latin typeface="Calibri"/>
              </a:rPr>
              <a:t>El producto que causó la mayor caída de 2024 era un producto de seguridad.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1600200"/>
            <a:ext cx="1371600" cy="13716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13716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828800"/>
            <a:ext cx="6126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mbria"/>
              </a:rPr>
              <a:t>Superficie de ataque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450592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400" b="0">
                <a:solidFill>
                  <a:srgbClr val="C9D8E8"/>
                </a:solidFill>
                <a:latin typeface="Calibri"/>
              </a:rPr>
              <a:t>El conjunto de puntos por los que alguien podría intentar entrar. Crece sola si nadie la mira.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spc="180">
                <a:solidFill>
                  <a:srgbClr val="0E9AA7"/>
                </a:solidFill>
                <a:latin typeface="Calibri"/>
              </a:rPr>
              <a:t>SUPERFICIE DE ATAQUE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0B1A2A"/>
                </a:solidFill>
                <a:latin typeface="Cambria"/>
              </a:rPr>
              <a:t>Casi siempre se reduce sacando, no comprando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977639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9961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B1A2A"/>
                </a:solidFill>
                <a:latin typeface="Calibri"/>
              </a:rPr>
              <a:t>Desinstalar lo que no se usa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92224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67C93"/>
                </a:solidFill>
                <a:latin typeface="Calibri"/>
              </a:rPr>
              <a:t>Vulnerabilidades que ni sabías que tenías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371600"/>
            <a:ext cx="3977639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49961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B1A2A"/>
                </a:solidFill>
                <a:latin typeface="Calibri"/>
              </a:rPr>
              <a:t>Cerrar puertos y servicios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792224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67C93"/>
                </a:solidFill>
                <a:latin typeface="Calibri"/>
              </a:rPr>
              <a:t>Puertas abiertas sin portero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3977639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1401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B1A2A"/>
                </a:solidFill>
                <a:latin typeface="Calibri"/>
              </a:rPr>
              <a:t>Dar de baja cuentas viejas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06624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67C93"/>
                </a:solidFill>
                <a:latin typeface="Calibri"/>
              </a:rPr>
              <a:t>Accesos de gente que ya no está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286000"/>
            <a:ext cx="3977639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241401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B1A2A"/>
                </a:solidFill>
                <a:latin typeface="Calibri"/>
              </a:rPr>
              <a:t>Quitar permisos que sobran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706624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67C93"/>
                </a:solidFill>
                <a:latin typeface="Calibri"/>
              </a:rPr>
              <a:t>El alcance del daño cuando una cuenta cae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00400"/>
            <a:ext cx="3977639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32841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B1A2A"/>
                </a:solidFill>
                <a:latin typeface="Calibri"/>
              </a:rPr>
              <a:t>Cambiar credenciales de fábrica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621024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67C93"/>
                </a:solidFill>
                <a:latin typeface="Calibri"/>
              </a:rPr>
              <a:t>La entrada más usada del mundo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3200400"/>
            <a:ext cx="3977639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332841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B1A2A"/>
                </a:solidFill>
                <a:latin typeface="Calibri"/>
              </a:rPr>
              <a:t>Guardar menos datos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621024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67C93"/>
                </a:solidFill>
                <a:latin typeface="Calibri"/>
              </a:rPr>
              <a:t>Lo que no tenés no se puede filtrar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0E9AA7"/>
                </a:solidFill>
                <a:latin typeface="Calibri"/>
              </a:rPr>
              <a:t>Es la medida más barata que existe. Por eso es la primera.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spc="180">
                <a:solidFill>
                  <a:srgbClr val="0E9AA7"/>
                </a:solidFill>
                <a:latin typeface="Calibri"/>
              </a:rPr>
              <a:t>CASO PARA PENSAR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0B1A2A"/>
                </a:solidFill>
                <a:latin typeface="Cambria"/>
              </a:rPr>
              <a:t>La cámara que nadie miraba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417320"/>
          </a:xfrm>
          <a:prstGeom prst="roundRect">
            <a:avLst>
              <a:gd name="adj" fmla="val 10000"/>
            </a:avLst>
          </a:prstGeom>
          <a:solidFill>
            <a:srgbClr val="FAECEC"/>
          </a:solidFill>
          <a:ln w="12700">
            <a:solidFill>
              <a:srgbClr val="EFC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758952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00"/>
              </a:lnSpc>
              <a:spcAft>
                <a:spcPts val="600"/>
              </a:spcAft>
            </a:pPr>
            <a:r>
              <a:rPr sz="1350" b="0">
                <a:solidFill>
                  <a:srgbClr val="1F2D3D"/>
                </a:solidFill>
                <a:latin typeface="Calibri"/>
              </a:rPr>
              <a:t>Una cámara de vigilancia con la contraseña de fábrica, conectada a la misma red que los servidores administrativos y accesible desde internet.</a:t>
            </a:r>
          </a:p>
          <a:p>
            <a:pPr algn="l">
              <a:lnSpc>
                <a:spcPts val="1900"/>
              </a:lnSpc>
              <a:spcAft>
                <a:spcPts val="600"/>
              </a:spcAft>
            </a:pPr>
            <a:r>
              <a:rPr sz="1350" b="0">
                <a:solidFill>
                  <a:srgbClr val="1F2D3D"/>
                </a:solidFill>
                <a:latin typeface="Calibri"/>
              </a:rPr>
              <a:t>Hubo accesos desde el exterior durante al menos cuatro meses.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B1A2A"/>
                </a:solidFill>
                <a:latin typeface="Cambria"/>
              </a:rPr>
              <a:t>No es «un problema de la cámara».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00"/>
              </a:lnSpc>
              <a:spcAft>
                <a:spcPts val="6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Es un equipo cualquiera de la red interna, en manos de quien quiera, veinticuatro horas por día.</a:t>
            </a:r>
          </a:p>
          <a:p>
            <a:pPr algn="l">
              <a:lnSpc>
                <a:spcPts val="1900"/>
              </a:lnSpc>
              <a:spcAft>
                <a:spcPts val="6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La superficie de ataque no distingue entre dispositivos importantes y dispositivos que parecen tontos.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1600200"/>
            <a:ext cx="1371600" cy="13716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13716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828800"/>
            <a:ext cx="6126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mbria"/>
              </a:rPr>
              <a:t>Confianza cero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450592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400" b="0">
                <a:solidFill>
                  <a:srgbClr val="C9D8E8"/>
                </a:solidFill>
                <a:latin typeface="Calibri"/>
              </a:rPr>
              <a:t>«Nunca confiar, siempre verificar». Estar dentro de la red dejó de ser una credencial.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spc="180">
                <a:solidFill>
                  <a:srgbClr val="0E9AA7"/>
                </a:solidFill>
                <a:latin typeface="Calibri"/>
              </a:rPr>
              <a:t>POR QUÉ NO ALCANZA EL CASTILLO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0B1A2A"/>
                </a:solidFill>
                <a:latin typeface="Cambria"/>
              </a:rPr>
              <a:t>Tres razones concretas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2560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645920"/>
            <a:ext cx="420624" cy="42062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4592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212848"/>
            <a:ext cx="204825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B1A2A"/>
                </a:solidFill>
                <a:latin typeface="Calibri"/>
              </a:rPr>
              <a:t>Ya no hay adentro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06040"/>
            <a:ext cx="21031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>
                <a:solidFill>
                  <a:srgbClr val="1F2D3D"/>
                </a:solidFill>
                <a:latin typeface="Calibri"/>
              </a:rPr>
              <a:t>Nube, celulares personales, gente trabajando desde casa. El «adentro» está repartido.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417320"/>
            <a:ext cx="2560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47872" y="1645920"/>
            <a:ext cx="420624" cy="42062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164592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212848"/>
            <a:ext cx="204825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B1A2A"/>
                </a:solidFill>
                <a:latin typeface="Calibri"/>
              </a:rPr>
              <a:t>El atacante entra igual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606040"/>
            <a:ext cx="21031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>
                <a:solidFill>
                  <a:srgbClr val="1F2D3D"/>
                </a:solidFill>
                <a:latin typeface="Calibri"/>
              </a:rPr>
              <a:t>Con credenciales robadas por phishing, el atacante es alguien de adentro. La muralla le abrió la puerta.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417320"/>
            <a:ext cx="2560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82512" y="1645920"/>
            <a:ext cx="420624" cy="42062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64592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212848"/>
            <a:ext cx="204825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B1A2A"/>
                </a:solidFill>
                <a:latin typeface="Calibri"/>
              </a:rPr>
              <a:t>Adentro se movía libre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606040"/>
            <a:ext cx="21031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>
                <a:solidFill>
                  <a:srgbClr val="1F2D3D"/>
                </a:solidFill>
                <a:latin typeface="Calibri"/>
              </a:rPr>
              <a:t>Bangladesh y Costa Rica no fueron una entrada espectacular: fueron semanas de movimiento lateral.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67C93"/>
                </a:solidFill>
                <a:latin typeface="Calibri"/>
              </a:rPr>
              <a:t>El modelo perimetral no está mal: está incompleto.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spc="180">
                <a:solidFill>
                  <a:srgbClr val="0E9AA7"/>
                </a:solidFill>
                <a:latin typeface="Calibri"/>
              </a:rPr>
              <a:t>CONFIANZA CERO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0B1A2A"/>
                </a:solidFill>
                <a:latin typeface="Cambria"/>
              </a:rPr>
              <a:t>Tres reglas, ningún producto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563624"/>
            <a:ext cx="420624" cy="42062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6362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9047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B1A2A"/>
                </a:solidFill>
                <a:latin typeface="Calibri"/>
              </a:rPr>
              <a:t>Verificación explícita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490472"/>
            <a:ext cx="4297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>
                <a:solidFill>
                  <a:srgbClr val="1F2D3D"/>
                </a:solidFill>
                <a:latin typeface="Calibri"/>
              </a:rPr>
              <a:t>Cada pedido de acceso se evalúa con lo que se sabe en ese momento: identidad, dispositivo, comportamiento.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04288"/>
            <a:ext cx="822960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2496312"/>
            <a:ext cx="420624" cy="42062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9631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423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B1A2A"/>
                </a:solidFill>
                <a:latin typeface="Calibri"/>
              </a:rPr>
              <a:t>Mínimo privilegio siempre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423160"/>
            <a:ext cx="4297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>
                <a:solidFill>
                  <a:srgbClr val="1F2D3D"/>
                </a:solidFill>
                <a:latin typeface="Calibri"/>
              </a:rPr>
              <a:t>Permisos justos, temporales cuando se puede, revisados de verdad y no una vez por año.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36976"/>
            <a:ext cx="822960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429000"/>
            <a:ext cx="420624" cy="42062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42900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3558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B1A2A"/>
                </a:solidFill>
                <a:latin typeface="Calibri"/>
              </a:rPr>
              <a:t>Asumir la brecha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355848"/>
            <a:ext cx="4297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>
                <a:solidFill>
                  <a:srgbClr val="1F2D3D"/>
                </a:solidFill>
                <a:latin typeface="Calibri"/>
              </a:rPr>
              <a:t>Diseñar como si el atacante ya estuviera adentro: segmentar, cifrar, registrar, limitar el radio de daño.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25196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EAF6F6"/>
          </a:solidFill>
          <a:ln w="12700">
            <a:solidFill>
              <a:srgbClr val="BF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51960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Fijate que no inventó nada: es mediación completa, mínimo privilegio y mínimo mecanismo común, en un mundo sin perímetro.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1600200"/>
            <a:ext cx="1371600" cy="13716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13716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828800"/>
            <a:ext cx="6126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mbria"/>
              </a:rPr>
              <a:t>Políticas de 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450592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400" b="0">
                <a:solidFill>
                  <a:srgbClr val="C9D8E8"/>
                </a:solidFill>
                <a:latin typeface="Calibri"/>
              </a:rPr>
              <a:t>Un principio que nadie escribió depende de que el técnico de turno se acuerde. Cuando se va, se va el criterio.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spc="180">
                <a:solidFill>
                  <a:srgbClr val="0E9AA7"/>
                </a:solidFill>
                <a:latin typeface="Calibri"/>
              </a:rPr>
              <a:t>LA PIRÁMIDE NORMATIVA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0B1A2A"/>
                </a:solidFill>
                <a:latin typeface="Cambria"/>
              </a:rPr>
              <a:t>Cuatro niveles, cuatro verbos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17520" y="1371600"/>
            <a:ext cx="3108960" cy="621792"/>
          </a:xfrm>
          <a:prstGeom prst="roundRect">
            <a:avLst>
              <a:gd name="adj" fmla="val 8000"/>
            </a:avLst>
          </a:prstGeom>
          <a:solidFill>
            <a:srgbClr val="0B1A2A"/>
          </a:solidFill>
          <a:ln w="12700">
            <a:solidFill>
              <a:srgbClr val="0B1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6120" y="1371600"/>
            <a:ext cx="1305763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spc="100">
                <a:solidFill>
                  <a:srgbClr val="FFFFFF"/>
                </a:solidFill>
                <a:latin typeface="Calibri"/>
              </a:rPr>
              <a:t>POLÍTICA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3283" y="1371600"/>
            <a:ext cx="1512417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Qué queremos proteger y por qué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2093976"/>
            <a:ext cx="4206240" cy="621792"/>
          </a:xfrm>
          <a:prstGeom prst="roundRect">
            <a:avLst>
              <a:gd name="adj" fmla="val 8000"/>
            </a:avLst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7480" y="2093976"/>
            <a:ext cx="176662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spc="100">
                <a:solidFill>
                  <a:srgbClr val="FFFFFF"/>
                </a:solidFill>
                <a:latin typeface="Calibri"/>
              </a:rPr>
              <a:t>NORMA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35500" y="2093976"/>
            <a:ext cx="2126894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Qué hay que cumplir, con números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2816352"/>
            <a:ext cx="53035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2816352"/>
            <a:ext cx="2227478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spc="100">
                <a:solidFill>
                  <a:srgbClr val="0B1A2A"/>
                </a:solidFill>
                <a:latin typeface="Calibri"/>
              </a:rPr>
              <a:t>PROCEDIMIENTO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7718" y="2816352"/>
            <a:ext cx="2741371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F2D3D"/>
                </a:solidFill>
                <a:latin typeface="Calibri"/>
              </a:rPr>
              <a:t>Cómo se hace, paso a paso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538728"/>
            <a:ext cx="640080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3538728"/>
            <a:ext cx="2688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spc="100">
                <a:solidFill>
                  <a:srgbClr val="667C93"/>
                </a:solidFill>
                <a:latin typeface="Calibri"/>
              </a:rPr>
              <a:t>GUÍA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9935" y="3538728"/>
            <a:ext cx="3355848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F2D3D"/>
                </a:solidFill>
                <a:latin typeface="Calibri"/>
              </a:rPr>
              <a:t>Qué conviene hacer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A2A"/>
                </a:solidFill>
                <a:latin typeface="Calibri"/>
              </a:rPr>
              <a:t>El verbo delata el nivel: «se protege» · «debe» · «hacé clic en» · «se recomienda».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spc="180">
                <a:solidFill>
                  <a:srgbClr val="0E9AA7"/>
                </a:solidFill>
                <a:latin typeface="Calibri"/>
              </a:rPr>
              <a:t>URUGUAY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0B1A2A"/>
                </a:solidFill>
                <a:latin typeface="Cambria"/>
              </a:rPr>
              <a:t>Tener política no es opcional: es obligación legal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82296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9202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B1A2A"/>
                </a:solidFill>
                <a:latin typeface="Calibri"/>
              </a:rPr>
              <a:t>Decreto 452/009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325880"/>
            <a:ext cx="548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E9AA7"/>
                </a:solidFill>
                <a:latin typeface="Calibri"/>
              </a:rPr>
              <a:t>2009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325880"/>
            <a:ext cx="52578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>
                <a:solidFill>
                  <a:srgbClr val="1F2D3D"/>
                </a:solidFill>
                <a:latin typeface="Calibri"/>
              </a:rPr>
              <a:t>Obliga a la Administración Central a adoptar una Política de Seguridad de la Información.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82296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9202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B1A2A"/>
                </a:solidFill>
                <a:latin typeface="Calibri"/>
              </a:rPr>
              <a:t>Decreto 66/025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103120"/>
            <a:ext cx="548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E9AA7"/>
                </a:solidFill>
                <a:latin typeface="Calibri"/>
              </a:rPr>
              <a:t>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103120"/>
            <a:ext cx="52578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>
                <a:solidFill>
                  <a:srgbClr val="1F2D3D"/>
                </a:solidFill>
                <a:latin typeface="Calibri"/>
              </a:rPr>
              <a:t>Responsable de Seguridad designado · adoptar el Marco · avisar al CERTuy en 24 horas · guardar logs 12 meses.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80360"/>
            <a:ext cx="82296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80360"/>
            <a:ext cx="19202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B1A2A"/>
                </a:solidFill>
                <a:latin typeface="Calibri"/>
              </a:rPr>
              <a:t>Ley N.º 18.331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880360"/>
            <a:ext cx="548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E9AA7"/>
                </a:solidFill>
                <a:latin typeface="Calibri"/>
              </a:rPr>
              <a:t>2008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880360"/>
            <a:ext cx="52578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>
                <a:solidFill>
                  <a:srgbClr val="1F2D3D"/>
                </a:solidFill>
                <a:latin typeface="Calibri"/>
              </a:rPr>
              <a:t>Protección de datos personales. Define los datos sensibles que vimos en la clase 2.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57600"/>
            <a:ext cx="82296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657600"/>
            <a:ext cx="19202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B1A2A"/>
                </a:solidFill>
                <a:latin typeface="Calibri"/>
              </a:rPr>
              <a:t>Ley N.º 20.327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657600"/>
            <a:ext cx="548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E9AA7"/>
                </a:solidFill>
                <a:latin typeface="Calibri"/>
              </a:rPr>
              <a:t>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657600"/>
            <a:ext cx="52578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>
                <a:solidFill>
                  <a:srgbClr val="1F2D3D"/>
                </a:solidFill>
                <a:latin typeface="Calibri"/>
              </a:rPr>
              <a:t>Delitos informáticos, incluido el acceso no autorizado. Está en nuestro acuerdo de uso responsable.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67C93"/>
                </a:solidFill>
                <a:latin typeface="Calibri"/>
              </a:rPr>
              <a:t>Entre 2025 y 2026 se dictaron decretos nuevos: verificá siempre la versión vigente en gub.uy.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spc="180">
                <a:solidFill>
                  <a:srgbClr val="0E9AA7"/>
                </a:solidFill>
                <a:latin typeface="Calibri"/>
              </a:rPr>
              <a:t>MARCO DE CIBERSEGURIDAD DEL URUGUAY · AGESIC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0B1A2A"/>
                </a:solidFill>
                <a:latin typeface="Cambria"/>
              </a:rPr>
              <a:t>Seis funciones, un ciclo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00200"/>
            <a:ext cx="1280160" cy="1371600"/>
          </a:xfrm>
          <a:prstGeom prst="roundRect">
            <a:avLst>
              <a:gd name="adj" fmla="val 8000"/>
            </a:avLst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0"/>
              </a:lnSpc>
            </a:pPr>
            <a:r>
              <a:rPr sz="1050" b="1">
                <a:solidFill>
                  <a:srgbClr val="FFFFFF"/>
                </a:solidFill>
                <a:latin typeface="Calibri"/>
              </a:rPr>
              <a:t>GOBERNAR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097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</a:pPr>
            <a:r>
              <a:rPr sz="950" b="0">
                <a:solidFill>
                  <a:srgbClr val="FFFFFF"/>
                </a:solidFill>
                <a:latin typeface="Calibri"/>
              </a:rPr>
              <a:t>quién decide y con qué política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E9AA7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47088" y="1600200"/>
            <a:ext cx="1280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38528" y="178308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0"/>
              </a:lnSpc>
            </a:pPr>
            <a:r>
              <a:rPr sz="1050" b="1">
                <a:solidFill>
                  <a:srgbClr val="0B1A2A"/>
                </a:solidFill>
                <a:latin typeface="Calibri"/>
              </a:rPr>
              <a:t>IDENTIFICAR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8528" y="2286000"/>
            <a:ext cx="1097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</a:pPr>
            <a:r>
              <a:rPr sz="950" b="0">
                <a:solidFill>
                  <a:srgbClr val="667C93"/>
                </a:solidFill>
                <a:latin typeface="Calibri"/>
              </a:rPr>
              <a:t>qué tengo y qué riesgo corre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214884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E9AA7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600200"/>
            <a:ext cx="1280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28416" y="178308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0"/>
              </a:lnSpc>
            </a:pPr>
            <a:r>
              <a:rPr sz="1050" b="1">
                <a:solidFill>
                  <a:srgbClr val="0B1A2A"/>
                </a:solidFill>
                <a:latin typeface="Calibri"/>
              </a:rPr>
              <a:t>PROTEGER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8416" y="2286000"/>
            <a:ext cx="1097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</a:pPr>
            <a:r>
              <a:rPr sz="950" b="0">
                <a:solidFill>
                  <a:srgbClr val="667C93"/>
                </a:solidFill>
                <a:latin typeface="Calibri"/>
              </a:rPr>
              <a:t>los controles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14884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E9AA7"/>
                </a:solidFill>
                <a:latin typeface="Calibr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26864" y="1600200"/>
            <a:ext cx="1280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18304" y="178308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0"/>
              </a:lnSpc>
            </a:pPr>
            <a:r>
              <a:rPr sz="1050" b="1">
                <a:solidFill>
                  <a:srgbClr val="0B1A2A"/>
                </a:solidFill>
                <a:latin typeface="Calibri"/>
              </a:rPr>
              <a:t>DETECTAR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8304" y="2286000"/>
            <a:ext cx="1097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</a:pPr>
            <a:r>
              <a:rPr sz="950" b="0">
                <a:solidFill>
                  <a:srgbClr val="667C93"/>
                </a:solidFill>
                <a:latin typeface="Calibri"/>
              </a:rPr>
              <a:t>darse cuenta a tiempo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7024" y="214884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E9AA7"/>
                </a:solidFill>
                <a:latin typeface="Calibri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16752" y="1600200"/>
            <a:ext cx="1280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08192" y="178308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0"/>
              </a:lnSpc>
            </a:pPr>
            <a:r>
              <a:rPr sz="1050" b="1">
                <a:solidFill>
                  <a:srgbClr val="0B1A2A"/>
                </a:solidFill>
                <a:latin typeface="Calibri"/>
              </a:rPr>
              <a:t>RESPONDER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2286000"/>
            <a:ext cx="1097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</a:pPr>
            <a:r>
              <a:rPr sz="950" b="0">
                <a:solidFill>
                  <a:srgbClr val="667C93"/>
                </a:solidFill>
                <a:latin typeface="Calibri"/>
              </a:rPr>
              <a:t>contener y erradicar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96912" y="214884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E9AA7"/>
                </a:solidFill>
                <a:latin typeface="Calibri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1600200"/>
            <a:ext cx="1280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79" y="178308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0"/>
              </a:lnSpc>
            </a:pPr>
            <a:r>
              <a:rPr sz="1050" b="1">
                <a:solidFill>
                  <a:srgbClr val="0B1A2A"/>
                </a:solidFill>
                <a:latin typeface="Calibri"/>
              </a:rPr>
              <a:t>RECUPERAR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2286000"/>
            <a:ext cx="1097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</a:pPr>
            <a:r>
              <a:rPr sz="950" b="0">
                <a:solidFill>
                  <a:srgbClr val="667C93"/>
                </a:solidFill>
                <a:latin typeface="Calibri"/>
              </a:rPr>
              <a:t>volver a operar y aprender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246120"/>
            <a:ext cx="8229600" cy="1005840"/>
          </a:xfrm>
          <a:prstGeom prst="roundRect">
            <a:avLst>
              <a:gd name="adj" fmla="val 10000"/>
            </a:avLst>
          </a:prstGeom>
          <a:solidFill>
            <a:srgbClr val="EAF6F6"/>
          </a:solidFill>
          <a:ln w="12700">
            <a:solidFill>
              <a:srgbClr val="BF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401568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100">
                <a:solidFill>
                  <a:srgbClr val="0E9AA7"/>
                </a:solidFill>
                <a:latin typeface="Calibri"/>
              </a:rPr>
              <a:t>Dónde vive la política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675887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00"/>
              </a:lnSpc>
            </a:pPr>
            <a:r>
              <a:rPr sz="1250" b="0">
                <a:solidFill>
                  <a:srgbClr val="1F2D3D"/>
                </a:solidFill>
                <a:latin typeface="Calibri"/>
              </a:rPr>
              <a:t>En Gobernar. Es la función que sostiene a las otras cinco: sin gobierno, proteger y detectar dependen de la buena voluntad de quien esté de turno.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67C93"/>
                </a:solidFill>
                <a:latin typeface="Calibri"/>
              </a:rPr>
              <a:t>Marco de Ciberseguridad, versión 5.0 · alineado con el marco del NIST.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spc="180">
                <a:solidFill>
                  <a:srgbClr val="0E9AA7"/>
                </a:solidFill>
                <a:latin typeface="Calibri"/>
              </a:rPr>
              <a:t>MARCO DE CIBERSEGURIDAD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0B1A2A"/>
                </a:solidFill>
                <a:latin typeface="Cambria"/>
              </a:rPr>
              <a:t>No se aprueba ni se reprueba: se mide la madurez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" y="1399032"/>
            <a:ext cx="365760" cy="365760"/>
          </a:xfrm>
          <a:prstGeom prst="ellipse">
            <a:avLst/>
          </a:prstGeom>
          <a:solidFill>
            <a:srgbClr val="0B1A2A"/>
          </a:solidFill>
          <a:ln w="12700">
            <a:solidFill>
              <a:srgbClr val="0B1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990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325880"/>
            <a:ext cx="2743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B1A2A"/>
                </a:solidFill>
                <a:latin typeface="Calibri"/>
              </a:rPr>
              <a:t>Sin medidas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325880"/>
            <a:ext cx="45720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F2D3D"/>
                </a:solidFill>
                <a:latin typeface="Calibri"/>
              </a:rPr>
              <a:t>No hay nada, ni siquiera responsable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4360" y="1993392"/>
            <a:ext cx="365760" cy="365760"/>
          </a:xfrm>
          <a:prstGeom prst="ellipse">
            <a:avLst/>
          </a:prstGeom>
          <a:solidFill>
            <a:srgbClr val="0B1A2A"/>
          </a:solidFill>
          <a:ln w="12700">
            <a:solidFill>
              <a:srgbClr val="0B1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9339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920240"/>
            <a:ext cx="2743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B1A2A"/>
                </a:solidFill>
                <a:latin typeface="Calibri"/>
              </a:rPr>
              <a:t>Iniciativas aisladas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920240"/>
            <a:ext cx="45720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F2D3D"/>
                </a:solidFill>
                <a:latin typeface="Calibri"/>
              </a:rPr>
              <a:t>Alguien hace algo por su cuenta. Si se va, se va todo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14600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4360" y="2587752"/>
            <a:ext cx="365760" cy="36576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58775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514600"/>
            <a:ext cx="2743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B1A2A"/>
                </a:solidFill>
                <a:latin typeface="Calibri"/>
              </a:rPr>
              <a:t>Responsabilidades definidas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514600"/>
            <a:ext cx="45720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F2D3D"/>
                </a:solidFill>
                <a:latin typeface="Calibri"/>
              </a:rPr>
              <a:t>Hay roles asignados y documentos escritos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108960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4360" y="3182112"/>
            <a:ext cx="365760" cy="36576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1821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108960"/>
            <a:ext cx="2743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B1A2A"/>
                </a:solidFill>
                <a:latin typeface="Calibri"/>
              </a:rPr>
              <a:t>Formalización y métricas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108960"/>
            <a:ext cx="45720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F2D3D"/>
                </a:solidFill>
                <a:latin typeface="Calibri"/>
              </a:rPr>
              <a:t>Se cumple, se mide y se puede demostrar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03320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4360" y="3776472"/>
            <a:ext cx="365760" cy="36576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7764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3703320"/>
            <a:ext cx="2743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B1A2A"/>
                </a:solidFill>
                <a:latin typeface="Calibri"/>
              </a:rPr>
              <a:t>Mejora continua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3703320"/>
            <a:ext cx="45720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F2D3D"/>
                </a:solidFill>
                <a:latin typeface="Calibri"/>
              </a:rPr>
              <a:t>Se revisa y se ajusta solo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67C93"/>
                </a:solidFill>
                <a:latin typeface="Calibri"/>
              </a:rPr>
              <a:t>Tres perfiles —Básico, Estándar y Avanzado— definen qué se le exige a cada organismo. Misma lógica que la clase 2: no hay jerarquía universal.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5156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180">
                <a:solidFill>
                  <a:srgbClr val="8FA6BE"/>
                </a:solidFill>
                <a:latin typeface="Calibri"/>
              </a:rPr>
              <a:t>EL DATO INCÓMODO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0" b="1">
                <a:solidFill>
                  <a:srgbClr val="0E9AA7"/>
                </a:solidFill>
                <a:latin typeface="Cambria"/>
              </a:rPr>
              <a:t>10 de 244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1554480"/>
            <a:ext cx="46634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00"/>
              </a:lnSpc>
              <a:spcAft>
                <a:spcPts val="600"/>
              </a:spcAft>
            </a:pPr>
            <a:r>
              <a:rPr sz="1400" b="0">
                <a:solidFill>
                  <a:srgbClr val="C9D8E8"/>
                </a:solidFill>
                <a:latin typeface="Calibri"/>
              </a:rPr>
              <a:t>organismos públicos relevados declaraban cumplimiento total del decreto de ciberseguridad,</a:t>
            </a:r>
          </a:p>
          <a:p>
            <a:pPr algn="l">
              <a:lnSpc>
                <a:spcPts val="2000"/>
              </a:lnSpc>
              <a:spcAft>
                <a:spcPts val="600"/>
              </a:spcAft>
            </a:pPr>
            <a:r>
              <a:rPr sz="1400" b="0">
                <a:solidFill>
                  <a:srgbClr val="C9D8E8"/>
                </a:solidFill>
                <a:latin typeface="Calibri"/>
              </a:rPr>
              <a:t>según información de AGESIC difundida en 2026.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971800"/>
            <a:ext cx="54864" cy="100584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7498079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00"/>
              </a:lnSpc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Volvé a leer la lista de filtraciones de la clase 2 con ese número en la cabeza.</a:t>
            </a:r>
          </a:p>
          <a:p>
            <a:pPr algn="l">
              <a:lnSpc>
                <a:spcPts val="2000"/>
              </a:lnSpc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No fueron ataques sofisticados contra defensas modernas: fueron organismos sin política, sin responsable y sin madurez.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spc="180">
                <a:solidFill>
                  <a:srgbClr val="0E9AA7"/>
                </a:solidFill>
                <a:latin typeface="Calibri"/>
              </a:rPr>
              <a:t>ANATOMÍA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0B1A2A"/>
                </a:solidFill>
                <a:latin typeface="Cambria"/>
              </a:rPr>
              <a:t>Siete partes. Si falta una, no se puede aplicar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1929384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B1A2A"/>
                </a:solidFill>
                <a:latin typeface="Calibri"/>
              </a:rPr>
              <a:t>Objetivo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47672"/>
            <a:ext cx="1563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0">
                <a:solidFill>
                  <a:srgbClr val="667C93"/>
                </a:solidFill>
                <a:latin typeface="Calibri"/>
              </a:rPr>
              <a:t>Para qué existe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9464" y="1417320"/>
            <a:ext cx="1929384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52344" y="160020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B1A2A"/>
                </a:solidFill>
                <a:latin typeface="Calibri"/>
              </a:rPr>
              <a:t>Alcance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52344" y="1947672"/>
            <a:ext cx="1563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0">
                <a:solidFill>
                  <a:srgbClr val="667C93"/>
                </a:solidFill>
                <a:latin typeface="Calibri"/>
              </a:rPr>
              <a:t>A quién aplica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81728" y="1417320"/>
            <a:ext cx="1929384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64608" y="160020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B1A2A"/>
                </a:solidFill>
                <a:latin typeface="Calibri"/>
              </a:rPr>
              <a:t>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8" y="1947672"/>
            <a:ext cx="1563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0">
                <a:solidFill>
                  <a:srgbClr val="667C93"/>
                </a:solidFill>
                <a:latin typeface="Calibri"/>
              </a:rPr>
              <a:t>Quién responde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93992" y="1417320"/>
            <a:ext cx="1929384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76872" y="160020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B1A2A"/>
                </a:solidFill>
                <a:latin typeface="Calibri"/>
              </a:rPr>
              <a:t>Reglas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6872" y="1947672"/>
            <a:ext cx="1563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0">
                <a:solidFill>
                  <a:srgbClr val="667C93"/>
                </a:solidFill>
                <a:latin typeface="Calibri"/>
              </a:rPr>
              <a:t>Qué se debe y qué no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06040"/>
            <a:ext cx="2633472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788920"/>
            <a:ext cx="226771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B1A2A"/>
                </a:solidFill>
                <a:latin typeface="Calibri"/>
              </a:rPr>
              <a:t>Incumplimiento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136392"/>
            <a:ext cx="22677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0">
                <a:solidFill>
                  <a:srgbClr val="667C93"/>
                </a:solidFill>
                <a:latin typeface="Calibri"/>
              </a:rPr>
              <a:t>Qué pasa si no se cumple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73552" y="2606040"/>
            <a:ext cx="2633472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788920"/>
            <a:ext cx="226771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B1A2A"/>
                </a:solidFill>
                <a:latin typeface="Calibri"/>
              </a:rPr>
              <a:t>Vigencia y revisión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3136392"/>
            <a:ext cx="22677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0">
                <a:solidFill>
                  <a:srgbClr val="667C93"/>
                </a:solidFill>
                <a:latin typeface="Calibri"/>
              </a:rPr>
              <a:t>Desde cuándo y cada cuánto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9904" y="2606040"/>
            <a:ext cx="2633472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4" y="2788920"/>
            <a:ext cx="226771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B1A2A"/>
                </a:solidFill>
                <a:latin typeface="Calibri"/>
              </a:rPr>
              <a:t>Aprobación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2784" y="3136392"/>
            <a:ext cx="22677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0">
                <a:solidFill>
                  <a:srgbClr val="667C93"/>
                </a:solidFill>
                <a:latin typeface="Calibri"/>
              </a:rPr>
              <a:t>Quién la firma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0000"/>
            </a:avLst>
          </a:prstGeom>
          <a:solidFill>
            <a:srgbClr val="FCF4E7"/>
          </a:solidFill>
          <a:ln w="12700">
            <a:solidFill>
              <a:srgbClr val="F0DD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840480"/>
            <a:ext cx="76809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1F2D3D"/>
                </a:solidFill>
                <a:latin typeface="Calibri"/>
              </a:rPr>
              <a:t>Sin consecuencias del incumplimiento, una política es una sugerencia. Sin aprobación, no obliga a nadie.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spc="180">
                <a:solidFill>
                  <a:srgbClr val="0E9AA7"/>
                </a:solidFill>
                <a:latin typeface="Calibri"/>
              </a:rPr>
              <a:t>REDACCIÓN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0B1A2A"/>
                </a:solidFill>
                <a:latin typeface="Cambria"/>
              </a:rPr>
              <a:t>Una regla sirve cuando se puede ir a mirar si se cumple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spc="120">
                <a:solidFill>
                  <a:srgbClr val="D4504E"/>
                </a:solidFill>
                <a:latin typeface="Calibri"/>
              </a:rPr>
              <a:t>NO SIRVE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298448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spc="120">
                <a:solidFill>
                  <a:srgbClr val="0E9AA7"/>
                </a:solidFill>
                <a:latin typeface="Calibri"/>
              </a:rPr>
              <a:t>SIRVE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3977639" cy="822960"/>
          </a:xfrm>
          <a:prstGeom prst="roundRect">
            <a:avLst>
              <a:gd name="adj" fmla="val 8000"/>
            </a:avLst>
          </a:prstGeom>
          <a:solidFill>
            <a:srgbClr val="FAECEC"/>
          </a:solidFill>
          <a:ln w="12700">
            <a:solidFill>
              <a:srgbClr val="EFC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3520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>
                <a:solidFill>
                  <a:srgbClr val="1F2D3D"/>
                </a:solidFill>
                <a:latin typeface="Calibri"/>
              </a:rPr>
              <a:t>«Los docentes deben cuidar sus contraseñas.»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600200"/>
            <a:ext cx="3977639" cy="822960"/>
          </a:xfrm>
          <a:prstGeom prst="roundRect">
            <a:avLst>
              <a:gd name="adj" fmla="val 8000"/>
            </a:avLst>
          </a:prstGeom>
          <a:solidFill>
            <a:srgbClr val="EAF6F6"/>
          </a:solidFill>
          <a:ln w="12700">
            <a:solidFill>
              <a:srgbClr val="BF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600200"/>
            <a:ext cx="3520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>
                <a:solidFill>
                  <a:srgbClr val="1F2D3D"/>
                </a:solidFill>
                <a:latin typeface="Calibri"/>
              </a:rPr>
              <a:t>Cada docente usa una cuenta personal e intransferible. Las cuentas compartidas están prohibidas.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60320"/>
            <a:ext cx="3977639" cy="822960"/>
          </a:xfrm>
          <a:prstGeom prst="roundRect">
            <a:avLst>
              <a:gd name="adj" fmla="val 8000"/>
            </a:avLst>
          </a:prstGeom>
          <a:solidFill>
            <a:srgbClr val="FAECEC"/>
          </a:solidFill>
          <a:ln w="12700">
            <a:solidFill>
              <a:srgbClr val="EFC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60320"/>
            <a:ext cx="3520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>
                <a:solidFill>
                  <a:srgbClr val="1F2D3D"/>
                </a:solidFill>
                <a:latin typeface="Calibri"/>
              </a:rPr>
              <a:t>«Se harán respaldos periódicos.»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2560320"/>
            <a:ext cx="3977639" cy="822960"/>
          </a:xfrm>
          <a:prstGeom prst="roundRect">
            <a:avLst>
              <a:gd name="adj" fmla="val 8000"/>
            </a:avLst>
          </a:prstGeom>
          <a:solidFill>
            <a:srgbClr val="EAF6F6"/>
          </a:solidFill>
          <a:ln w="12700">
            <a:solidFill>
              <a:srgbClr val="BF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2560320"/>
            <a:ext cx="3520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>
                <a:solidFill>
                  <a:srgbClr val="1F2D3D"/>
                </a:solidFill>
                <a:latin typeface="Calibri"/>
              </a:rPr>
              <a:t>El servidor se respalda todos los días a las 20:00 en un medio desconectado, y una vez por mes se prueba la restauración.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20440"/>
            <a:ext cx="3977639" cy="822960"/>
          </a:xfrm>
          <a:prstGeom prst="roundRect">
            <a:avLst>
              <a:gd name="adj" fmla="val 8000"/>
            </a:avLst>
          </a:prstGeom>
          <a:solidFill>
            <a:srgbClr val="FAECEC"/>
          </a:solidFill>
          <a:ln w="12700">
            <a:solidFill>
              <a:srgbClr val="EFC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520440"/>
            <a:ext cx="3520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>
                <a:solidFill>
                  <a:srgbClr val="1F2D3D"/>
                </a:solidFill>
                <a:latin typeface="Calibri"/>
              </a:rPr>
              <a:t>«Se reportarán los incidentes.»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3520440"/>
            <a:ext cx="3977639" cy="822960"/>
          </a:xfrm>
          <a:prstGeom prst="roundRect">
            <a:avLst>
              <a:gd name="adj" fmla="val 8000"/>
            </a:avLst>
          </a:prstGeom>
          <a:solidFill>
            <a:srgbClr val="EAF6F6"/>
          </a:solidFill>
          <a:ln w="12700">
            <a:solidFill>
              <a:srgbClr val="BF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3520440"/>
            <a:ext cx="3520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>
                <a:solidFill>
                  <a:srgbClr val="1F2D3D"/>
                </a:solidFill>
                <a:latin typeface="Calibri"/>
              </a:rPr>
              <a:t>Todo incidente se avisa el mismo día. Avisar de buena fe nunca es motivo de sanción.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67C93"/>
                </a:solidFill>
                <a:latin typeface="Calibri"/>
              </a:rPr>
              <a:t>Lo que tienen en común las de la derecha: sujeto, acción, plazo y algo que se puede verificar.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spc="180">
                <a:solidFill>
                  <a:srgbClr val="0E9AA7"/>
                </a:solidFill>
                <a:latin typeface="Calibri"/>
              </a:rPr>
              <a:t>ERRORES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0B1A2A"/>
                </a:solidFill>
                <a:latin typeface="Cambria"/>
              </a:rPr>
              <a:t>Seis maneras de tener una política inútil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3977639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563624"/>
            <a:ext cx="402336" cy="402336"/>
          </a:xfrm>
          <a:prstGeom prst="ellipse">
            <a:avLst/>
          </a:prstGeom>
          <a:solidFill>
            <a:srgbClr val="D4504E"/>
          </a:solidFill>
          <a:ln w="12700">
            <a:solidFill>
              <a:srgbClr val="D45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6362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453895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B1A2A"/>
                </a:solidFill>
                <a:latin typeface="Calibri"/>
              </a:rPr>
              <a:t>La política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1746504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00"/>
              </a:lnSpc>
            </a:pPr>
            <a:r>
              <a:rPr sz="1050" b="0">
                <a:solidFill>
                  <a:srgbClr val="667C93"/>
                </a:solidFill>
                <a:latin typeface="Calibri"/>
              </a:rPr>
              <a:t>Existe, está firmada y nadie la leyó jamás.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325880"/>
            <a:ext cx="3977639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92040" y="1563624"/>
            <a:ext cx="402336" cy="402336"/>
          </a:xfrm>
          <a:prstGeom prst="ellipse">
            <a:avLst/>
          </a:prstGeom>
          <a:solidFill>
            <a:srgbClr val="D4504E"/>
          </a:solidFill>
          <a:ln w="12700">
            <a:solidFill>
              <a:srgbClr val="D45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56362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2392" y="1453895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B1A2A"/>
                </a:solidFill>
                <a:latin typeface="Calibri"/>
              </a:rPr>
              <a:t>La política copiada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2392" y="1746504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00"/>
              </a:lnSpc>
            </a:pPr>
            <a:r>
              <a:rPr sz="1050" b="0">
                <a:solidFill>
                  <a:srgbClr val="667C93"/>
                </a:solidFill>
                <a:latin typeface="Calibri"/>
              </a:rPr>
              <a:t>De otra organización, con el nombre cambiado. Habla de sucursales que no existen.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59152"/>
            <a:ext cx="3977639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596896"/>
            <a:ext cx="402336" cy="402336"/>
          </a:xfrm>
          <a:prstGeom prst="ellipse">
            <a:avLst/>
          </a:prstGeom>
          <a:solidFill>
            <a:srgbClr val="D4504E"/>
          </a:solidFill>
          <a:ln w="12700">
            <a:solidFill>
              <a:srgbClr val="D45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9689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248716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B1A2A"/>
                </a:solidFill>
                <a:latin typeface="Calibri"/>
              </a:rPr>
              <a:t>La política imposible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2779776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00"/>
              </a:lnSpc>
            </a:pPr>
            <a:r>
              <a:rPr sz="1050" b="0">
                <a:solidFill>
                  <a:srgbClr val="667C93"/>
                </a:solidFill>
                <a:latin typeface="Calibri"/>
              </a:rPr>
              <a:t>Exige lo que nadie puede cumplir. Enseña que las reglas son decorativas.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2359152"/>
            <a:ext cx="3977639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92040" y="2596896"/>
            <a:ext cx="402336" cy="402336"/>
          </a:xfrm>
          <a:prstGeom prst="ellipse">
            <a:avLst/>
          </a:prstGeom>
          <a:solidFill>
            <a:srgbClr val="D4504E"/>
          </a:solidFill>
          <a:ln w="12700">
            <a:solidFill>
              <a:srgbClr val="D45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259689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2392" y="248716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B1A2A"/>
                </a:solidFill>
                <a:latin typeface="Calibri"/>
              </a:rPr>
              <a:t>Sin dueño ni fecha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2392" y="2779776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00"/>
              </a:lnSpc>
            </a:pPr>
            <a:r>
              <a:rPr sz="1050" b="0">
                <a:solidFill>
                  <a:srgbClr val="667C93"/>
                </a:solidFill>
                <a:latin typeface="Calibri"/>
              </a:rPr>
              <a:t>Nadie la mantiene y adentro figura un sistema que se dejó de usar en 2021.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392424"/>
            <a:ext cx="3977639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" y="3630168"/>
            <a:ext cx="402336" cy="402336"/>
          </a:xfrm>
          <a:prstGeom prst="ellipse">
            <a:avLst/>
          </a:prstGeom>
          <a:solidFill>
            <a:srgbClr val="D4504E"/>
          </a:solidFill>
          <a:ln w="12700">
            <a:solidFill>
              <a:srgbClr val="D45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630168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3520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B1A2A"/>
                </a:solidFill>
                <a:latin typeface="Calibri"/>
              </a:rPr>
              <a:t>Sanciona sin avisar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3813048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00"/>
              </a:lnSpc>
            </a:pPr>
            <a:r>
              <a:rPr sz="1050" b="0">
                <a:solidFill>
                  <a:srgbClr val="667C93"/>
                </a:solidFill>
                <a:latin typeface="Calibri"/>
              </a:rPr>
              <a:t>Se aplica una consecuencia que la persona no podía conocer.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09160" y="3392424"/>
            <a:ext cx="3977639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92040" y="3630168"/>
            <a:ext cx="402336" cy="402336"/>
          </a:xfrm>
          <a:prstGeom prst="ellipse">
            <a:avLst/>
          </a:prstGeom>
          <a:solidFill>
            <a:srgbClr val="D4504E"/>
          </a:solidFill>
          <a:ln w="12700">
            <a:solidFill>
              <a:srgbClr val="D45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92040" y="3630168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22392" y="3520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B1A2A"/>
                </a:solidFill>
                <a:latin typeface="Calibri"/>
              </a:rPr>
              <a:t>Confundida con una herramienta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22392" y="3813048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00"/>
              </a:lnSpc>
            </a:pPr>
            <a:r>
              <a:rPr sz="1050" b="0">
                <a:solidFill>
                  <a:srgbClr val="667C93"/>
                </a:solidFill>
                <a:latin typeface="Calibri"/>
              </a:rPr>
              <a:t>«Nuestra política de seguridad es el antivirus.»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spc="180">
                <a:solidFill>
                  <a:srgbClr val="0E9AA7"/>
                </a:solidFill>
                <a:latin typeface="Calibri"/>
              </a:rPr>
              <a:t>PARA LA PRÓXIMA CLASE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0B1A2A"/>
                </a:solidFill>
                <a:latin typeface="Cambria"/>
              </a:rPr>
              <a:t>Qué te llevás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56032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572768"/>
            <a:ext cx="457200" cy="4572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14884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</a:pPr>
            <a:r>
              <a:rPr sz="1250" b="1">
                <a:solidFill>
                  <a:srgbClr val="0B1A2A"/>
                </a:solidFill>
                <a:latin typeface="Calibri"/>
              </a:rPr>
              <a:t>Los principios son viejos y siguen mandando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974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0">
                <a:solidFill>
                  <a:srgbClr val="667C93"/>
                </a:solidFill>
                <a:latin typeface="Calibri"/>
              </a:rPr>
              <a:t>Ocho criterios de 1975 explican casi todos los casos que vimos.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371600"/>
            <a:ext cx="256032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47872" y="1572768"/>
            <a:ext cx="457200" cy="4572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157276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14884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</a:pPr>
            <a:r>
              <a:rPr sz="1250" b="1">
                <a:solidFill>
                  <a:srgbClr val="0B1A2A"/>
                </a:solidFill>
                <a:latin typeface="Calibri"/>
              </a:rPr>
              <a:t>La defensa se piensa en capas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6974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0">
                <a:solidFill>
                  <a:srgbClr val="667C93"/>
                </a:solidFill>
                <a:latin typeface="Calibri"/>
              </a:rPr>
              <a:t>Independientes y que fallen distinto. No es comprar productos.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371600"/>
            <a:ext cx="256032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82512" y="1572768"/>
            <a:ext cx="457200" cy="4572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57276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14884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</a:pPr>
            <a:r>
              <a:rPr sz="1250" b="1">
                <a:solidFill>
                  <a:srgbClr val="0B1A2A"/>
                </a:solidFill>
                <a:latin typeface="Calibri"/>
              </a:rPr>
              <a:t>La política convierte el criterio en obligación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6974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0">
                <a:solidFill>
                  <a:srgbClr val="667C93"/>
                </a:solidFill>
                <a:latin typeface="Calibri"/>
              </a:rPr>
              <a:t>Escrita, firmada, verificable y con alguien que responda.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11880"/>
            <a:ext cx="8229600" cy="45720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749039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B1A2A"/>
                </a:solidFill>
                <a:latin typeface="Calibri"/>
              </a:rPr>
              <a:t>Actividad 3 · Redactar una política de seguridad  —  en grupos, con auditoría cruzada entre equipos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Autoevaluación · 10 preguntas con respuestas explicadas, no lleva nota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E9AA7"/>
                </a:solidFill>
                <a:latin typeface="Calibri"/>
              </a:rPr>
              <a:t>Clase 4 · Amenazas I: malware, ransomware y phishing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0B1A2A"/>
                </a:solidFill>
                <a:latin typeface="Cambria"/>
              </a:rPr>
              <a:t>Fuentes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>
                <a:solidFill>
                  <a:srgbClr val="1F2D3D"/>
                </a:solidFill>
                <a:latin typeface="Calibri"/>
              </a:rPr>
              <a:t>Saltzer, J. H. y Schroeder, M. D. (1975). The Protection of Information in Computer Systems. Proceedings of the IEEE, 63(9).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73936"/>
            <a:ext cx="8229600" cy="9144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10512"/>
            <a:ext cx="8229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>
                <a:solidFill>
                  <a:srgbClr val="1F2D3D"/>
                </a:solidFill>
                <a:latin typeface="Calibri"/>
              </a:rPr>
              <a:t>AGESIC. Marco de Ciberseguridad, versión 5.0. gub.uy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12848"/>
            <a:ext cx="8229600" cy="9144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49424"/>
            <a:ext cx="8229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>
                <a:solidFill>
                  <a:srgbClr val="1F2D3D"/>
                </a:solidFill>
                <a:latin typeface="Calibri"/>
              </a:rPr>
              <a:t>Decreto N.º 452/009 · Política de Seguridad de la Información para Organismos de la Administración Central.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8229600" cy="9144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688336"/>
            <a:ext cx="8229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>
                <a:solidFill>
                  <a:srgbClr val="1F2D3D"/>
                </a:solidFill>
                <a:latin typeface="Calibri"/>
              </a:rPr>
              <a:t>Decreto N.º 66/025 · Seguridad de la información: responsable, notificación de incidentes y registros.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90672"/>
            <a:ext cx="8229600" cy="9144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127248"/>
            <a:ext cx="8229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>
                <a:solidFill>
                  <a:srgbClr val="1F2D3D"/>
                </a:solidFill>
                <a:latin typeface="Calibri"/>
              </a:rPr>
              <a:t>Ley N.º 18.331 de Protección de Datos Personales · Ley N.º 20.327 de delitos informáticos.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29584"/>
            <a:ext cx="8229600" cy="9144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566160"/>
            <a:ext cx="8229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>
                <a:solidFill>
                  <a:srgbClr val="1F2D3D"/>
                </a:solidFill>
                <a:latin typeface="Calibri"/>
              </a:rPr>
              <a:t>NIST. Cybersecurity Framework 2.0 (2024), del que toma su estructura el marco uruguayo.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68496"/>
            <a:ext cx="8229600" cy="9144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67C93"/>
                </a:solidFill>
                <a:latin typeface="Calibri"/>
              </a:rPr>
              <a:t>La normativa uruguaya de ciberseguridad está cambiando rápido. Antes de citar un número en un trabajo, verificá la versión vigente y anotá la fecha de consulta.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