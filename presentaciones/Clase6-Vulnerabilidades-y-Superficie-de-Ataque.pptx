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73" r:id="rId25"/>
    <p:sldId id="260" r:id="rId12"/>
    <p:sldId id="261" r:id="rId13"/>
    <p:sldId id="274" r:id="rId26"/>
    <p:sldId id="262" r:id="rId14"/>
    <p:sldId id="263" r:id="rId15"/>
    <p:sldId id="264" r:id="rId16"/>
    <p:sldId id="275" r:id="rId27"/>
    <p:sldId id="265" r:id="rId17"/>
    <p:sldId id="276" r:id="rId28"/>
    <p:sldId id="266" r:id="rId18"/>
    <p:sldId id="277" r:id="rId29"/>
    <p:sldId id="267" r:id="rId19"/>
    <p:sldId id="278" r:id="rId30"/>
    <p:sldId id="268" r:id="rId20"/>
    <p:sldId id="279" r:id="rId31"/>
    <p:sldId id="269" r:id="rId21"/>
    <p:sldId id="280" r:id="rId32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sobre el contenido 1.3. Se ven cinco fallas frecuentes de las aplicaciones web, cada una con el codigo que la abre y el patron que la cierra. Nivel introductorio; no se memoriza sintaxis: se reconoce la falla y se aplica el patron. Cierra con el laboratorio Romperla y arreglarla, primera evaluacion formativa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palabras a separar y el error de fondo que comparten las cinco fallas.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Separar los tres terminos. El trabajo de defensa esta casi todo en la columna del medio: la vulnerabilidad. Un patron es una solucion probada a un problema que se repite.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CWE nombra el TIPO de debilidad (la familia), no un producto concreto. Aprender estas cinco cubre buena parte de lo que se explota en la practica.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entrada es un lugar donde probar un ataque. La consigna es doble: menos entradas y cero confianza en las que quedan.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idea que unifica la clase. Conviene volver a ella despues de ver las cinco fallas.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falla: que es, el codigo que la abre y el patron que la cierra, uno al lado del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ataque clasico: escribir ' OR '1'='1' en la cedula para entrar sin contraseña. Con parametros, ese texto se busca como una cedula literal, no existe y no entra nadie.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error es el mismo que la inyeccion SQL, en otro idioma: alla era SQL, aca es HTML. Se arregla donde se MUESTRA el dato, no donde se recibe.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mas silencioso: el codigo 'funciona', muestra un boletin, no da error. Autenticar (saber quien sos) no es autorizar (saber que podes ver). Es el minimo privilegio de la clase 3, en 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../conexion.php se descarga el archivo de conexion, con la clave de la base adentro. Lista blanca (decir que SI se permite) le gana a lista negra (prohibir lo malo).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MD5 es rapido y sin sal: su resultado esta en cualquier tabla y se revierte al instante. password_hash usa bcrypt: lento a proposito y con sal distinta para cada uno. Nunca se inventa el guardado de contraseñas.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clase entera en una tabla. El concepto es uno solo; los patrones son como se escribe en cada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tropiezos mas comunes al aplicar los patrones.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actividad esta en el repositorio (actividades/06-romper-y-arreglar.md). El codigo vulnerable y el seguro los prepara el docente en la sala; no van al repositorio publico.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Sintesis y fuentes. Lo que viene: clase 6B, inyeccion SQL a fondo sobre el proyecto de e-commerce.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sin código para quien no programa. La casa permite separar las tres palabras antes de verlas en una aplicación. Preguntar al grupo: ¿sobre cuál de las tres puede actuar el dueño? Solo sobre la ventana.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entrada del liceo corresponde a una entrada de la aplicación del laboratorio. Las cuatro filas adelantan las fallas que siguen: login (inyección SQL), carpetas numeradas (IDOR), buzón (XSS), fotocopiadora (salto de directorio).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portero es la base de datos: cumple la orden completa tal como queda escrita. «o dejar pasar a cualquiera» cumple el mismo papel que OR '1'='1': agrega una condición que siempre se cumple. La casilla aparte es el marcador ? de la consulta parametrizada.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actor es el navegador: lo que está entre paréntesis lo ejecuta, no lo lee. En HTML, los «paréntesis» son los signos &lt; y &gt; de las etiquetas. htmlspecialchars los convierte en texto que se muestra, no que se ejecuta.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carné es iniciar sesión. El número de carpeta es el id de la dirección. El error es controlar quién es la persona, pero no qué puede pedir: autenticar no es autorizar.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estante público es la carpeta archivos/. «Volver al pasillo» es ../, que en una ruta significa subir una carpeta. La carpeta de claves es conexion.php. La lista impresa es la lista blanca.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licuado es el hash: fácil de hacer, imposible de deshacer. MD5 es un licuado instantáneo y siempre igual, por eso existen catálogos (tablas) con millones de resultados ya calculados. password_hash agrega sal (un ingrediente distinto por persona) y es lento a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Repaso de las cinco analogías. Sirve como cierre antes de los errores frecuentes o como pregunta oral: se dice el ejemplo y el grupo nombra la falla y el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FFFFFF"/>
                </a:solidFill>
                <a:latin typeface="Calibri"/>
                <a:cs typeface="Calibri"/>
              </a:rPr>
              <a:t>Vulnerabilidades y cómo se cierran en el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Seguridad en aplicaciones web · Clase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CCDE"/>
                </a:solidFill>
                <a:latin typeface="Calibri"/>
                <a:cs typeface="Calibri"/>
              </a:rPr>
              <a:t>Ciberseguridad · 3.º Bachillerato Tecnológico · Tecnologías de la Información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Contenidos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Amenaza, vulnerabilidad y patrón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Cómo se nombran las debilidades: CWE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Superficie de ataque de una aplicación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El error de fondo: confiar en lo que llega de afuera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Cinco fallas frecuentes y el patrón que cierra cada una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El laboratorio: Romperla y arreglarla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Amenaza, vulnerabilidad y patrón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371600"/>
          <a:ext cx="10424160" cy="2788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2062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Palabra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Qué es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Ejemplo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Amenaza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Quién o qué podría atacar.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Alguien que quiere entrar sin contraseña.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Vulnerabilidad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 debilidad que lo permite.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El login une la cédula al texto SQL.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Patrón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 forma conocida de cerrarla.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Usar una consulta parametrizada.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434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222222"/>
                </a:solidFill>
                <a:latin typeface="Calibri"/>
                <a:cs typeface="Calibri"/>
              </a:rPr>
              <a:t>De las tres, la vulnerabilidad es la única sobre la que se actúa directamente: no se elige quién ataca, pero sí cómo se escribe el código.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Cómo se nombran: CWE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222222"/>
                </a:solidFill>
                <a:latin typeface="Calibri"/>
                <a:cs typeface="Calibri"/>
              </a:rPr>
              <a:t>CWE (Common Weakness Enumeration) es un catálogo internacional de tipos de debilidad de software.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057400"/>
          <a:ext cx="1042416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393192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CWE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 una frase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CWE-89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Inyección SQL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Datos del usuario terminan siendo órdenes para la base.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CWE-79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Cross-site scripting (XSS)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Texto del usuario termina siendo código en el navegador.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CWE-639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Referencia insegura (IDOR)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Cambiando un número en la URL se accede a lo ajeno.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CWE-22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Salto de directorio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Con ../ se llega a archivos que no correspondían.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CWE-916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Hash de contraseña débil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Las contraseñas se guardan de una forma que se rompe fácil.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A"/>
                </a:solidFill>
                <a:latin typeface="Calibri"/>
                <a:cs typeface="Calibri"/>
              </a:rPr>
              <a:t>Las cinco están entre las más frecuentes del catálogo SANS/CWE Top 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Superficie de ataque de una aplicación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B3A6E"/>
                </a:solidFill>
                <a:latin typeface="Calibri"/>
                <a:cs typeface="Calibri"/>
              </a:rPr>
              <a:t>Definición.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Es el conjunto de todos los puntos por los que entra información a la aplicación desde afuera.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Los campos de un formulario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(la cédula y la contraseña del login)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Los parámetros de la dirección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(boletin.php?id=3)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El término del buscador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El nombre de un archivo a descargar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Reducir la superficie es tener menos entradas y, sobre todo, no confiar en ninguna.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El error de fondo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Las cinco fallas de esta clase parecen distintas, pero abajo son el mismo error: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10424160" cy="1097280"/>
          </a:xfrm>
          <a:prstGeom prst="roundRect">
            <a:avLst/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3A6E"/>
                </a:solidFill>
                <a:latin typeface="Calibri"/>
                <a:cs typeface="Calibri"/>
              </a:rPr>
              <a:t>El programa confía en que lo que llega de afuera es lo que espera.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Regla única: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todo dato que entra se valida, se trata como dato (nunca como orden) y se controla que quien lo manda tenga permiso. Los cinco patrones que siguen son esa regla, aplicada en cinco lugares distintos.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Las cinco fallas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1 · Inyección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Qué es.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un dato del usuario se une al texto de la consulta y la base lo interpreta como parte de la orden.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El patrón.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consulta parametrizada. El dato viaja por un marcador (?), nunca pegado al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login.php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... WHERE cedula = </a:t>
            </a:r>
            <a:r>
              <a:rPr sz="1450" b="1">
                <a:solidFill>
                  <a:srgbClr val="B0362F"/>
                </a:solidFill>
                <a:latin typeface="Consolas"/>
                <a:cs typeface="Consolas"/>
              </a:rPr>
              <a:t>'$cedula'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0972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4290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$stmt = $db-&gt;prepare(</a:t>
            </a: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"... WHERE cedula = ?"</a:t>
            </a: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$stmt-&gt;execute([$cedula]);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154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2 · XSS (código en el navegador)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Qué es.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un texto del usuario se muestra sin procesar y el navegador lo ejecuta como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El patrón.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codificación de salida. Antes de mostrar el dato, se escapa con htmlspecialchars.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buscar.php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&lt;h2&gt;Resultados: </a:t>
            </a:r>
            <a:r>
              <a:rPr sz="1450" b="1">
                <a:solidFill>
                  <a:srgbClr val="B0362F"/>
                </a:solidFill>
                <a:latin typeface="Consolas"/>
                <a:cs typeface="Consolas"/>
              </a:rPr>
              <a:t>&lt;?= $q ?&gt;</a:t>
            </a: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&lt;/h2&gt;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0972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4290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&lt;h2&gt;Resultados: </a:t>
            </a: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&lt;?= h($q) ?&gt;</a:t>
            </a: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&lt;/h2&gt;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h() aplica htmlspecialchars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154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3 · IDOR (acceso a lo ajeno)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Qué es.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se accede a datos de otra persona cambiando un número en la dirección.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El patrón.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control de acceso por objeto. Se verifica que el objeto pertenezca a quien lo pide.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exigir_sesion();  </a:t>
            </a: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pide login... y nada más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$id = $_GET['id'];</a:t>
            </a:r>
            <a:r>
              <a:rPr sz="1450" b="1">
                <a:solidFill>
                  <a:srgbClr val="B0362F"/>
                </a:solidFill>
                <a:latin typeface="Consolas"/>
                <a:cs typeface="Consolas"/>
              </a:rPr>
              <a:t>  // muestra el boletín $id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0972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4290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if (!$es_propio &amp;&amp; !$es_adscripta) 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  http_response_code(403); exit;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154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4 · Salto de directorio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Qué es.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se leen archivos del servidor que no eran para descargar, usando ../ en el nombre.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El patrón.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lista blanca. Solo se sirven los archivos de una lista fija.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descargar.php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readfile('archivos/' . </a:t>
            </a:r>
            <a:r>
              <a:rPr sz="1450" b="1">
                <a:solidFill>
                  <a:srgbClr val="B0362F"/>
                </a:solidFill>
                <a:latin typeface="Consolas"/>
                <a:cs typeface="Consolas"/>
              </a:rPr>
              <a:t>$_GET['archivo']</a:t>
            </a: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0972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4290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$permitidos = ['calendario.txt', ...];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if (!in_array($archivo, $permitidos, true))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    { http_response_code(404); exit;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154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5 · Contraseñas guardadas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Qué es.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las contraseñas se guardan de una forma que permite recuperarlas si se filtra la tabla.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3A6E"/>
                </a:solidFill>
                <a:latin typeface="Calibri"/>
                <a:cs typeface="Calibri"/>
              </a:rPr>
              <a:t>El patrón. </a:t>
            </a: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hash lento con sal. Se usa una función hecha para contraseñas.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716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67A"/>
                </a:solidFill>
                <a:latin typeface="Consolas"/>
                <a:cs typeface="Consolas"/>
              </a:rPr>
              <a:t>// login.php y esquema.sql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... clave = '" . </a:t>
            </a:r>
            <a:r>
              <a:rPr sz="1450" b="1">
                <a:solidFill>
                  <a:srgbClr val="B0362F"/>
                </a:solidFill>
                <a:latin typeface="Consolas"/>
                <a:cs typeface="Consolas"/>
              </a:rPr>
              <a:t>md5($clave)</a:t>
            </a:r>
            <a:r>
              <a:rPr sz="1450" b="0">
                <a:solidFill>
                  <a:srgbClr val="1B233A"/>
                </a:solidFill>
                <a:latin typeface="Consolas"/>
                <a:cs typeface="Consolas"/>
              </a:rPr>
              <a:t> . "'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0972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4290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 b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password_hash($clave, PASSWORD_DEFAULT);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E6B3E"/>
                </a:solidFill>
                <a:latin typeface="Consolas"/>
                <a:cs typeface="Consolas"/>
              </a:rPr>
              <a:t>password_verify($clave, $hash);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1546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Los cinco patrones en una tabla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371600"/>
          <a:ext cx="1042416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356616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Falla (CWE)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Patrón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 una línea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Inyección SQL (89)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Consulta parametrizada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El dato va por ?, nunca pegado al SQL.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XSS (79)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Codificación de salida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Se escapa al mostrarlo.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IDOR (639)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Control de acceso por objeto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Se verifica que sea suyo, no solo que haya sesión.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Salto de directorio (22)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Lista blanca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Solo se sirve lo que está en una lista fija.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Hash débil (916)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Hash lento con sal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password_hash / password_verify, nunca MD5.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A"/>
                </a:solidFill>
                <a:latin typeface="Calibri"/>
                <a:cs typeface="Calibri"/>
              </a:rPr>
              <a:t>Cuatro de las cinco son la misma frase —el dato del usuario se volvió otra cosa— y todas se cierran igual: tratar el dato como dato.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Errores frecuentes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Creer que validar la entrada alcanza para el XSS: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el patrón es escapar en la salida.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Confundir estar logueado con tener permiso: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hay que verificar el permiso sobre cada objeto.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Usar lista negra en vez de lista blanca: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prohibir lo malo siempre deja un caso afuera.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6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Inventar el guardado de contraseñas: </a:t>
            </a:r>
            <a:r>
              <a:rPr sz="1750" b="0" i="0">
                <a:solidFill>
                  <a:srgbClr val="5B667A"/>
                </a:solidFill>
                <a:latin typeface="Calibri"/>
                <a:cs typeface="Calibri"/>
              </a:rPr>
              <a:t>existe password_hash; se usa y punto.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El laboratorio: Romperla y arreglarla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2B3A6E"/>
                </a:solidFill>
                <a:latin typeface="Calibri"/>
                <a:cs typeface="Calibri"/>
              </a:rPr>
              <a:t>Primera evaluación formativa del curso.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En la sala, sobre una aplicación que corre de verdad y tiene las cinco fallas.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1" i="0">
                <a:solidFill>
                  <a:srgbClr val="222222"/>
                </a:solidFill>
                <a:latin typeface="Calibri"/>
                <a:cs typeface="Calibri"/>
              </a:rPr>
              <a:t>Romperla: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explotar cada falla desde el navegador, sin herramientas.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1" i="0">
                <a:solidFill>
                  <a:srgbClr val="222222"/>
                </a:solidFill>
                <a:latin typeface="Calibri"/>
                <a:cs typeface="Calibri"/>
              </a:rPr>
              <a:t>Arreglarla: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nombrar el patrón de cada una y ver la línea corregida.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Comprobar que, sobre la versión segura, los cinco ataques ya no funcionan.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B667A"/>
                </a:solidFill>
                <a:latin typeface="Calibri"/>
                <a:cs typeface="Calibri"/>
              </a:rPr>
              <a:t>Se hace solo sobre la aplicación preparada para eso. Atacar un sistema ajeno es delito (Ley N.º 20.327).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Calibri"/>
                <a:cs typeface="Calibri"/>
              </a:rPr>
              <a:t>Las cinco fallas comparten un error —confiar en lo que llega de afuera— </a:t>
            </a:r>
            <a:r>
              <a:rPr sz="2500" b="1" i="0">
                <a:solidFill>
                  <a:srgbClr val="FFFFFF"/>
                </a:solidFill>
                <a:latin typeface="Calibri"/>
                <a:cs typeface="Calibri"/>
              </a:rPr>
              <a:t>y se cierran tratando el dato como dato, no como orden.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CCDE"/>
                </a:solidFill>
                <a:latin typeface="Calibri"/>
                <a:cs typeface="Calibri"/>
              </a:rPr>
              <a:t>OWASP Top 10 · MITRE CWE · SANS/CWE Top 25 · Manual de PHP · NIST SP 800-63B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Amenaza, vulnerabilidad y patrón: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Una casa en un barrio. El dueño quiere que nadie entre sin permiso.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 ladrón que recorre el barrio buscando una casa fácil de abrir.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dueño no puede decidir si el ladrón existe o no.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AMENAZA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Una ventana del fondo que no cierra bien.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Es la debilidad concreta por la que se puede entrar.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VULNERABILIDAD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Colocar una traba en esa ventana.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Es una solución conocida, que ya funcionó en miles de casas iguales.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PATRÓN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ladrón es el atacante, la ventana es la línea de código mal escrita y la traba es el patrón.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Superficie de ataque: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 liceo tiene varias formas de entrar o de pedir cosas. Cada una es un lugar por donde alguien podría colarse, y cada una necesita su propio control.</a:t>
            </a:r>
          </a:p>
        </p:txBody>
      </p:sp>
      <p:graphicFrame>
        <p:nvGraphicFramePr>
          <p:cNvPr id="22" name="Table 5"/>
          <p:cNvGraphicFramePr>
            <a:graphicFrameLocks noGrp="1"/>
          </p:cNvGraphicFramePr>
          <p:nvPr/>
        </p:nvGraphicFramePr>
        <p:xfrm>
          <a:off x="868680" y="2331720"/>
          <a:ext cx="10424160" cy="2679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3429000"/>
                <a:gridCol w="37033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 el liceo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 la aplicación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Qué podría pasar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Puerta principal con portero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Formulario de login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Alguien entra sin ser estudiante.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Bedelía con carpetas numeradas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Dirección con un número (boletin.php?id=3)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Alguien pide la carpeta de otra persona.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Buzón de mensajes que se leen en voz alta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Buscador o campo de comentarios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Alguien deja un mensaje que engaña a quien lo lee.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Fotocopiadora que copia a pedido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Descarga de archivos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Alguien pide copiar un papel de la dirección.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</a:tbl>
          </a:graphicData>
        </a:graphic>
      </p:graphicFrame>
      <p:sp>
        <p:nvSpPr>
          <p:cNvPr id="23" name="Texto 23"/>
          <p:cNvSpPr txBox="1"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6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Más entradas significa más lugares para vigilar. Por eso se busca tener menos entradas y controlar todas.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1 · Inyección SQL: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portero de un liceo cumple al pie de la letra una orden escrita en un papel.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 orden tiene un espacio en blanco: «Dejar pasar si el nombre es ______».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Cada visitante completa el espacio y el portero cumple la orden tal como quedó escrita.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CÓMO FUNCIONA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Alguien escribe en el espacio: «Ana, o dejar pasar a cualquiera».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 orden queda: «Dejar pasar si el nombre es Ana, o dejar pasar a cualquiera». El portero la cumple y entra cualquiera.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ATAQUE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nombre se escribe en una casilla aparte y se trata solo como un nombre.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portero busca a alguien llamado «Ana, o dejar pasar a cualquiera», no lo encuentra y no deja pasar a nadie.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PATRÓN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 orden es la consulta SQL, la frase agregada es ' OR '1'='1 y la casilla aparte es el marcador ?.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2 · XSS: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En un teatro, el público envía saludos y el actor los lee en escena.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En un guion, lo que va entre paréntesis no se dice: se hace. Por ejemplo, «(apaga las luces)».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Los saludos del público se pegan dentro del guion para que el actor los lea.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CÓMO FUNCIONA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Alguien envía: «Saludos a Ana (apaga las luces y se va)».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actor dice «Saludos a Ana» y después apaga las luces y se va: para él, el paréntesis es una orden.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ATAQUE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Antes de pegar el saludo, sus paréntesis se marcan como texto para leer en voz alta.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actor lee la frase completa, paréntesis incluidos, y no hace nada más.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PATRÓN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actor es el navegador, el guion es la página y los paréntesis son etiquetas como &lt;script&gt;.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3 · IDOR: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 bedelía de un liceo guarda los boletines en carpetas numeradas.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estudiante muestra el carné y dice el número de su carpeta.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 bedelía controla que el carné sea válido y entrega la carpeta pedida.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CÓMO FUNCIONA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 estudiante muestra su carné, que es válido, y pide la carpeta 125, que es de otra persona.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Como solo se controló el carné, se la entregan.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ATAQUE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Antes de entregar, la bedelía controla también que la carpeta 125 sea de quien la pide, o que quien la pide sea adscripta.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Si no corresponde, no la entrega.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PATRÓN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carné es el login y la carpeta 125 es boletin.php?id=125. Tener carné no da acceso a todas las carpetas.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4 · Salto de directorio: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situación.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encargado de la fotocopiadora copia documentos del estante público a pedido.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pedido dice: «Copiar del estante público el documento ______».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encargado sigue el camino escrito en el pedido, busca el documento y lo copia.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CÓMO FUNCIONA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Alguien escribe: «volver al pasillo, entrar a dirección, carpeta de claves».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encargado sigue el camino, sale del estante público y copia un papel privado.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ATAQUE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encargado tiene una lista impresa con los únicos documentos que se pueden copiar.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Si lo pedido no está en la lista, no se copia, se escriba como se escriba.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EL PATRÓN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estante es la carpeta archivos/, «volver al pasillo» es ../ y la lista impresa es la lista blanca.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Falla 5 · Contraseñas guardadas: ejemplo cotidiano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868680" y="137160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7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La idea. </a:t>
            </a:r>
            <a:r>
              <a:rPr lang="es-UY" sz="17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Un licuado se hace fácil con frutas, pero a partir del licuado no se pueden recuperar las frutas. Eso es un hash.</a:t>
            </a:r>
          </a:p>
        </p:txBody>
      </p:sp>
      <p:sp>
        <p:nvSpPr>
          <p:cNvPr id="22" name="Tarjeta 22"/>
          <p:cNvSpPr/>
          <p:nvPr/>
        </p:nvSpPr>
        <p:spPr>
          <a:xfrm>
            <a:off x="868680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Las contraseñas se anotan tal cual en un cuaderno.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Quien roba el cuaderno las lee todas, sin ningún esfuerzo.</a:t>
            </a:r>
          </a:p>
        </p:txBody>
      </p:sp>
      <p:sp>
        <p:nvSpPr>
          <p:cNvPr id="23" name="Etiqueta 23"/>
          <p:cNvSpPr/>
          <p:nvPr/>
        </p:nvSpPr>
        <p:spPr>
          <a:xfrm>
            <a:off x="2350008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TEXTO PLANO</a:t>
            </a:r>
          </a:p>
        </p:txBody>
      </p:sp>
      <p:sp>
        <p:nvSpPr>
          <p:cNvPr id="24" name="Flecha 24"/>
          <p:cNvSpPr/>
          <p:nvPr/>
        </p:nvSpPr>
        <p:spPr>
          <a:xfrm>
            <a:off x="4206240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Tarjeta 25"/>
          <p:cNvSpPr/>
          <p:nvPr/>
        </p:nvSpPr>
        <p:spPr>
          <a:xfrm>
            <a:off x="4471416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Cada contraseña se guarda como «licuado», pero es instantáneo y siempre sale igual.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atacante usa un catálogo con los licuados de millones de contraseñas comunes y busca coincidencias.</a:t>
            </a:r>
          </a:p>
        </p:txBody>
      </p:sp>
      <p:sp>
        <p:nvSpPr>
          <p:cNvPr id="26" name="Etiqueta 26"/>
          <p:cNvSpPr/>
          <p:nvPr/>
        </p:nvSpPr>
        <p:spPr>
          <a:xfrm>
            <a:off x="5952744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MD5</a:t>
            </a:r>
          </a:p>
        </p:txBody>
      </p:sp>
      <p:sp>
        <p:nvSpPr>
          <p:cNvPr id="27" name="Flecha 27"/>
          <p:cNvSpPr/>
          <p:nvPr/>
        </p:nvSpPr>
        <p:spPr>
          <a:xfrm>
            <a:off x="7808976" y="3497580"/>
            <a:ext cx="146304" cy="274320"/>
          </a:xfrm>
          <a:prstGeom prst="chevron">
            <a:avLst/>
          </a:prstGeom>
          <a:solidFill>
            <a:srgbClr val="C2C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Tarjeta 28"/>
          <p:cNvSpPr/>
          <p:nvPr/>
        </p:nvSpPr>
        <p:spPr>
          <a:xfrm>
            <a:off x="8074152" y="2514600"/>
            <a:ext cx="3218688" cy="2240280"/>
          </a:xfrm>
          <a:prstGeom prst="roundRect">
            <a:avLst>
              <a:gd name="adj" fmla="val 5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46304" tIns="164592" bIns="9144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licuado se prepara despacio y con un ingrediente distinto para cada persona (la sal).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El catálogo ya no sirve, y probar contraseña por contraseña lleva demasiado tiempo.</a:t>
            </a:r>
          </a:p>
        </p:txBody>
      </p:sp>
      <p:sp>
        <p:nvSpPr>
          <p:cNvPr id="29" name="Etiqueta 29"/>
          <p:cNvSpPr/>
          <p:nvPr/>
        </p:nvSpPr>
        <p:spPr>
          <a:xfrm>
            <a:off x="9555480" y="224028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lang="es-UY" sz="1000" b="1" i="0" dirty="0">
                <a:solidFill>
                  <a:srgbClr val="FFFFFF"/>
                </a:solidFill>
                <a:latin typeface="Calibri"/>
                <a:cs typeface="Calibri"/>
              </a:rPr>
              <a:t xml:space="preserve">PASSWORD_HASH</a:t>
            </a:r>
          </a:p>
        </p:txBody>
      </p:sp>
      <p:sp>
        <p:nvSpPr>
          <p:cNvPr id="30" name="Tarjeta 30"/>
          <p:cNvSpPr/>
          <p:nvPr/>
        </p:nvSpPr>
        <p:spPr>
          <a:xfrm>
            <a:off x="868680" y="5074920"/>
            <a:ext cx="1042416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2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64592" bIns="9144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s-UY" sz="15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la aplicación. </a:t>
            </a:r>
            <a:r>
              <a:rPr lang="es-UY" sz="1500" b="0" i="0" dirty="0">
                <a:solidFill>
                  <a:srgbClr val="222222"/>
                </a:solidFill>
                <a:latin typeface="Calibri"/>
                <a:cs typeface="Calibri"/>
              </a:rPr>
              <a:t xml:space="preserve">al iniciar sesión se licúa lo que la persona escribe y se compara con lo guardado: password_verify.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2B3A6E"/>
                </a:solidFill>
                <a:latin typeface="Calibri"/>
                <a:cs typeface="Calibri"/>
              </a:rPr>
              <a:t>Los cinco ejemplos cotidianos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graphicFrame>
        <p:nvGraphicFramePr>
          <p:cNvPr id="21" name="Table 5"/>
          <p:cNvGraphicFramePr>
            <a:graphicFrameLocks noGrp="1"/>
          </p:cNvGraphicFramePr>
          <p:nvPr/>
        </p:nvGraphicFramePr>
        <p:xfrm>
          <a:off x="868680" y="1371600"/>
          <a:ext cx="1042416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48056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Falla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Ejemplo cotidiano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Cómo se cierra</a:t>
                      </a:r>
                    </a:p>
                  </a:txBody>
                  <a:tcPr marL="109728" marR="91440" marT="36576" marB="36576" anchor="ctr">
                    <a:solidFill>
                      <a:srgbClr val="2B3A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Inyección SQL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El portero que cumple la orden con lo que agregó el visitante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Casilla aparte para el dato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XSS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El actor que obedece los paréntesis de un saludo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Marcar los paréntesis como texto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IDOR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 bedelía que solo mira el carné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Controlar de quién es cada carpeta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Salto de directorio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La fotocopiadora que sigue el camino escrito en el pedido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Lista impresa de documentos permitidos</a:t>
                      </a:r>
                    </a:p>
                  </a:txBody>
                  <a:tcPr marL="109728" marR="91440" marT="36576" marB="36576" anchor="ctr">
                    <a:solidFill>
                      <a:srgbClr val="EF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Contraseñas guardadas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El cuaderno y el licuado instantáneo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cs typeface="Calibri"/>
                        </a:rPr>
                        <a:t>Licuado lento con un ingrediente por persona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o 22"/>
          <p:cNvSpPr txBox="1"/>
          <p:nvPr/>
        </p:nvSpPr>
        <p:spPr>
          <a:xfrm>
            <a:off x="868680" y="49834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s-UY" sz="1600" b="1" i="0" dirty="0">
                <a:solidFill>
                  <a:srgbClr val="2B3A6E"/>
                </a:solidFill>
                <a:latin typeface="Calibri"/>
                <a:cs typeface="Calibri"/>
              </a:rPr>
              <a:t xml:space="preserve">En los cinco casos se confió en lo que llegaba de afuera: un dato se tomó como orden, o se entregó algo sin verificar a quién.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Vulnerabilidades y cómo se cierran en el código</dc:title>
  <dc:subject/>
  <dc:creator>diego.renaldin@hotmail.com</dc:creator>
  <cp:keywords/>
  <dc:description/>
  <cp:lastModifiedBy>diego.renaldin@hotmail.com</cp:lastModifiedBy>
  <cp:revision>1</cp:revision>
  <dcterms:created xsi:type="dcterms:W3CDTF">2013-01-27T09:14:16Z</dcterms:created>
  <dcterms:modified xsi:type="dcterms:W3CDTF">2013-01-27T09:15:58Z</dcterms:modified>
  <cp:category/>
  <cp:contentStatus/>
</cp:coreProperties>
</file>