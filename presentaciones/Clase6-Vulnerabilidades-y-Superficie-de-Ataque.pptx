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Clase sobre el contenido 1.3. Se ven cinco fallas frecuentes de las aplicaciones web, cada una con el codigo que la abre y el patron que la cierra. Nivel introductorio; no se memoriza sintaxis: se reconoce la falla y se aplica el patron. Cierra con el laboratorio Romperla y arreglarla, primera evaluacion formativa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palabras a separar y el error de fondo que comparten las cinco fallas.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Recorrido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Separar los tres terminos. El trabajo de defensa esta casi todo en la columna del medio: la vulnerabilidad. Un patron es una solucion probada a un problema que se repite.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CWE nombra el TIPO de debilidad (la familia), no un producto concreto. Aprender estas cinco cubre buena parte de lo que se explota en la practica.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entrada es un lugar donde probar un ataque. La consigna es doble: menos entradas y cero confianza en las que quedan.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idea que unifica la clase. Conviene volver a ella despues de ver las cinco fallas.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falla: que es, el codigo que la abre y el patron que la cierra, uno al lado del otro.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ataque clasico: escribir ' OR '1'='1' en la cedula para entrar sin contraseña. Con parametros, ese texto se busca como una cedula literal, no existe y no entra nadie.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error es el mismo que la inyeccion SQL, en otro idioma: alla era SQL, aca es HTML. Se arregla donde se MUESTRA el dato, no donde se recibe.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mas silencioso: el codigo 'funciona', muestra un boletin, no da error. Autenticar (saber quien sos) no es autorizar (saber que podes ver). Es el minimo privilegio de la clase 3, en PHP.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../conexion.php se descarga el archivo de conexion, con la clave de la base adentro. Lista blanca (decir que SI se permite) le gana a lista negra (prohibir lo malo).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MD5 es rapido y sin sal: su resultado esta en cualquier tabla y se revierte al instante. password_hash usa bcrypt: lento a proposito y con sal distinta para cada uno. Nunca se inventa el guardado de contraseñas.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clase entera en una tabla. El concepto es uno solo; los patrones son como se escribe en cada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cuatro tropiezos mas comunes al aplicar los patrones.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actividad esta en el repositorio (actividades/06-romper-y-arreglar.md). El codigo vulnerable y el seguro los prepara el docente en la sala; no van al repositorio publico.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Sintesis y fuentes. Lo que viene: clase 6B, inyeccion SQL a fondo sobre el proyecto de e-commerce.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0" i="0">
                <a:solidFill>
                  <a:srgbClr val="FFFFFF"/>
                </a:solidFill>
                <a:latin typeface="Calibri"/>
                <a:cs typeface="Calibri"/>
              </a:rPr>
              <a:t>Vulnerabilidades y cómo se cierran en el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1188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cs typeface="Calibri"/>
              </a:rPr>
              <a:t>Seguridad en aplicaciones web · Clase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5CCDE"/>
                </a:solidFill>
                <a:latin typeface="Calibri"/>
                <a:cs typeface="Calibri"/>
              </a:rPr>
              <a:t>Ciberseguridad · 3.º Bachillerato Tecnológico · Tecnologías de la Información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0" i="0">
                <a:solidFill>
                  <a:srgbClr val="FFFFFF"/>
                </a:solidFill>
                <a:latin typeface="Calibri"/>
                <a:cs typeface="Calibri"/>
              </a:rPr>
              <a:t>Conceptos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971800"/>
            <a:ext cx="3657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B3A6E"/>
                </a:solidFill>
                <a:latin typeface="Calibri"/>
                <a:cs typeface="Calibri"/>
              </a:rPr>
              <a:t>CIBERSEGURIDAD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Contenidos de la clase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3327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900" b="0" i="0">
                <a:solidFill>
                  <a:srgbClr val="222222"/>
                </a:solidFill>
                <a:latin typeface="Calibri"/>
                <a:cs typeface="Calibri"/>
              </a:rPr>
              <a:t>Amenaza, vulnerabilidad y patrón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900" b="0" i="0">
                <a:solidFill>
                  <a:srgbClr val="222222"/>
                </a:solidFill>
                <a:latin typeface="Calibri"/>
                <a:cs typeface="Calibri"/>
              </a:rPr>
              <a:t>Cómo se nombran las debilidades: CWE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900" b="0" i="0">
                <a:solidFill>
                  <a:srgbClr val="222222"/>
                </a:solidFill>
                <a:latin typeface="Calibri"/>
                <a:cs typeface="Calibri"/>
              </a:rPr>
              <a:t>Superficie de ataque de una aplicación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900" b="0" i="0">
                <a:solidFill>
                  <a:srgbClr val="222222"/>
                </a:solidFill>
                <a:latin typeface="Calibri"/>
                <a:cs typeface="Calibri"/>
              </a:rPr>
              <a:t>El error de fondo: confiar en lo que llega de afuera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900" b="0" i="0">
                <a:solidFill>
                  <a:srgbClr val="222222"/>
                </a:solidFill>
                <a:latin typeface="Calibri"/>
                <a:cs typeface="Calibri"/>
              </a:rPr>
              <a:t>Cinco fallas frecuentes y el patrón que cierra cada una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900" b="0" i="0">
                <a:solidFill>
                  <a:srgbClr val="222222"/>
                </a:solidFill>
                <a:latin typeface="Calibri"/>
                <a:cs typeface="Calibri"/>
              </a:rPr>
              <a:t>El laboratorio: Romperla y arreglarla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Amenaza, vulnerabilidad y patrón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1371600"/>
          <a:ext cx="10424160" cy="2788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420624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Palabra</a:t>
                      </a:r>
                    </a:p>
                  </a:txBody>
                  <a:tcPr marL="109728" marR="91440" marT="36576" marB="36576" anchor="ctr">
                    <a:solidFill>
                      <a:srgbClr val="2B3A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Qué es</a:t>
                      </a:r>
                    </a:p>
                  </a:txBody>
                  <a:tcPr marL="109728" marR="91440" marT="36576" marB="36576" anchor="ctr">
                    <a:solidFill>
                      <a:srgbClr val="2B3A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Ejemplo</a:t>
                      </a:r>
                    </a:p>
                  </a:txBody>
                  <a:tcPr marL="109728" marR="91440" marT="36576" marB="36576" anchor="ctr">
                    <a:solidFill>
                      <a:srgbClr val="2B3A6E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Amenaza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Quién o qué podría atacar.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Alguien que quiere entrar sin contraseña.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Vulnerabilidad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La debilidad que lo permite.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El login une la cédula al texto SQL.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Patrón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La forma conocida de cerrarla.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Usar una consulta parametrizada.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43484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222222"/>
                </a:solidFill>
                <a:latin typeface="Calibri"/>
                <a:cs typeface="Calibri"/>
              </a:rPr>
              <a:t>De las tres, la vulnerabilidad es la única sobre la que se actúa directamente: no se elige quién ataca, pero sí cómo se escribe el código.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Cómo se nombran: CWE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222222"/>
                </a:solidFill>
                <a:latin typeface="Calibri"/>
                <a:cs typeface="Calibri"/>
              </a:rPr>
              <a:t>CWE (Common Weakness Enumeration) es un catálogo internacional de tipos de debilidad de software.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2057400"/>
          <a:ext cx="10424160" cy="3246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3931920"/>
                <a:gridCol w="47548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CWE</a:t>
                      </a:r>
                    </a:p>
                  </a:txBody>
                  <a:tcPr marL="109728" marR="91440" marT="36576" marB="36576" anchor="ctr">
                    <a:solidFill>
                      <a:srgbClr val="2B3A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Nombre</a:t>
                      </a:r>
                    </a:p>
                  </a:txBody>
                  <a:tcPr marL="109728" marR="91440" marT="36576" marB="36576" anchor="ctr">
                    <a:solidFill>
                      <a:srgbClr val="2B3A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En una frase</a:t>
                      </a:r>
                    </a:p>
                  </a:txBody>
                  <a:tcPr marL="109728" marR="91440" marT="36576" marB="36576" anchor="ctr">
                    <a:solidFill>
                      <a:srgbClr val="2B3A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CWE-89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Inyección SQL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Datos del usuario terminan siendo órdenes para la base.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CWE-79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Cross-site scripting (XSS)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Texto del usuario termina siendo código en el navegador.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CWE-639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Referencia insegura (IDOR)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Cambiando un número en la URL se accede a lo ajeno.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CWE-22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Salto de directorio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Con ../ se llega a archivos que no correspondían.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CWE-916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Hash de contraseña débil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Las contraseñas se guardan de una forma que se rompe fácil.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8680" y="55778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67A"/>
                </a:solidFill>
                <a:latin typeface="Calibri"/>
                <a:cs typeface="Calibri"/>
              </a:rPr>
              <a:t>Las cinco están entre las más frecuentes del catálogo SANS/CWE Top 25.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Superficie de ataque de una aplicación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B3A6E"/>
                </a:solidFill>
                <a:latin typeface="Calibri"/>
                <a:cs typeface="Calibri"/>
              </a:rPr>
              <a:t>Definición. </a:t>
            </a:r>
            <a:r>
              <a:rPr sz="1800" b="0" i="0">
                <a:solidFill>
                  <a:srgbClr val="222222"/>
                </a:solidFill>
                <a:latin typeface="Calibri"/>
                <a:cs typeface="Calibri"/>
              </a:rPr>
              <a:t>Es el conjunto de todos los puntos por los que entra información a la aplicación desde afuera.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102412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  <a:spcAft>
                <a:spcPts val="1100"/>
              </a:spcAft>
            </a:pPr>
            <a:r>
              <a:rPr sz="175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750" b="0" i="0">
                <a:solidFill>
                  <a:srgbClr val="222222"/>
                </a:solidFill>
                <a:latin typeface="Calibri"/>
                <a:cs typeface="Calibri"/>
              </a:rPr>
              <a:t>Los campos de un formulario </a:t>
            </a:r>
            <a:r>
              <a:rPr sz="1750" b="0" i="0">
                <a:solidFill>
                  <a:srgbClr val="5B667A"/>
                </a:solidFill>
                <a:latin typeface="Calibri"/>
                <a:cs typeface="Calibri"/>
              </a:rPr>
              <a:t>(la cédula y la contraseña del login)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100"/>
              </a:spcAft>
            </a:pPr>
            <a:r>
              <a:rPr sz="175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750" b="0" i="0">
                <a:solidFill>
                  <a:srgbClr val="222222"/>
                </a:solidFill>
                <a:latin typeface="Calibri"/>
                <a:cs typeface="Calibri"/>
              </a:rPr>
              <a:t>Los parámetros de la dirección </a:t>
            </a:r>
            <a:r>
              <a:rPr sz="1750" b="0" i="0">
                <a:solidFill>
                  <a:srgbClr val="5B667A"/>
                </a:solidFill>
                <a:latin typeface="Calibri"/>
                <a:cs typeface="Calibri"/>
              </a:rPr>
              <a:t>(boletin.php?id=3)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100"/>
              </a:spcAft>
            </a:pPr>
            <a:r>
              <a:rPr sz="175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750" b="0" i="0">
                <a:solidFill>
                  <a:srgbClr val="222222"/>
                </a:solidFill>
                <a:latin typeface="Calibri"/>
                <a:cs typeface="Calibri"/>
              </a:rPr>
              <a:t>El término del buscador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100"/>
              </a:spcAft>
            </a:pPr>
            <a:r>
              <a:rPr sz="175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750" b="0" i="0">
                <a:solidFill>
                  <a:srgbClr val="222222"/>
                </a:solidFill>
                <a:latin typeface="Calibri"/>
                <a:cs typeface="Calibri"/>
              </a:rPr>
              <a:t>El nombre de un archivo a descargar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4348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B3A6E"/>
                </a:solidFill>
                <a:latin typeface="Calibri"/>
                <a:cs typeface="Calibri"/>
              </a:rPr>
              <a:t>Reducir la superficie es tener menos entradas y, sobre todo, no confiar en ninguna.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El error de fondo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  <a:cs typeface="Calibri"/>
              </a:rPr>
              <a:t>Las cinco fallas de esta clase parecen distintas, pero abajo son el mismo error: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10424160" cy="1097280"/>
          </a:xfrm>
          <a:prstGeom prst="roundRect">
            <a:avLst/>
          </a:prstGeom>
          <a:solidFill>
            <a:srgbClr val="F3F4F7"/>
          </a:solidFill>
          <a:ln w="9525">
            <a:solidFill>
              <a:srgbClr val="D7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331720"/>
            <a:ext cx="96926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B3A6E"/>
                </a:solidFill>
                <a:latin typeface="Calibri"/>
                <a:cs typeface="Calibri"/>
              </a:rPr>
              <a:t>El programa confía en que lo que llega de afuera es lo que espera.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B3A6E"/>
                </a:solidFill>
                <a:latin typeface="Calibri"/>
                <a:cs typeface="Calibri"/>
              </a:rPr>
              <a:t>Regla única: </a:t>
            </a:r>
            <a:r>
              <a:rPr sz="1700" b="0" i="0">
                <a:solidFill>
                  <a:srgbClr val="222222"/>
                </a:solidFill>
                <a:latin typeface="Calibri"/>
                <a:cs typeface="Calibri"/>
              </a:rPr>
              <a:t>todo dato que entra se valida, se trata como dato (nunca como orden) y se controla que quien lo manda tenga permiso. Los cinco patrones que siguen son esa regla, aplicada en cinco lugares distintos.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0" i="0">
                <a:solidFill>
                  <a:srgbClr val="FFFFFF"/>
                </a:solidFill>
                <a:latin typeface="Calibri"/>
                <a:cs typeface="Calibri"/>
              </a:rPr>
              <a:t>Las cinco fallas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79" y="2971800"/>
            <a:ext cx="3657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B3A6E"/>
                </a:solidFill>
                <a:latin typeface="Calibri"/>
                <a:cs typeface="Calibri"/>
              </a:rPr>
              <a:t>CIBERSEGURIDAD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Falla 1 · Inyección 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2B3A6E"/>
                </a:solidFill>
                <a:latin typeface="Calibri"/>
                <a:cs typeface="Calibri"/>
              </a:rPr>
              <a:t>Qué es. </a:t>
            </a:r>
            <a:r>
              <a:rPr sz="1700" b="0" i="0">
                <a:solidFill>
                  <a:srgbClr val="222222"/>
                </a:solidFill>
                <a:latin typeface="Calibri"/>
                <a:cs typeface="Calibri"/>
              </a:rPr>
              <a:t>un dato del usuario se une al texto de la consulta y la base lo interpreta como parte de la orden.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B3A6E"/>
                </a:solidFill>
                <a:latin typeface="Calibri"/>
                <a:cs typeface="Calibri"/>
              </a:rPr>
              <a:t>El patrón. </a:t>
            </a:r>
            <a:r>
              <a:rPr sz="1700" b="0" i="0">
                <a:solidFill>
                  <a:srgbClr val="222222"/>
                </a:solidFill>
                <a:latin typeface="Calibri"/>
                <a:cs typeface="Calibri"/>
              </a:rPr>
              <a:t>consulta parametrizada. El dato viaja por un marcador (?), nunca pegado al SQL.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137160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F3F4F7"/>
          </a:solidFill>
          <a:ln w="9525">
            <a:solidFill>
              <a:srgbClr val="D7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91440" b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5B667A"/>
                </a:solidFill>
                <a:latin typeface="Consolas"/>
                <a:cs typeface="Consolas"/>
              </a:rPr>
              <a:t>// login.php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... WHERE cedula = </a:t>
            </a:r>
            <a:r>
              <a:rPr sz="1450" b="1">
                <a:solidFill>
                  <a:srgbClr val="B0362F"/>
                </a:solidFill>
                <a:latin typeface="Consolas"/>
                <a:cs typeface="Consolas"/>
              </a:rPr>
              <a:t>'$cedula'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1097280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B03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cs typeface="Calibri"/>
              </a:rPr>
              <a:t>VULNERABLE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342900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F3F4F7"/>
          </a:solidFill>
          <a:ln w="9525">
            <a:solidFill>
              <a:srgbClr val="D7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91440" b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$stmt = $db-&gt;prepare(</a:t>
            </a:r>
            <a:r>
              <a:rPr sz="1450" b="0">
                <a:solidFill>
                  <a:srgbClr val="1E6B3E"/>
                </a:solidFill>
                <a:latin typeface="Consolas"/>
                <a:cs typeface="Consolas"/>
              </a:rPr>
              <a:t>"... WHERE cedula = ?"</a:t>
            </a: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);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$stmt-&gt;execute([$cedula]);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154680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1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cs typeface="Calibri"/>
              </a:rPr>
              <a:t>SEGURO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Falla 2 · XSS (código en el navegador)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2B3A6E"/>
                </a:solidFill>
                <a:latin typeface="Calibri"/>
                <a:cs typeface="Calibri"/>
              </a:rPr>
              <a:t>Qué es. </a:t>
            </a:r>
            <a:r>
              <a:rPr sz="1700" b="0" i="0">
                <a:solidFill>
                  <a:srgbClr val="222222"/>
                </a:solidFill>
                <a:latin typeface="Calibri"/>
                <a:cs typeface="Calibri"/>
              </a:rPr>
              <a:t>un texto del usuario se muestra sin procesar y el navegador lo ejecuta como código.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B3A6E"/>
                </a:solidFill>
                <a:latin typeface="Calibri"/>
                <a:cs typeface="Calibri"/>
              </a:rPr>
              <a:t>El patrón. </a:t>
            </a:r>
            <a:r>
              <a:rPr sz="1700" b="0" i="0">
                <a:solidFill>
                  <a:srgbClr val="222222"/>
                </a:solidFill>
                <a:latin typeface="Calibri"/>
                <a:cs typeface="Calibri"/>
              </a:rPr>
              <a:t>codificación de salida. Antes de mostrar el dato, se escapa con htmlspecialchars.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137160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F3F4F7"/>
          </a:solidFill>
          <a:ln w="9525">
            <a:solidFill>
              <a:srgbClr val="D7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91440" b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5B667A"/>
                </a:solidFill>
                <a:latin typeface="Consolas"/>
                <a:cs typeface="Consolas"/>
              </a:rPr>
              <a:t>// buscar.php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&lt;h2&gt;Resultados: </a:t>
            </a:r>
            <a:r>
              <a:rPr sz="1450" b="1">
                <a:solidFill>
                  <a:srgbClr val="B0362F"/>
                </a:solidFill>
                <a:latin typeface="Consolas"/>
                <a:cs typeface="Consolas"/>
              </a:rPr>
              <a:t>&lt;?= $q ?&gt;</a:t>
            </a: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&lt;/h2&gt;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1097280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B03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cs typeface="Calibri"/>
              </a:rPr>
              <a:t>VULNERABLE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342900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F3F4F7"/>
          </a:solidFill>
          <a:ln w="9525">
            <a:solidFill>
              <a:srgbClr val="D7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91440" b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&lt;h2&gt;Resultados: </a:t>
            </a:r>
            <a:r>
              <a:rPr sz="1450" b="0">
                <a:solidFill>
                  <a:srgbClr val="1E6B3E"/>
                </a:solidFill>
                <a:latin typeface="Consolas"/>
                <a:cs typeface="Consolas"/>
              </a:rPr>
              <a:t>&lt;?= h($q) ?&gt;</a:t>
            </a: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&lt;/h2&gt;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5B667A"/>
                </a:solidFill>
                <a:latin typeface="Consolas"/>
                <a:cs typeface="Consolas"/>
              </a:rPr>
              <a:t>// h() aplica htmlspecialchars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154680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1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cs typeface="Calibri"/>
              </a:rPr>
              <a:t>SEGURO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Falla 3 · IDOR (acceso a lo ajeno)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2B3A6E"/>
                </a:solidFill>
                <a:latin typeface="Calibri"/>
                <a:cs typeface="Calibri"/>
              </a:rPr>
              <a:t>Qué es. </a:t>
            </a:r>
            <a:r>
              <a:rPr sz="1700" b="0" i="0">
                <a:solidFill>
                  <a:srgbClr val="222222"/>
                </a:solidFill>
                <a:latin typeface="Calibri"/>
                <a:cs typeface="Calibri"/>
              </a:rPr>
              <a:t>se accede a datos de otra persona cambiando un número en la dirección.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B3A6E"/>
                </a:solidFill>
                <a:latin typeface="Calibri"/>
                <a:cs typeface="Calibri"/>
              </a:rPr>
              <a:t>El patrón. </a:t>
            </a:r>
            <a:r>
              <a:rPr sz="1700" b="0" i="0">
                <a:solidFill>
                  <a:srgbClr val="222222"/>
                </a:solidFill>
                <a:latin typeface="Calibri"/>
                <a:cs typeface="Calibri"/>
              </a:rPr>
              <a:t>control de acceso por objeto. Se verifica que el objeto pertenezca a quien lo pide.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137160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F3F4F7"/>
          </a:solidFill>
          <a:ln w="9525">
            <a:solidFill>
              <a:srgbClr val="D7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91440" b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exigir_sesion();  </a:t>
            </a:r>
            <a:r>
              <a:rPr sz="1450" b="0">
                <a:solidFill>
                  <a:srgbClr val="5B667A"/>
                </a:solidFill>
                <a:latin typeface="Consolas"/>
                <a:cs typeface="Consolas"/>
              </a:rPr>
              <a:t>// pide login... y nada 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$id = $_GET['id'];</a:t>
            </a:r>
            <a:r>
              <a:rPr sz="1450" b="1">
                <a:solidFill>
                  <a:srgbClr val="B0362F"/>
                </a:solidFill>
                <a:latin typeface="Consolas"/>
                <a:cs typeface="Consolas"/>
              </a:rPr>
              <a:t>  // muestra el boletín $id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1097280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B03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cs typeface="Calibri"/>
              </a:rPr>
              <a:t>VULNERABLE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342900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F3F4F7"/>
          </a:solidFill>
          <a:ln w="9525">
            <a:solidFill>
              <a:srgbClr val="D7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91440" b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if (!$es_propio &amp;&amp; !$es_adscripta) 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E6B3E"/>
                </a:solidFill>
                <a:latin typeface="Consolas"/>
                <a:cs typeface="Consolas"/>
              </a:rPr>
              <a:t>  http_response_code(403); exit;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154680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1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cs typeface="Calibri"/>
              </a:rPr>
              <a:t>SEGURO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Falla 4 · Salto de directorio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2B3A6E"/>
                </a:solidFill>
                <a:latin typeface="Calibri"/>
                <a:cs typeface="Calibri"/>
              </a:rPr>
              <a:t>Qué es. </a:t>
            </a:r>
            <a:r>
              <a:rPr sz="1700" b="0" i="0">
                <a:solidFill>
                  <a:srgbClr val="222222"/>
                </a:solidFill>
                <a:latin typeface="Calibri"/>
                <a:cs typeface="Calibri"/>
              </a:rPr>
              <a:t>se leen archivos del servidor que no eran para descargar, usando ../ en el nombre.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B3A6E"/>
                </a:solidFill>
                <a:latin typeface="Calibri"/>
                <a:cs typeface="Calibri"/>
              </a:rPr>
              <a:t>El patrón. </a:t>
            </a:r>
            <a:r>
              <a:rPr sz="1700" b="0" i="0">
                <a:solidFill>
                  <a:srgbClr val="222222"/>
                </a:solidFill>
                <a:latin typeface="Calibri"/>
                <a:cs typeface="Calibri"/>
              </a:rPr>
              <a:t>lista blanca. Solo se sirven los archivos de una lista fija.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137160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F3F4F7"/>
          </a:solidFill>
          <a:ln w="9525">
            <a:solidFill>
              <a:srgbClr val="D7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91440" b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5B667A"/>
                </a:solidFill>
                <a:latin typeface="Consolas"/>
                <a:cs typeface="Consolas"/>
              </a:rPr>
              <a:t>// descargar.php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readfile('archivos/' . </a:t>
            </a:r>
            <a:r>
              <a:rPr sz="1450" b="1">
                <a:solidFill>
                  <a:srgbClr val="B0362F"/>
                </a:solidFill>
                <a:latin typeface="Consolas"/>
                <a:cs typeface="Consolas"/>
              </a:rPr>
              <a:t>$_GET['archivo']</a:t>
            </a: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1097280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B03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cs typeface="Calibri"/>
              </a:rPr>
              <a:t>VULNERABLE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342900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F3F4F7"/>
          </a:solidFill>
          <a:ln w="9525">
            <a:solidFill>
              <a:srgbClr val="D7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91440" b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$permitidos = ['calendario.txt', ...];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E6B3E"/>
                </a:solidFill>
                <a:latin typeface="Consolas"/>
                <a:cs typeface="Consolas"/>
              </a:rPr>
              <a:t>if (!in_array($archivo, $permitidos, true))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E6B3E"/>
                </a:solidFill>
                <a:latin typeface="Consolas"/>
                <a:cs typeface="Consolas"/>
              </a:rPr>
              <a:t>    { http_response_code(404); exit; 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154680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1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cs typeface="Calibri"/>
              </a:rPr>
              <a:t>SEGURO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Falla 5 · Contraseñas guardadas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2B3A6E"/>
                </a:solidFill>
                <a:latin typeface="Calibri"/>
                <a:cs typeface="Calibri"/>
              </a:rPr>
              <a:t>Qué es. </a:t>
            </a:r>
            <a:r>
              <a:rPr sz="1700" b="0" i="0">
                <a:solidFill>
                  <a:srgbClr val="222222"/>
                </a:solidFill>
                <a:latin typeface="Calibri"/>
                <a:cs typeface="Calibri"/>
              </a:rPr>
              <a:t>las contraseñas se guardan de una forma que permite recuperarlas si se filtra la tabla.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5661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B3A6E"/>
                </a:solidFill>
                <a:latin typeface="Calibri"/>
                <a:cs typeface="Calibri"/>
              </a:rPr>
              <a:t>El patrón. </a:t>
            </a:r>
            <a:r>
              <a:rPr sz="1700" b="0" i="0">
                <a:solidFill>
                  <a:srgbClr val="222222"/>
                </a:solidFill>
                <a:latin typeface="Calibri"/>
                <a:cs typeface="Calibri"/>
              </a:rPr>
              <a:t>hash lento con sal. Se usa una función hecha para contraseñas.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137160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F3F4F7"/>
          </a:solidFill>
          <a:ln w="9525">
            <a:solidFill>
              <a:srgbClr val="D7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91440" b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5B667A"/>
                </a:solidFill>
                <a:latin typeface="Consolas"/>
                <a:cs typeface="Consolas"/>
              </a:rPr>
              <a:t>// login.php y esquema.sql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... clave = '" . </a:t>
            </a:r>
            <a:r>
              <a:rPr sz="1450" b="1">
                <a:solidFill>
                  <a:srgbClr val="B0362F"/>
                </a:solidFill>
                <a:latin typeface="Consolas"/>
                <a:cs typeface="Consolas"/>
              </a:rPr>
              <a:t>md5($clave)</a:t>
            </a:r>
            <a:r>
              <a:rPr sz="1450" b="0">
                <a:solidFill>
                  <a:srgbClr val="1B233A"/>
                </a:solidFill>
                <a:latin typeface="Consolas"/>
                <a:cs typeface="Consolas"/>
              </a:rPr>
              <a:t> . "'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1097280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B03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cs typeface="Calibri"/>
              </a:rPr>
              <a:t>VULNERABLE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3429000"/>
            <a:ext cx="5486400" cy="1600200"/>
          </a:xfrm>
          <a:prstGeom prst="roundRect">
            <a:avLst>
              <a:gd name="adj" fmla="val 5000"/>
            </a:avLst>
          </a:prstGeom>
          <a:solidFill>
            <a:srgbClr val="F3F4F7"/>
          </a:solidFill>
          <a:ln w="9525">
            <a:solidFill>
              <a:srgbClr val="D7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91440" b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E6B3E"/>
                </a:solidFill>
                <a:latin typeface="Consolas"/>
                <a:cs typeface="Consolas"/>
              </a:rPr>
              <a:t>password_hash($clave, PASSWORD_DEFAULT);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1E6B3E"/>
                </a:solidFill>
                <a:latin typeface="Consolas"/>
                <a:cs typeface="Consolas"/>
              </a:rPr>
              <a:t>password_verify($clave, $hash);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154680"/>
            <a:ext cx="1417320" cy="256032"/>
          </a:xfrm>
          <a:prstGeom prst="roundRect">
            <a:avLst>
              <a:gd name="adj" fmla="val 50000"/>
            </a:avLst>
          </a:prstGeom>
          <a:solidFill>
            <a:srgbClr val="1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cs typeface="Calibri"/>
              </a:rPr>
              <a:t>SEGURO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Los cinco patrones en una tabla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1371600"/>
          <a:ext cx="10424160" cy="3246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3566160"/>
                <a:gridCol w="38404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Falla (CWE)</a:t>
                      </a:r>
                    </a:p>
                  </a:txBody>
                  <a:tcPr marL="109728" marR="91440" marT="36576" marB="36576" anchor="ctr">
                    <a:solidFill>
                      <a:srgbClr val="2B3A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Patrón</a:t>
                      </a:r>
                    </a:p>
                  </a:txBody>
                  <a:tcPr marL="109728" marR="91440" marT="36576" marB="36576" anchor="ctr">
                    <a:solidFill>
                      <a:srgbClr val="2B3A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En una línea</a:t>
                      </a:r>
                    </a:p>
                  </a:txBody>
                  <a:tcPr marL="109728" marR="91440" marT="36576" marB="36576" anchor="ctr">
                    <a:solidFill>
                      <a:srgbClr val="2B3A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Inyección SQL (89)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Consulta parametrizada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El dato va por ?, nunca pegado al SQL.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XSS (79)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Codificación de salida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Se escapa al mostrarlo.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IDOR (639)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Control de acceso por objeto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Se verifica que sea suyo, no solo que haya sesión.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Salto de directorio (22)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Lista blanca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Solo se sirve lo que está en una lista fija.</a:t>
                      </a:r>
                    </a:p>
                  </a:txBody>
                  <a:tcPr marL="109728" marR="91440" marT="36576" marB="36576" anchor="ctr">
                    <a:solidFill>
                      <a:srgbClr val="EF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Hash débil (916)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Hash lento con sal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  <a:cs typeface="Calibri"/>
                        </a:rPr>
                        <a:t>password_hash / password_verify, nunca MD5.</a:t>
                      </a:r>
                    </a:p>
                  </a:txBody>
                  <a:tcPr marL="109728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55778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B667A"/>
                </a:solidFill>
                <a:latin typeface="Calibri"/>
                <a:cs typeface="Calibri"/>
              </a:rPr>
              <a:t>Cuatro de las cinco son la misma frase —el dato del usuario se volvió otra cosa— y todas se cierran igual: tratar el dato como dato.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Errores frecuentes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3327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  <a:spcAft>
                <a:spcPts val="1600"/>
              </a:spcAft>
            </a:pPr>
            <a:r>
              <a:rPr sz="175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750" b="0" i="0">
                <a:solidFill>
                  <a:srgbClr val="222222"/>
                </a:solidFill>
                <a:latin typeface="Calibri"/>
                <a:cs typeface="Calibri"/>
              </a:rPr>
              <a:t>Creer que validar la entrada alcanza para el XSS: </a:t>
            </a:r>
            <a:r>
              <a:rPr sz="1750" b="0" i="0">
                <a:solidFill>
                  <a:srgbClr val="5B667A"/>
                </a:solidFill>
                <a:latin typeface="Calibri"/>
                <a:cs typeface="Calibri"/>
              </a:rPr>
              <a:t>el patrón es escapar en la salida.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600"/>
              </a:spcAft>
            </a:pPr>
            <a:r>
              <a:rPr sz="175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750" b="0" i="0">
                <a:solidFill>
                  <a:srgbClr val="222222"/>
                </a:solidFill>
                <a:latin typeface="Calibri"/>
                <a:cs typeface="Calibri"/>
              </a:rPr>
              <a:t>Confundir estar logueado con tener permiso: </a:t>
            </a:r>
            <a:r>
              <a:rPr sz="1750" b="0" i="0">
                <a:solidFill>
                  <a:srgbClr val="5B667A"/>
                </a:solidFill>
                <a:latin typeface="Calibri"/>
                <a:cs typeface="Calibri"/>
              </a:rPr>
              <a:t>hay que verificar el permiso sobre cada objeto.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600"/>
              </a:spcAft>
            </a:pPr>
            <a:r>
              <a:rPr sz="175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750" b="0" i="0">
                <a:solidFill>
                  <a:srgbClr val="222222"/>
                </a:solidFill>
                <a:latin typeface="Calibri"/>
                <a:cs typeface="Calibri"/>
              </a:rPr>
              <a:t>Usar lista negra en vez de lista blanca: </a:t>
            </a:r>
            <a:r>
              <a:rPr sz="1750" b="0" i="0">
                <a:solidFill>
                  <a:srgbClr val="5B667A"/>
                </a:solidFill>
                <a:latin typeface="Calibri"/>
                <a:cs typeface="Calibri"/>
              </a:rPr>
              <a:t>prohibir lo malo siempre deja un caso afuera.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600"/>
              </a:spcAft>
            </a:pPr>
            <a:r>
              <a:rPr sz="175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750" b="0" i="0">
                <a:solidFill>
                  <a:srgbClr val="222222"/>
                </a:solidFill>
                <a:latin typeface="Calibri"/>
                <a:cs typeface="Calibri"/>
              </a:rPr>
              <a:t>Inventar el guardado de contraseñas: </a:t>
            </a:r>
            <a:r>
              <a:rPr sz="1750" b="0" i="0">
                <a:solidFill>
                  <a:srgbClr val="5B667A"/>
                </a:solidFill>
                <a:latin typeface="Calibri"/>
                <a:cs typeface="Calibri"/>
              </a:rPr>
              <a:t>existe password_hash; se usa y punto.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pattFill prst="ltUpDiag">
            <a:fgClr>
              <a:srgbClr val="C2CAD6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20624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0" i="0">
                <a:solidFill>
                  <a:srgbClr val="2B3A6E"/>
                </a:solidFill>
                <a:latin typeface="Calibri"/>
                <a:cs typeface="Calibri"/>
              </a:rPr>
              <a:t>El laboratorio: Romperla y arreglarla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327648"/>
            <a:ext cx="10561320" cy="3048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51215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5B667A"/>
                </a:solidFill>
                <a:latin typeface="Calibri"/>
                <a:cs typeface="Calibri"/>
              </a:rPr>
              <a:t>CIBERSEGURIDAD</a:t>
            </a:r>
            <a:r>
              <a:rPr sz="950" b="0" i="0">
                <a:solidFill>
                  <a:srgbClr val="5B667A"/>
                </a:solidFill>
                <a:latin typeface="Calibri"/>
                <a:cs typeface="Calibri"/>
              </a:rPr>
              <a:t>  ·  3.º Bachillerato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B3A6E"/>
                </a:solidFill>
                <a:latin typeface="Calibri"/>
                <a:cs typeface="Calibri"/>
              </a:rPr>
              <a:t>Primera evaluación formativa del curso. </a:t>
            </a:r>
            <a:r>
              <a:rPr sz="1800" b="0" i="0">
                <a:solidFill>
                  <a:srgbClr val="222222"/>
                </a:solidFill>
                <a:latin typeface="Calibri"/>
                <a:cs typeface="Calibri"/>
              </a:rPr>
              <a:t>En la sala, sobre una aplicación que corre de verdad y tiene las cinco fallas.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02412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  <a:spcAft>
                <a:spcPts val="1300"/>
              </a:spcAft>
            </a:pPr>
            <a:r>
              <a:rPr sz="175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750" b="1" i="0">
                <a:solidFill>
                  <a:srgbClr val="222222"/>
                </a:solidFill>
                <a:latin typeface="Calibri"/>
                <a:cs typeface="Calibri"/>
              </a:rPr>
              <a:t>Romperla: </a:t>
            </a:r>
            <a:r>
              <a:rPr sz="1750" b="0" i="0">
                <a:solidFill>
                  <a:srgbClr val="222222"/>
                </a:solidFill>
                <a:latin typeface="Calibri"/>
                <a:cs typeface="Calibri"/>
              </a:rPr>
              <a:t>explotar cada falla desde el navegador, sin herramientas.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300"/>
              </a:spcAft>
            </a:pPr>
            <a:r>
              <a:rPr sz="175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750" b="1" i="0">
                <a:solidFill>
                  <a:srgbClr val="222222"/>
                </a:solidFill>
                <a:latin typeface="Calibri"/>
                <a:cs typeface="Calibri"/>
              </a:rPr>
              <a:t>Arreglarla: </a:t>
            </a:r>
            <a:r>
              <a:rPr sz="1750" b="0" i="0">
                <a:solidFill>
                  <a:srgbClr val="222222"/>
                </a:solidFill>
                <a:latin typeface="Calibri"/>
                <a:cs typeface="Calibri"/>
              </a:rPr>
              <a:t>nombrar el patrón de cada una y ver la línea corregida.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300"/>
              </a:spcAft>
            </a:pPr>
            <a:r>
              <a:rPr sz="1750" b="1">
                <a:solidFill>
                  <a:srgbClr val="2B3A6E"/>
                </a:solidFill>
                <a:latin typeface="Calibri"/>
                <a:cs typeface="Calibri"/>
              </a:rPr>
              <a:t>•  </a:t>
            </a:r>
            <a:r>
              <a:rPr sz="1750" b="0" i="0">
                <a:solidFill>
                  <a:srgbClr val="222222"/>
                </a:solidFill>
                <a:latin typeface="Calibri"/>
                <a:cs typeface="Calibri"/>
              </a:rPr>
              <a:t>Comprobar que, sobre la versión segura, los cinco ataques ya no funcionan.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548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5B667A"/>
                </a:solidFill>
                <a:latin typeface="Calibri"/>
                <a:cs typeface="Calibri"/>
              </a:rPr>
              <a:t>Se hace solo sobre la aplicación preparada para eso. Atacar un sistema ajeno es delito (Ley N.º 20.327).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0" i="0">
                <a:solidFill>
                  <a:srgbClr val="FFFFFF"/>
                </a:solidFill>
                <a:latin typeface="Calibri"/>
                <a:cs typeface="Calibri"/>
              </a:rPr>
              <a:t>Las cinco fallas comparten un error —confiar en lo que llega de afuera— </a:t>
            </a:r>
            <a:r>
              <a:rPr sz="2500" b="1" i="0">
                <a:solidFill>
                  <a:srgbClr val="FFFFFF"/>
                </a:solidFill>
                <a:latin typeface="Calibri"/>
                <a:cs typeface="Calibri"/>
              </a:rPr>
              <a:t>y se cierran tratando el dato como dato, no como orden.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3949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5CCDE"/>
                </a:solidFill>
                <a:latin typeface="Calibri"/>
                <a:cs typeface="Calibri"/>
              </a:rPr>
              <a:t>OWASP Top 10 · MITRE CWE · SANS/CWE Top 25 · Manual de PHP · NIST SP 800-63B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Vulnerabilidades y cómo se cierran en el código</dc:title>
  <dc:subject/>
  <dc:creator>diego.renaldin@hotmail.com</dc:creator>
  <cp:keywords/>
  <dc:description/>
  <cp:lastModifiedBy>diego.renaldin@hotmail.com</cp:lastModifiedBy>
  <cp:revision>1</cp:revision>
  <dcterms:created xsi:type="dcterms:W3CDTF">2013-01-27T09:14:16Z</dcterms:created>
  <dcterms:modified xsi:type="dcterms:W3CDTF">2013-01-27T09:15:58Z</dcterms:modified>
  <cp:category/>
  <cp:contentStatus/>
</cp:coreProperties>
</file>