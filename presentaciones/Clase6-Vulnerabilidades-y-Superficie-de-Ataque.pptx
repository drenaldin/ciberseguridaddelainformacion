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Cambio de enfoque respecto de las clases anteriores: acá no nos quedamos en el concepto. Cada vulnerabilidad la vamos a ver en el código que la deja entrar y en el código que la cierra, sobre una aplicación que corre de verdad en la sala. No hay que memorizar PHP: hay que reconocer la falla y saber qué patrón le corresponde.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mapa de la clase es una tabla de dos columnas: la falla y el patrón que la cierra. Las cinco están entre las más frecuentes del mundo real (SANS/CWE Top 25). Todo lo demás son ejemplos concretos de estas cinco parejas.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patrón es el concepto nuevo respecto de las clases anteriores. No es un truco: es la forma en que hoy se resuelve SIEMPRE ese problema. Cuando digamos «acá va una consulta parametrizada», es una regla, no una sugerencia.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diapositiva que ordena toda la clase. Las cinco fallas parecen distintas pero abajo son el mismo error. Si se llevan una sola idea, que sea esta: nunca confíes en lo que viene de afuera. Los cinco patrones son esa regla aplicada en cinco lugares.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flecha que entra es controlada por quien usa la aplicación, no por vos. El portal del liceo tiene estas cuatro entradas, y cada falla de hoy entra por una de ellas.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CWE es el TIPO de falla; el CVE (que vimos de pasada) sería el caso concreto en un producto. Hoy trabajamos con tipos, porque los patrones se aplican por tipo.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hacerlo en vivo si hay proyector: escribir el payload en la cédula y mostrar que entra como Marta, la adscripta, que ve todos los boletines. El asombro de que funcione es medio punto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dos columnas dicen lo mismo salvo tres líneas. El prepare + ? es el patrón. No hay que saber PHP para verlo: la cédula está adentro de las comillas a la izquierda, y afuera, como parámetro, a la derecha.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error que la inyección SQL, en otro idioma: allá el dato se volvía SQL, acá se vuelve HTML. Y el patrón es escapar en la salida, no filtrar la entrada. Ojo con el error 1 de la clase: prohibir el &lt; no es la solución.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más silencioso de los cinco: el código «funciona», muestra un boletín, no da error. La falla se ve solo preguntando «¿y si pido el de otro?». Autenticar no es autorizar.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fallas 4 y 6 van juntas: el salto de directorio es el camino, y la contraseña de la base es el premio. Cerrando el salto, el secreto deja de ser alcanzable. Patrón de predeterminados a prueba de fallos de la clase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MD5 es rápido (millones de intentos por segundo) y sin sal (la misma cadena ya está en tablas que circulan). password_hash resuelve las dos cosas de una. La regla: no inventes, usá la función que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Misma advertencia del acuerdo de uso responsable. La herramienta y el delito se separan por una sola cosa: la autorización escrita. Sobre este portal, sí; sobre cualquier otra cosa,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síntesis. Si en la corrección aparece un patrón mal aplicado, se vuelve a esta tabla. El concepto es la última fila de la izquierda: tratar el dato como 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Grupos de a dos. El portal ya está levantado en cada máquina. La comparación más clara es abrir los dos login.php lado a lado: cambian tres líneas y cierran dos fallas.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pista apunta al IDOR: es el único que no da error, el código funciona igual. El material completo, la actividad y el código están en el repositorio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84048" y="0"/>
            <a:ext cx="91440" cy="685800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234440" y="123444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CIBERSEGURIDAD DE LA INFORMACIÓN  ·  3.º BT  ·  CONTENIDO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64208"/>
            <a:ext cx="9784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Vulnerabilidades</a:t>
            </a:r>
          </a:p>
          <a:p>
            <a:pPr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y cómo se cierran </a:t>
            </a:r>
            <a:r>
              <a:rPr sz="5400" b="1" i="0">
                <a:solidFill>
                  <a:srgbClr val="5B34C7"/>
                </a:solidFill>
                <a:latin typeface="Rockwell"/>
                <a:ea typeface="Rockwell"/>
                <a:cs typeface="Rockwell"/>
              </a:rPr>
              <a:t>en el código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3977639"/>
            <a:ext cx="2743200" cy="32004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234440" y="4297680"/>
            <a:ext cx="9646920" cy="1188720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53896" y="4443984"/>
            <a:ext cx="92445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la línea que deja entrar el ataque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$sql = "... WHERE cedula = '$cedula' ...";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la línea que lo cierra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$db-&gt;prepare("... WHERE cedula = ?")-&gt;execute([$cedula]);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58064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Clase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RECORRIDO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Cinco fallas, cinco patrones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1591056"/>
            <a:ext cx="10911535" cy="82296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1527048"/>
            <a:ext cx="10911535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77824" y="1783080"/>
            <a:ext cx="914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5B3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 i="0">
                <a:solidFill>
                  <a:srgbClr val="5B34C7"/>
                </a:solidFill>
                <a:latin typeface="Courier New"/>
                <a:ea typeface="Courier New"/>
                <a:cs typeface="Courier New"/>
              </a:rPr>
              <a:t>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67335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Inyección 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673352"/>
            <a:ext cx="4419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→ </a:t>
            </a:r>
            <a:r>
              <a:rPr sz="1350" b="1" i="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Consulta parametrizada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2523744"/>
            <a:ext cx="10911535" cy="8229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40080" y="2459736"/>
            <a:ext cx="10911535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7824" y="2715768"/>
            <a:ext cx="914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 i="0">
                <a:solidFill>
                  <a:srgbClr val="0E7C66"/>
                </a:solidFill>
                <a:latin typeface="Courier New"/>
                <a:ea typeface="Courier New"/>
                <a:cs typeface="Courier New"/>
              </a:rPr>
              <a:t>XSS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60604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Cross-site scripting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606040"/>
            <a:ext cx="4419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E7C66"/>
                </a:solidFill>
                <a:latin typeface="Verdana"/>
                <a:ea typeface="Verdana"/>
                <a:cs typeface="Verdana"/>
              </a:rPr>
              <a:t>→ </a:t>
            </a:r>
            <a:r>
              <a:rPr sz="1350" b="1" i="0">
                <a:solidFill>
                  <a:srgbClr val="0E7C66"/>
                </a:solidFill>
                <a:latin typeface="Verdana"/>
                <a:ea typeface="Verdana"/>
                <a:cs typeface="Verdana"/>
              </a:rPr>
              <a:t>Codificación de salida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3456432"/>
            <a:ext cx="10911535" cy="822960"/>
          </a:xfrm>
          <a:prstGeom prst="rect">
            <a:avLst/>
          </a:prstGeom>
          <a:solidFill>
            <a:srgbClr val="C98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40080" y="3392424"/>
            <a:ext cx="10911535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77824" y="3648456"/>
            <a:ext cx="914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98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 i="0">
                <a:solidFill>
                  <a:srgbClr val="C9821B"/>
                </a:solidFill>
                <a:latin typeface="Courier New"/>
                <a:ea typeface="Courier New"/>
                <a:cs typeface="Courier New"/>
              </a:rPr>
              <a:t>IDOR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53872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Referencia insegura a objeto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538728"/>
            <a:ext cx="4419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9821B"/>
                </a:solidFill>
                <a:latin typeface="Verdana"/>
                <a:ea typeface="Verdana"/>
                <a:cs typeface="Verdana"/>
              </a:rPr>
              <a:t>→ </a:t>
            </a:r>
            <a:r>
              <a:rPr sz="1350" b="1" i="0">
                <a:solidFill>
                  <a:srgbClr val="C9821B"/>
                </a:solidFill>
                <a:latin typeface="Verdana"/>
                <a:ea typeface="Verdana"/>
                <a:cs typeface="Verdana"/>
              </a:rPr>
              <a:t>Control de acceso por objeto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" y="4389120"/>
            <a:ext cx="10911535" cy="822960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10911535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77824" y="4581144"/>
            <a:ext cx="914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B0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 i="0">
                <a:solidFill>
                  <a:srgbClr val="B02A37"/>
                </a:solidFill>
                <a:latin typeface="Courier New"/>
                <a:ea typeface="Courier New"/>
                <a:cs typeface="Courier New"/>
              </a:rPr>
              <a:t>PATH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471416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Salto de directorio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471416"/>
            <a:ext cx="4419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02A37"/>
                </a:solidFill>
                <a:latin typeface="Verdana"/>
                <a:ea typeface="Verdana"/>
                <a:cs typeface="Verdana"/>
              </a:rPr>
              <a:t>→ </a:t>
            </a:r>
            <a:r>
              <a:rPr sz="1350" b="1" i="0">
                <a:solidFill>
                  <a:srgbClr val="B02A37"/>
                </a:solidFill>
                <a:latin typeface="Verdana"/>
                <a:ea typeface="Verdana"/>
                <a:cs typeface="Verdana"/>
              </a:rPr>
              <a:t>Lista blanca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" y="5321808"/>
            <a:ext cx="10911535" cy="822960"/>
          </a:xfrm>
          <a:prstGeom prst="rect">
            <a:avLst/>
          </a:prstGeom>
          <a:solidFill>
            <a:srgbClr val="3B1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40080" y="5257800"/>
            <a:ext cx="10911535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77824" y="5513832"/>
            <a:ext cx="9144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3B1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 i="0">
                <a:solidFill>
                  <a:srgbClr val="3B1F8C"/>
                </a:solidFill>
                <a:latin typeface="Courier New"/>
                <a:ea typeface="Courier New"/>
                <a:cs typeface="Courier New"/>
              </a:rPr>
              <a:t>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54041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Contraseñas mal guardadas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5404104"/>
            <a:ext cx="4419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3B1F8C"/>
                </a:solidFill>
                <a:latin typeface="Verdana"/>
                <a:ea typeface="Verdana"/>
                <a:cs typeface="Verdana"/>
              </a:rPr>
              <a:t>→ </a:t>
            </a:r>
            <a:r>
              <a:rPr sz="1350" b="1" i="0">
                <a:solidFill>
                  <a:srgbClr val="3B1F8C"/>
                </a:solidFill>
                <a:latin typeface="Verdana"/>
                <a:ea typeface="Verdana"/>
                <a:cs typeface="Verdana"/>
              </a:rPr>
              <a:t>Hash lento con sal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85455" y="457200"/>
            <a:ext cx="365760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0" b="1" i="0">
                <a:solidFill>
                  <a:srgbClr val="4A27A8"/>
                </a:solidFill>
                <a:latin typeface="Rockwell"/>
                <a:ea typeface="Rockwell"/>
                <a:cs typeface="Rockwel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0604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50" b="1" i="0" spc="250">
                <a:solidFill>
                  <a:srgbClr val="C5B4F5"/>
                </a:solidFill>
                <a:latin typeface="Verdana"/>
                <a:ea typeface="Verdana"/>
                <a:cs typeface="Verdana"/>
              </a:rPr>
              <a:t>ANTES DE EMPEZAR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Rockwell"/>
                <a:ea typeface="Rockwell"/>
                <a:cs typeface="Rockwell"/>
              </a:rPr>
              <a:t>Tres palabras
que no son lo mismo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VOCABULARIO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Amenaza, vulnerabilidad, patrón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1682496"/>
            <a:ext cx="3454298" cy="2331720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1618488"/>
            <a:ext cx="3454298" cy="233172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40080" y="1618488"/>
            <a:ext cx="3454298" cy="91440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1883664"/>
            <a:ext cx="297881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 spc="80">
                <a:solidFill>
                  <a:srgbClr val="B02A37"/>
                </a:solidFill>
                <a:latin typeface="Rockwell"/>
                <a:ea typeface="Rockwell"/>
                <a:cs typeface="Rockwell"/>
              </a:rPr>
              <a:t>AMENAZA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Quien o qué podría atacar.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→ Alguien que quiere entrar sin contraseña.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2706" y="1682496"/>
            <a:ext cx="3454298" cy="233172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68698" y="1618488"/>
            <a:ext cx="3454298" cy="233172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68698" y="1618488"/>
            <a:ext cx="3454298" cy="9144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06442" y="1883664"/>
            <a:ext cx="297881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 spc="80">
                <a:solidFill>
                  <a:srgbClr val="5B34C7"/>
                </a:solidFill>
                <a:latin typeface="Rockwell"/>
                <a:ea typeface="Rockwell"/>
                <a:cs typeface="Rockwell"/>
              </a:rPr>
              <a:t>VULNERABILIDAD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La debilidad que lo permite.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→ El login pega la cédula al texto del SQL.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61324" y="1682496"/>
            <a:ext cx="3454298" cy="233172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97316" y="1618488"/>
            <a:ext cx="3454298" cy="233172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97316" y="1618488"/>
            <a:ext cx="3454298" cy="9144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35060" y="1883664"/>
            <a:ext cx="297881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 spc="80">
                <a:solidFill>
                  <a:srgbClr val="0E7C66"/>
                </a:solidFill>
                <a:latin typeface="Rockwell"/>
                <a:ea typeface="Rockwell"/>
                <a:cs typeface="Rockwell"/>
              </a:rPr>
              <a:t>PATRÓN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La forma conocida de cerrarla.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→ Usar una consulta parametrizada.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4288536"/>
            <a:ext cx="10911535" cy="109728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40080" y="4224528"/>
            <a:ext cx="10911535" cy="1097280"/>
          </a:xfrm>
          <a:prstGeom prst="rect">
            <a:avLst/>
          </a:prstGeom>
          <a:solidFill>
            <a:srgbClr val="ECE6FB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77824" y="4407408"/>
            <a:ext cx="10436047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La vulnerabilidad es la única sobre la que actuás directamente. 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No elegís quién te ataca; sí elegís cómo escribís el código. Un patrón es una solución probada, no una opinión: desviarse vuelve a abrir la falla.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EL CONCEPTO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El error de fondo: confiar en lo de afuera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1682496"/>
            <a:ext cx="10911535" cy="86868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1618488"/>
            <a:ext cx="10911535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1618488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El programa confía en que lo que llega de afuera es lo que espera.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15768"/>
            <a:ext cx="10911535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6112" y="2715768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Espera una cédula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715768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2A37"/>
                </a:solidFill>
                <a:latin typeface="Verdana"/>
                <a:ea typeface="Verdana"/>
                <a:cs typeface="Verdana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715768"/>
            <a:ext cx="487649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02A37"/>
                </a:solidFill>
                <a:latin typeface="Courier New"/>
                <a:ea typeface="Courier New"/>
                <a:cs typeface="Courier New"/>
              </a:rPr>
              <a:t>llega un pedazo de SQL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74136"/>
            <a:ext cx="10911535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3374136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Espera un nombre para buscar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374136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2A37"/>
                </a:solidFill>
                <a:latin typeface="Verdana"/>
                <a:ea typeface="Verdana"/>
                <a:cs typeface="Verdana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374136"/>
            <a:ext cx="487649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02A37"/>
                </a:solidFill>
                <a:latin typeface="Courier New"/>
                <a:ea typeface="Courier New"/>
                <a:cs typeface="Courier New"/>
              </a:rPr>
              <a:t>llega un &lt;script&gt;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32504"/>
            <a:ext cx="10911535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112" y="4032504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Espera que pidas TU boletín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032504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2A37"/>
                </a:solidFill>
                <a:latin typeface="Verdana"/>
                <a:ea typeface="Verdana"/>
                <a:cs typeface="Verdana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032504"/>
            <a:ext cx="487649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02A37"/>
                </a:solidFill>
                <a:latin typeface="Courier New"/>
                <a:ea typeface="Courier New"/>
                <a:cs typeface="Courier New"/>
              </a:rPr>
              <a:t>pedís el de otro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690872"/>
            <a:ext cx="10911535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96112" y="4690872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Espera un archivo del liceo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690872"/>
            <a:ext cx="640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2A37"/>
                </a:solidFill>
                <a:latin typeface="Verdana"/>
                <a:ea typeface="Verdana"/>
                <a:cs typeface="Verdana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690872"/>
            <a:ext cx="487649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02A37"/>
                </a:solidFill>
                <a:latin typeface="Courier New"/>
                <a:ea typeface="Courier New"/>
                <a:cs typeface="Courier New"/>
              </a:rPr>
              <a:t>llega ../conexion.php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DÓNDE ENTRA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La superficie de ataque de una aplicación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Cada punto por el que le entra información a tu programa desde afuera es un lugar donde probar un ataque.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2414016"/>
            <a:ext cx="10911535" cy="64008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40080" y="2350008"/>
            <a:ext cx="10911535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350008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Campos de un formulario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350008"/>
            <a:ext cx="624809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la cédula y la clave del login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3163824"/>
            <a:ext cx="10911535" cy="64008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40080" y="3099816"/>
            <a:ext cx="10911535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" y="3099816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Parámetros en la 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3099816"/>
            <a:ext cx="624809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boletin.php?id=3  — el 3 lo pone quien pide la página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" y="3913632"/>
            <a:ext cx="10911535" cy="64008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40080" y="3849624"/>
            <a:ext cx="10911535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96112" y="3849624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Lo que se busca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3849624"/>
            <a:ext cx="624809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el término del buscador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" y="4663440"/>
            <a:ext cx="10911535" cy="64008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40080" y="4599432"/>
            <a:ext cx="10911535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6112" y="4599432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El nombre de un archivo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4599432"/>
            <a:ext cx="624809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280"/>
                </a:solidFill>
                <a:latin typeface="Courier New"/>
                <a:ea typeface="Courier New"/>
                <a:cs typeface="Courier New"/>
              </a:rPr>
              <a:t>descargar.php?archivo=...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67528"/>
            <a:ext cx="10911535" cy="603504"/>
          </a:xfrm>
          <a:prstGeom prst="rect">
            <a:avLst/>
          </a:prstGeom>
          <a:solidFill>
            <a:srgbClr val="E3F2EE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7824" y="5550408"/>
            <a:ext cx="104360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Reducir la superficie es tener menos entradas y, sobre todo, no confiar en ninguna.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CÓMO SE NOMBRAN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CWE: el tipo de falla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55648"/>
            <a:ext cx="10911535" cy="36576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1755648"/>
            <a:ext cx="147213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10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TIPO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6538" y="1755648"/>
            <a:ext cx="31088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10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NOMBRE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9998" y="1755648"/>
            <a:ext cx="58367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10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EN UNA FRASE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21408"/>
            <a:ext cx="1091153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2121408"/>
            <a:ext cx="147213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34C7"/>
                </a:solidFill>
                <a:latin typeface="Courier New"/>
                <a:ea typeface="Courier New"/>
                <a:cs typeface="Courier New"/>
              </a:rPr>
              <a:t>CWE-89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6538" y="2121408"/>
            <a:ext cx="31088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Inyección 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9998" y="2121408"/>
            <a:ext cx="58367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Datos del usuario terminan siendo órdenes para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78608"/>
            <a:ext cx="10911535" cy="457200"/>
          </a:xfrm>
          <a:prstGeom prst="rect">
            <a:avLst/>
          </a:prstGeom>
          <a:solidFill>
            <a:srgbClr val="F6F7FA"/>
          </a:solidFill>
          <a:ln w="9525">
            <a:solidFill>
              <a:srgbClr val="C7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" y="2578608"/>
            <a:ext cx="147213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66"/>
                </a:solidFill>
                <a:latin typeface="Courier New"/>
                <a:ea typeface="Courier New"/>
                <a:cs typeface="Courier New"/>
              </a:rPr>
              <a:t>CWE-79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6538" y="2578608"/>
            <a:ext cx="31088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Cross-site scripting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9998" y="2578608"/>
            <a:ext cx="58367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Texto del usuario termina siendo código en el navegador.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35808"/>
            <a:ext cx="1091153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" y="3035808"/>
            <a:ext cx="147213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821B"/>
                </a:solidFill>
                <a:latin typeface="Courier New"/>
                <a:ea typeface="Courier New"/>
                <a:cs typeface="Courier New"/>
              </a:rPr>
              <a:t>CWE-639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86538" y="3035808"/>
            <a:ext cx="31088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Referencia insegura (IDOR)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9998" y="3035808"/>
            <a:ext cx="58367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Cambiando un número en la URL se accede a lo ajeno.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493008"/>
            <a:ext cx="10911535" cy="457200"/>
          </a:xfrm>
          <a:prstGeom prst="rect">
            <a:avLst/>
          </a:prstGeom>
          <a:solidFill>
            <a:srgbClr val="F6F7FA"/>
          </a:solidFill>
          <a:ln w="9525">
            <a:solidFill>
              <a:srgbClr val="C7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9808" y="3493008"/>
            <a:ext cx="147213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2A37"/>
                </a:solidFill>
                <a:latin typeface="Courier New"/>
                <a:ea typeface="Courier New"/>
                <a:cs typeface="Courier New"/>
              </a:rPr>
              <a:t>CWE-22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38" y="3493008"/>
            <a:ext cx="31088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Salto de directorio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9998" y="3493008"/>
            <a:ext cx="58367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Con ../ se llega a archivos que no correspondían.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950208"/>
            <a:ext cx="1091153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49808" y="3950208"/>
            <a:ext cx="147213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B1F8C"/>
                </a:solidFill>
                <a:latin typeface="Courier New"/>
                <a:ea typeface="Courier New"/>
                <a:cs typeface="Courier New"/>
              </a:rPr>
              <a:t>CWE-916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6538" y="3950208"/>
            <a:ext cx="31088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Hash de contraseña débil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59998" y="3950208"/>
            <a:ext cx="58367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Las contraseñas se guardan de una forma que se rompe fácil.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44568"/>
            <a:ext cx="10911535" cy="777240"/>
          </a:xfrm>
          <a:prstGeom prst="rect">
            <a:avLst/>
          </a:prstGeom>
          <a:solidFill>
            <a:srgbClr val="FDF2DE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77824" y="4727448"/>
            <a:ext cx="10436047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Las cinco están en el SANS/CWE Top 25, </a:t>
            </a:r>
            <a:r>
              <a:rPr sz="135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la lista de las debilidades de software más peligrosas y frecuentes. Aprender estas cinco cubre una parte enorme de lo que se explota.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85455" y="457200"/>
            <a:ext cx="365760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0" b="1" i="0">
                <a:solidFill>
                  <a:srgbClr val="4A27A8"/>
                </a:solidFill>
                <a:latin typeface="Rockwell"/>
                <a:ea typeface="Rockwell"/>
                <a:cs typeface="Rockwel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0604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50" b="1" i="0" spc="250">
                <a:solidFill>
                  <a:srgbClr val="C5B4F5"/>
                </a:solidFill>
                <a:latin typeface="Verdana"/>
                <a:ea typeface="Verdana"/>
                <a:cs typeface="Verdana"/>
              </a:rPr>
              <a:t>FALLA 1 · CWE-89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Rockwell"/>
                <a:ea typeface="Rockwell"/>
                <a:cs typeface="Rockwell"/>
              </a:rPr>
              <a:t>Inyección SQL</a:t>
            </a:r>
          </a:p>
          <a:p>
            <a:pPr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CFC4F2"/>
                </a:solidFill>
                <a:latin typeface="Verdana"/>
                <a:ea typeface="Verdana"/>
                <a:cs typeface="Verdana"/>
              </a:rPr>
              <a:t>El dato del usuario se vuelve parte de la consulta. Se cierra con consulta parametrizada.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EL ATAQUE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Entrar sin saber ninguna contraseña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91056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En el login, en el campo de la cédula, alguien escribe esto (y cualquier clave):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39696"/>
            <a:ext cx="10911535" cy="384048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41247" y="2139696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// en el campo CÉDULA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23744"/>
            <a:ext cx="10911535" cy="420624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9536" y="2670048"/>
            <a:ext cx="105091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'  OR rol='adscripta'  --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2724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La consulta que termina ejecutándose: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11296"/>
            <a:ext cx="10911535" cy="841248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3657600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SELECT * FROM usuarios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WHERE cedula = '' OR rol='adscripta' -- ' AND clave = '...'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44568"/>
            <a:ext cx="10911535" cy="777240"/>
          </a:xfrm>
          <a:prstGeom prst="rect">
            <a:avLst/>
          </a:prstGeom>
          <a:solidFill>
            <a:srgbClr val="FAE8EA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727448"/>
            <a:ext cx="10436047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El -- comenta el control de la clave; el OR rol='adscripta' hace que la base devuelva a la adscripta.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B02A37"/>
                </a:solidFill>
                <a:latin typeface="Verdana"/>
                <a:ea typeface="Verdana"/>
                <a:cs typeface="Verdana"/>
              </a:rPr>
              <a:t>El dato del usuario se transformó en una orden. Entra sin adivinar nada.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FALLA 1 · EL PATRÓN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Consulta parametrizada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257800" cy="384048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7" y="1645920"/>
            <a:ext cx="4855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login.php  ✗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8"/>
            <a:ext cx="5257800" cy="139903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2176272"/>
            <a:ext cx="4855464" cy="1124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VULNERABLE · se pega al texto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$sql = "SELECT * FROM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  usuarios WHERE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  cedula = '$cedula' ...";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$db-&gt;query($sql);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645920"/>
            <a:ext cx="5257800" cy="384048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1645920"/>
            <a:ext cx="4855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login.php  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2029968"/>
            <a:ext cx="5257800" cy="139903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0528" y="2176272"/>
            <a:ext cx="4855464" cy="1124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SEGURO · va por parámetro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$stmt = $db-&gt;prepare("SELECT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  * FROM usuarios WHERE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  cedula = ?");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$stmt-&gt;execute([$cedula]);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" y="3694176"/>
            <a:ext cx="10911535" cy="164592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0080" y="3630168"/>
            <a:ext cx="10911535" cy="1645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7824" y="3813048"/>
            <a:ext cx="1043604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34C7"/>
                </a:solidFill>
                <a:latin typeface="Rockwell"/>
                <a:ea typeface="Rockwell"/>
                <a:cs typeface="Rockwell"/>
              </a:rPr>
              <a:t>La regla, sin excepción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El dato del usuario NUNCA se concatena al SQL: siempre va por parámetro (el ?). Así el motor lo trata como un dato, y busca esa cédula literal. ' OR rol='adscripta' -- se busca como si fuera una cédula rarísima: no existe, no entra nadie. Si ves un "... '$algo' ..." armando una consulta, ahí hay una inyección esperando.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85455" y="457200"/>
            <a:ext cx="365760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0" b="1" i="0">
                <a:solidFill>
                  <a:srgbClr val="4A27A8"/>
                </a:solidFill>
                <a:latin typeface="Rockwell"/>
                <a:ea typeface="Rockwell"/>
                <a:cs typeface="Rockwel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0604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50" b="1" i="0" spc="250">
                <a:solidFill>
                  <a:srgbClr val="C5B4F5"/>
                </a:solidFill>
                <a:latin typeface="Verdana"/>
                <a:ea typeface="Verdana"/>
                <a:cs typeface="Verdana"/>
              </a:rPr>
              <a:t>FALLA 2 · CWE-79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Rockwell"/>
                <a:ea typeface="Rockwell"/>
                <a:cs typeface="Rockwell"/>
              </a:rPr>
              <a:t>Cross-site scripting (XSS)</a:t>
            </a:r>
          </a:p>
          <a:p>
            <a:pPr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CFC4F2"/>
                </a:solidFill>
                <a:latin typeface="Verdana"/>
                <a:ea typeface="Verdana"/>
                <a:cs typeface="Verdana"/>
              </a:rPr>
              <a:t>El dato del usuario se vuelve código en el navegador. Se cierra codificando la salida.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FALLA 2 · EL ATAQUE Y EL PATRÓN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El buscador que ejecuta lo que escribís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En el buscador se escribe: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38528"/>
            <a:ext cx="10911535" cy="566928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2084832"/>
            <a:ext cx="105091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&lt;script&gt;alert('robé tu sesión')&lt;/script&gt;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15768"/>
            <a:ext cx="5257800" cy="384048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7" y="2715768"/>
            <a:ext cx="4855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buscar.php  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99816"/>
            <a:ext cx="5257800" cy="103327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59536" y="3246120"/>
            <a:ext cx="485546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VULNERABLE · tal cual en HTML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&lt;h2&gt;Resultados para: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   &lt;?= $q ?&gt;&lt;/h2&gt;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el navegador lo EJECUTA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2715768"/>
            <a:ext cx="5257800" cy="384048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92240" y="2715768"/>
            <a:ext cx="4855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buscar.php  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3099816"/>
            <a:ext cx="5257800" cy="103327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3246120"/>
            <a:ext cx="485546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SEGURO · se escapa al mostrar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&lt;h2&gt;Resultados para: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   &lt;?= h($q) ?&gt;&lt;/h2&gt;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&lt;script&gt; sale como TEXTO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" y="4334256"/>
            <a:ext cx="10911535" cy="100584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0080" y="4270248"/>
            <a:ext cx="10911535" cy="1005840"/>
          </a:xfrm>
          <a:prstGeom prst="rect">
            <a:avLst/>
          </a:prstGeom>
          <a:solidFill>
            <a:srgbClr val="E3F2EE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77824" y="4453128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h() aplica htmlspecialchars: los &lt; y &gt; se convierten en &amp;lt; y &amp;gt;, que se ven igual pero no se ejecutan.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Se arregla en la SALIDA, donde se muestra, no prohibiendo caracteres en la entrada (una búsqueda «nota &lt; 6» es legítima).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85455" y="457200"/>
            <a:ext cx="365760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0" b="1" i="0">
                <a:solidFill>
                  <a:srgbClr val="4A27A8"/>
                </a:solidFill>
                <a:latin typeface="Rockwell"/>
                <a:ea typeface="Rockwell"/>
                <a:cs typeface="Rockwel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0604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50" b="1" i="0" spc="250">
                <a:solidFill>
                  <a:srgbClr val="C5B4F5"/>
                </a:solidFill>
                <a:latin typeface="Verdana"/>
                <a:ea typeface="Verdana"/>
                <a:cs typeface="Verdana"/>
              </a:rPr>
              <a:t>FALLA 3 · CWE-639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Rockwell"/>
                <a:ea typeface="Rockwell"/>
                <a:cs typeface="Rockwell"/>
              </a:rPr>
              <a:t>Referencia insegura (IDOR)</a:t>
            </a:r>
          </a:p>
          <a:p>
            <a:pPr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CFC4F2"/>
                </a:solidFill>
                <a:latin typeface="Verdana"/>
                <a:ea typeface="Verdana"/>
                <a:cs typeface="Verdana"/>
              </a:rPr>
              <a:t>Cambiar un número en la URL para ver lo ajeno. Se cierra con control de acceso por objeto.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FALLA 3 · EL ATAQUE Y EL PATRÓN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Ver lo ajeno cambiando la URL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Camila (estudiante) mira su boletín. Edita el número en la barra de direcciones: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84248"/>
            <a:ext cx="10911535" cy="822960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2130552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boletin.php?id=1     ← el suyo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35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boletin.php?id=3     ← el registro interno de adscripción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44368"/>
            <a:ext cx="5257800" cy="384048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7" y="2944368"/>
            <a:ext cx="4855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boletin.php  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28416"/>
            <a:ext cx="5257800" cy="103327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59536" y="3474720"/>
            <a:ext cx="485546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VULNERABLE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exigir_sesion();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pide estar logueado...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...y nada más.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2944368"/>
            <a:ext cx="5257800" cy="384048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92240" y="2944368"/>
            <a:ext cx="4855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boletin.php  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3328416"/>
            <a:ext cx="5257800" cy="103327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3474720"/>
            <a:ext cx="485546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SEGURO · verifica el permiso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if (!$es_propio &amp;&amp;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    !$es_adscripta)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  { http_response_code(403); 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" y="4562856"/>
            <a:ext cx="10911535" cy="987552"/>
          </a:xfrm>
          <a:prstGeom prst="rect">
            <a:avLst/>
          </a:prstGeom>
          <a:solidFill>
            <a:srgbClr val="C98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0080" y="4498848"/>
            <a:ext cx="10911535" cy="987552"/>
          </a:xfrm>
          <a:prstGeom prst="rect">
            <a:avLst/>
          </a:prstGeom>
          <a:solidFill>
            <a:srgbClr val="FDF2DE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77824" y="4681728"/>
            <a:ext cx="10436047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Tener entrada al edificio no es tener llave de todas las oficinas.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Autenticar (saber quién sos) no es autorizar (saber qué podés ver).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Hay que verificar el permiso sobre CADA objeto. Es mínimo privilegio en PHP.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85455" y="457200"/>
            <a:ext cx="365760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0" b="1" i="0">
                <a:solidFill>
                  <a:srgbClr val="4A27A8"/>
                </a:solidFill>
                <a:latin typeface="Rockwell"/>
                <a:ea typeface="Rockwell"/>
                <a:cs typeface="Rockwel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0604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50" b="1" i="0" spc="250">
                <a:solidFill>
                  <a:srgbClr val="C5B4F5"/>
                </a:solidFill>
                <a:latin typeface="Verdana"/>
                <a:ea typeface="Verdana"/>
                <a:cs typeface="Verdana"/>
              </a:rPr>
              <a:t>FALLA 4 · CWE-22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Rockwell"/>
                <a:ea typeface="Rockwell"/>
                <a:cs typeface="Rockwell"/>
              </a:rPr>
              <a:t>Salto de directorio</a:t>
            </a:r>
          </a:p>
          <a:p>
            <a:pPr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CFC4F2"/>
                </a:solidFill>
                <a:latin typeface="Verdana"/>
                <a:ea typeface="Verdana"/>
                <a:cs typeface="Verdana"/>
              </a:rPr>
              <a:t>Con ../ se leen archivos prohibidos. Se cierra con una lista blanca.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FALLA 4 · EL ATAQUE Y EL PATRÓN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Bajar un archivo que no era para bajar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El enlace baja calendario.txt. Se cambia el final por: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56816"/>
            <a:ext cx="10911535" cy="566928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2103120"/>
            <a:ext cx="105091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descargar.php?archivo=../conexion.php   → baja la contraseña de la BD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15768"/>
            <a:ext cx="5257800" cy="384048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7" y="2715768"/>
            <a:ext cx="4855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descargar.php  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99816"/>
            <a:ext cx="5257800" cy="103327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59536" y="3246120"/>
            <a:ext cx="485546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VULNERABLE · sirve lo que pidan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$archivo = $_GET['archivo'];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readfile(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  'archivos/'.$archivo);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2715768"/>
            <a:ext cx="5257800" cy="384048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92240" y="2715768"/>
            <a:ext cx="4855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descargar.php  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3099816"/>
            <a:ext cx="5257800" cy="103327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3246120"/>
            <a:ext cx="485546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SEGURO · solo lo permitido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$ok = ['calendario.txt',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       'reglamento.txt'];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if(!in_array($archivo,$ok)) 404;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" y="4425696"/>
            <a:ext cx="10911535" cy="9144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0080" y="4361688"/>
            <a:ext cx="10911535" cy="914400"/>
          </a:xfrm>
          <a:prstGeom prst="rect">
            <a:avLst/>
          </a:prstGeom>
          <a:solidFill>
            <a:srgbClr val="ECE6FB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77824" y="4544568"/>
            <a:ext cx="104360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Lista blanca (decir qué SÍ se permite) le gana siempre a lista negra (tratar de prohibir lo malo).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La lista negra se olvida de un caso: hay mil formas de escribir ../ . La lista blanca deja afuera todo lo que no está, por omisión.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85455" y="457200"/>
            <a:ext cx="365760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0" b="1" i="0">
                <a:solidFill>
                  <a:srgbClr val="4A27A8"/>
                </a:solidFill>
                <a:latin typeface="Rockwell"/>
                <a:ea typeface="Rockwell"/>
                <a:cs typeface="Rockwel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0604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50" b="1" i="0" spc="250">
                <a:solidFill>
                  <a:srgbClr val="C5B4F5"/>
                </a:solidFill>
                <a:latin typeface="Verdana"/>
                <a:ea typeface="Verdana"/>
                <a:cs typeface="Verdana"/>
              </a:rPr>
              <a:t>FALLA 5 · CWE-916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Rockwell"/>
                <a:ea typeface="Rockwell"/>
                <a:cs typeface="Rockwell"/>
              </a:rPr>
              <a:t>Contraseñas mal guardadas</a:t>
            </a:r>
          </a:p>
          <a:p>
            <a:pPr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CFC4F2"/>
                </a:solidFill>
                <a:latin typeface="Verdana"/>
                <a:ea typeface="Verdana"/>
                <a:cs typeface="Verdana"/>
              </a:rPr>
              <a:t>MD5 se rompe con una tabla. Se cierra con una función lenta y con sal.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FALLA 5 · EL ATAQUE Y EL PATRÓN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La contraseña guardada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La clave de Camila («1234») está guardada así: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56816"/>
            <a:ext cx="10911535" cy="566928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2103120"/>
            <a:ext cx="105091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81dc9bdb52d04dc20036dbd8313ed055   =  md5('1234')   → está en cualquier tabla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15768"/>
            <a:ext cx="5257800" cy="384048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7" y="2715768"/>
            <a:ext cx="4855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login.php  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99816"/>
            <a:ext cx="5257800" cy="103327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59536" y="3246120"/>
            <a:ext cx="485546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VULNERABLE · MD5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rápido y sin sal: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... WHERE clave =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    '".md5($clave)."'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2715768"/>
            <a:ext cx="5257800" cy="384048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92240" y="2715768"/>
            <a:ext cx="4855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login.php  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3099816"/>
            <a:ext cx="5257800" cy="103327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3246120"/>
            <a:ext cx="485546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SEGURO · bcrypt con sal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$h = password_hash($clave,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      PASSWORD_DEFAULT);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password_verify($clave, $h);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" y="4425696"/>
            <a:ext cx="10911535" cy="914400"/>
          </a:xfrm>
          <a:prstGeom prst="rect">
            <a:avLst/>
          </a:prstGeom>
          <a:solidFill>
            <a:srgbClr val="3B1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0080" y="4361688"/>
            <a:ext cx="10911535" cy="914400"/>
          </a:xfrm>
          <a:prstGeom prst="rect">
            <a:avLst/>
          </a:prstGeom>
          <a:solidFill>
            <a:srgbClr val="ECE6FB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77824" y="4544568"/>
            <a:ext cx="104360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No se inventa el guardado de contraseñas: existe password_hash, lento a propósito y con sal automática.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En la versión segura nunca aparece md5. El hash guardado ($2y$12$...) no se rompe con una tabla. (Hash y sal: en el glosario.)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463040" y="1691640"/>
            <a:ext cx="9265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F5C6CA"/>
                </a:solidFill>
                <a:latin typeface="Verdana"/>
                <a:ea typeface="Verdana"/>
                <a:cs typeface="Verdana"/>
              </a:rPr>
              <a:t>ANTES DEL LABORATORIO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103120"/>
            <a:ext cx="9265615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</a:pPr>
            <a:r>
              <a:rPr sz="3400" b="1" i="0">
                <a:solidFill>
                  <a:srgbClr val="FFFFFF"/>
                </a:solidFill>
                <a:latin typeface="Rockwell"/>
                <a:ea typeface="Rockwell"/>
                <a:cs typeface="Rockwell"/>
              </a:rPr>
              <a:t>Todo esto se hace solo sobre
el portal de la máquina.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Hacer lo mismo contra un sitio ajeno es delito, aunque no rompas ni te lleves nada. Ley N.º 20.327, art. 297 BIS.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D5D8"/>
                </a:solidFill>
                <a:latin typeface="Verdana"/>
                <a:ea typeface="Verdana"/>
                <a:cs typeface="Verdana"/>
              </a:rPr>
              <a:t>El portal es un entorno preparado para practicar, con autorización. Es la diferencia entre un ejercicio y un delito: la autorización.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LA CLASE EN UNA IMAGEN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Las cinco fallas, los cinco patrones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09928"/>
            <a:ext cx="10911535" cy="36576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1709928"/>
            <a:ext cx="24541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10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FALLA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8576" y="1709928"/>
            <a:ext cx="420002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10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EL DATO DEL USUARIO…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33190" y="1709928"/>
            <a:ext cx="3763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10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PATRÓN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75688"/>
            <a:ext cx="10911535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7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2075688"/>
            <a:ext cx="24541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Inyección 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8576" y="2075688"/>
            <a:ext cx="420002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se volvió parte de la consulta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3190" y="2075688"/>
            <a:ext cx="37635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Consulta parametrizada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51176"/>
            <a:ext cx="10911535" cy="475488"/>
          </a:xfrm>
          <a:prstGeom prst="rect">
            <a:avLst/>
          </a:prstGeom>
          <a:solidFill>
            <a:srgbClr val="F6F7FA"/>
          </a:solidFill>
          <a:ln w="9525">
            <a:solidFill>
              <a:srgbClr val="C7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" y="2551176"/>
            <a:ext cx="24541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XSS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8576" y="2551176"/>
            <a:ext cx="420002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se volvió código en el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3190" y="2551176"/>
            <a:ext cx="37635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66"/>
                </a:solidFill>
                <a:latin typeface="Verdana"/>
                <a:ea typeface="Verdana"/>
                <a:cs typeface="Verdana"/>
              </a:rPr>
              <a:t>Codificación de salida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26664"/>
            <a:ext cx="10911535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7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" y="3026664"/>
            <a:ext cx="24541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IDOR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8576" y="3026664"/>
            <a:ext cx="420002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pidió algo ajeno y se lo dieron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3190" y="3026664"/>
            <a:ext cx="37635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821B"/>
                </a:solidFill>
                <a:latin typeface="Verdana"/>
                <a:ea typeface="Verdana"/>
                <a:cs typeface="Verdana"/>
              </a:rPr>
              <a:t>Control de acceso por objeto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502152"/>
            <a:ext cx="10911535" cy="475488"/>
          </a:xfrm>
          <a:prstGeom prst="rect">
            <a:avLst/>
          </a:prstGeom>
          <a:solidFill>
            <a:srgbClr val="F6F7FA"/>
          </a:solidFill>
          <a:ln w="9525">
            <a:solidFill>
              <a:srgbClr val="C7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9808" y="3502152"/>
            <a:ext cx="24541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Salto de directorio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8576" y="3502152"/>
            <a:ext cx="420002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nombró un archivo prohibido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3190" y="3502152"/>
            <a:ext cx="37635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2A37"/>
                </a:solidFill>
                <a:latin typeface="Verdana"/>
                <a:ea typeface="Verdana"/>
                <a:cs typeface="Verdana"/>
              </a:rPr>
              <a:t>Lista blanca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977639"/>
            <a:ext cx="10911535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7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49808" y="3977639"/>
            <a:ext cx="24541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Hash débil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8576" y="3977639"/>
            <a:ext cx="420002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(cómo se guarda, no un dato)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3190" y="3977639"/>
            <a:ext cx="37635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B1F8C"/>
                </a:solidFill>
                <a:latin typeface="Verdana"/>
                <a:ea typeface="Verdana"/>
                <a:cs typeface="Verdana"/>
              </a:rPr>
              <a:t>Hash lento con sal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" y="4608576"/>
            <a:ext cx="10911535" cy="77724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40080" y="4544568"/>
            <a:ext cx="10911535" cy="777240"/>
          </a:xfrm>
          <a:prstGeom prst="rect">
            <a:avLst/>
          </a:prstGeom>
          <a:solidFill>
            <a:srgbClr val="ECE6FB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77824" y="4727448"/>
            <a:ext cx="10436047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Cuatro de las cinco son la misma frase: «el dato del usuario se volvió otra cosa». 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Todas se cierran igual: tratar el dato como dato. No como orden, no como código, no como permiso.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AHORA USTEDES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Romperla y arreglarla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1682496"/>
            <a:ext cx="10911535" cy="105156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1618488"/>
            <a:ext cx="10911535" cy="1051560"/>
          </a:xfrm>
          <a:prstGeom prst="rect">
            <a:avLst/>
          </a:prstGeom>
          <a:solidFill>
            <a:srgbClr val="ECE6FB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1792224"/>
            <a:ext cx="1032631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Tienen el portal de boletines en la máquina, con las cinco fallas. Dos mitades: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primero lo rompen (explotan cada falla desde el navegador), después lo arreglan (comparan con la versión segura y confirman que ya no funciona).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2962656"/>
            <a:ext cx="3454298" cy="1325880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" y="2898648"/>
            <a:ext cx="3454298" cy="1325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247" y="3081528"/>
            <a:ext cx="305196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 spc="100">
                <a:solidFill>
                  <a:srgbClr val="B02A37"/>
                </a:solidFill>
                <a:latin typeface="Rockwell"/>
                <a:ea typeface="Rockwell"/>
                <a:cs typeface="Rockwell"/>
              </a:rPr>
              <a:t>ROMPERLA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Los cinco exploits, solo con el navegador y la barra de direcciones.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2706" y="2962656"/>
            <a:ext cx="3454298" cy="132588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68698" y="2898648"/>
            <a:ext cx="3454298" cy="1325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69866" y="3081528"/>
            <a:ext cx="305196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 spc="100">
                <a:solidFill>
                  <a:srgbClr val="0E7C66"/>
                </a:solidFill>
                <a:latin typeface="Rockwell"/>
                <a:ea typeface="Rockwell"/>
                <a:cs typeface="Rockwell"/>
              </a:rPr>
              <a:t>ARREGLARLA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Para cada falla, el patrón y la línea que cambió en la versión segura.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1324" y="2962656"/>
            <a:ext cx="3454298" cy="132588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97316" y="2898648"/>
            <a:ext cx="3454298" cy="1325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98484" y="3081528"/>
            <a:ext cx="305196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 spc="100">
                <a:solidFill>
                  <a:srgbClr val="5B34C7"/>
                </a:solidFill>
                <a:latin typeface="Rockwell"/>
                <a:ea typeface="Rockwell"/>
                <a:cs typeface="Rockwell"/>
              </a:rPr>
              <a:t>INDIVIDUAL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Elegí una falla: por qué confiaba de más, y por qué el patrón (no el «cuidado»).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4517136"/>
            <a:ext cx="10911535" cy="82296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40080" y="4453128"/>
            <a:ext cx="10911535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77824" y="4636008"/>
            <a:ext cx="104360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Es la primera evaluación formativa. </a:t>
            </a:r>
            <a:r>
              <a:rPr sz="125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60 minutos: 25 romperla · 20 arreglarla · 10 individual · 5 puesta en común. Se entregan las planillas por grupo y la parte individual.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234440" y="1600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C5B4F5"/>
                </a:solidFill>
                <a:latin typeface="Verdana"/>
                <a:ea typeface="Verdana"/>
                <a:cs typeface="Verdana"/>
              </a:rPr>
              <a:t>PARA PENSAR ANTES DE LA PRÓXIMA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057400"/>
            <a:ext cx="9509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200" b="1" i="0">
                <a:solidFill>
                  <a:srgbClr val="FFFFFF"/>
                </a:solidFill>
                <a:latin typeface="Rockwell"/>
                <a:ea typeface="Rockwell"/>
                <a:cs typeface="Rockwell"/>
              </a:rPr>
              <a:t>De las cinco fallas, ¿cuál es
la más fácil de cometer con apuro?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AD1F7"/>
                </a:solidFill>
                <a:latin typeface="Verdana"/>
                <a:ea typeface="Verdana"/>
                <a:cs typeface="Verdana"/>
              </a:rPr>
              <a:t>No hay respuesta única; hay respuesta fundamentada. Pista: la que no da ningún error cuando el código «funciona».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5257800"/>
            <a:ext cx="2743200" cy="32004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34440" y="54864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B4F5"/>
                </a:solidFill>
                <a:latin typeface="Verdana"/>
                <a:ea typeface="Verdana"/>
                <a:cs typeface="Verdana"/>
              </a:rPr>
              <a:t>Clase 7 · Tecnologías emergentes e IA: la superficie de ataque de los modelos (1.4)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/>
  <Company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diego.renaldin@hotmail.com</dc:creator>
  <cp:lastModifiedBy>diego.renaldin@hotmail.com</cp:lastModifiedBy>
  <cp:revision>1</cp:revision>
</cp:coreProperties>
</file>