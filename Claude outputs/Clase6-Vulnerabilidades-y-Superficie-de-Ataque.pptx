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Arranque: la clase 6 cierra el ciclo de amenazas mirando el otro lado del problema. No 'quién ataca' sino 'por dónde se entra'. Es la clase más técnica hasta ahora: aparecen identificadores, puntajes y puertos. Aclarar desde el principio que no hay nada para memorizar: hay que saber LEER esos datos.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de la clase. Los bloques 1 y 2 son vocabulario y herramientas; el 4 y el 5 son el trabajo concreto. El bloque 3 es corto pero es el que explica por qué actualizar es la medida más aburrida y más efectiva que existe.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ejercicio de la puerta de casa funciona muy bien: cerradura floja / ladrón del barrio / ganzúa / qué hay adentro. Pedirles que ubiquen ahí el ransomware: NO es una vulnerabilidad, es lo que entra por una. Error número uno de la clase.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punto práctico: no controlás quién te ataca ni cuándo, ni siempre el impacto. Sí controlás la superficie. Por eso todo el trabajo de defensa empieza en la columna de la izquierda.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Preguntar cuál de los cinco creen que produce más incidentes reales. La respuesta honesta es que los tres primeros se reparten casi todo, y que el segundo y el tercero no requieren ningún conocimiento técnico para arreglarse: requieren que alguien lo haga.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identificador no dice nada del producto ni de la gravedad: es una etiqueta. Lo importante es la tercera tarjeta: publicar un CVE es publicar para los dos bandos. Por eso entre la publicación y el parche hay una carrera.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Analogía útil: el CVE es la matrícula de un auto; el CWE es el modelo. Para un administrador importa el CVE (¿me afecta?); para quien programa importa el CWE (¿estoy cometiendo este error otra vez?).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número importa por lo que implica, no por el número. Si son 130 por día, la pregunta 'cómo arreglo todo' no existe: la pregunta es 'cómo elijo'. Toda la segunda mitad de la clase responde eso.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Insistir en la tarjeta de la derecha desde ya: el CVSS es un dato de entrada, no una orden de trabajo. En dos diapositivas se ve el caso que lo demuestra.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hay que saber calcular el CVSS. Hay que saber que el número sale de estas preguntas, para poder discutirlo. Cuando un alumno vea un 9,8 tiene que poder deducir: por red, fácil, sin cuenta, sin clic y rompe las tres.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vector se lee, no se calcula. Que lo lean en voz alta traduciendo par por par. Log4Shell sirve para dimensionar: no fue un producto raro, fue una biblioteca que estaba adentro de casi todo lo escrito en Java.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de la clase. Si se llevan una sola cosa, que sea esta. Dejarlos discutir un minuto antes de mostrar el cierre: preguntar cuál arreglarían primero y por qué. Casi siempre arranca la mitad votando por el 9,8.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4 al 5 es donde se pierden la mayoría de los incidentes reales. Preguntar cuánto creen que tarda una organización promedio en pasar del 4 al 5. La respuesta incómoda: a veces nunca.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día cero tiene prensa; el servidor sin actualizar tiene las estadísticas. De acá sale la medida de seguridad más aburrida y más efectiva que existe: actualizar. Nadie hace una película sobre eso.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ojo con creer que sin internet no hay superficie: el pendrive del patio de la clase 5 entró por el plano físico. El wifi de invitados, la visita que se conecta y el proveedor que entra a dar soporte también cuentan.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salto del segundo al tercer estado es el que justifica el paso 'versiones' del procedimiento. Un puerto 22 abierto no es un problema; un puerto 22 con una versión de 2019 sí lo es, y la diferencia se ve solo si mirás la versión.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hay que memorizar la tabla entera. Los cuatro que sí conviene reconocer de memoria: 22, 80, 443 y 3389. Y la idea de fondo: media reducción de superficie de ataque es simplemente dejar de usar lo viejo.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orden no es decorativo. Saltarse el paso 1 es el error clásico: se audita lo que se recuerda y queda afuera la impresora de red, la cámara y el servidor que instaló alguien hace cuatro años.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Subrayar el cierre: las seis medidas son gratis. Requieren decisión y tiempo, no presupuesto. Es el argumento que van a necesitar cuando alguien diga que la seguridad es cara.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pasar rápido por esta. Es la misma advertencia del laboratorio y del acuerdo de uso responsable, y conviene que la escuchen dos o tres veces en el curso. Herramienta y delito se separan por una sola cosa: la autorización.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corolario de abajo es comprobable y les gusta: pueden probarlo con cualquier sitio que usen. «Recuperar contraseña» que manda la contraseña vieja = mal. Que manda un enlace para poner una nueva = bien.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clave es el 2: el que sorprende. Todos creen que sustituir letras por símbolos los hace más seguros. Los diccionarios de ataque aplican esas reglas solos, hace veinte años. Y además el ataque es offline: sin límite de intentos y sin que nadie lo vea.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no hay que creerle a nadie: es una cuenta que pueden verificar. Fijarse en las filas 3 y 4: la contraseña más incómoda de escribir aguanta catorce veces menos que la más fácil de recordar. Ese es todo el argumento.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reúso es el problema práctico número uno, más que el largo. Si se filtra de un foro de 2015, entra en la lista del paso 1 y abre el correo, el banco y la cuenta de CREA. Ahí es donde el gestor de contraseñas gana la discusión.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Varias de estas reglas contradicen lo que se enseñó durante veinte años, y eso vale la pena decirlo explícitamente: los estándares se corrigen cuando la evidencia los contradice. Los mecanismos que reemplazan la contraseña —segundo factor, biometría, claves de acceso— van completos en la clase 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cuatro se corrigen entendiendo bien el bloque 1 y la diapositiva del puntaje que no es el riesgo. Si en la corrección aparece alguno de estos, remitir a esas dos.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Grupos de 3 o 4. 8 min de lectura, 22 de triage, 12 de preguntas escritas, 13 de defensa cruzada y 5 de cierre. Es la primera evaluación formativa: se entrega la planilla y las tres preguntas por grupo, y la parte B individual.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El material completo, la actividad y la autoevaluación de diez preguntas están en el repositorio del curso.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Rectangle 3"/>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Rectangle 4"/>
          <p:cNvSpPr/>
          <p:nvPr/>
        </p:nvSpPr>
        <p:spPr>
          <a:xfrm>
            <a:off x="384048" y="0"/>
            <a:ext cx="91440" cy="6858000"/>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234440" y="1417320"/>
            <a:ext cx="9326880" cy="365760"/>
          </a:xfrm>
          <a:prstGeom prst="rect">
            <a:avLst/>
          </a:prstGeom>
          <a:noFill/>
        </p:spPr>
        <p:txBody>
          <a:bodyPr wrap="square" lIns="0" rIns="0" tIns="0" bIns="0" anchor="t">
            <a:spAutoFit/>
          </a:bodyPr>
          <a:lstStyle/>
          <a:p>
            <a:pPr algn="l">
              <a:spcBef>
                <a:spcPts val="0"/>
              </a:spcBef>
              <a:spcAft>
                <a:spcPts val="0"/>
              </a:spcAft>
            </a:pPr>
            <a:r>
              <a:rPr sz="1150" b="1" i="0" spc="220">
                <a:solidFill>
                  <a:srgbClr val="5B34C7"/>
                </a:solidFill>
                <a:latin typeface="Verdana"/>
                <a:ea typeface="Verdana"/>
                <a:cs typeface="Verdana"/>
              </a:rPr>
              <a:t>CIBERSEGURIDAD DE LA INFORMACIÓN  ·  3.º BT  ·  CONTENIDO 1.3</a:t>
            </a:r>
          </a:p>
        </p:txBody>
      </p:sp>
      <p:sp>
        <p:nvSpPr>
          <p:cNvPr id="7" name="TextBox 6"/>
          <p:cNvSpPr txBox="1"/>
          <p:nvPr/>
        </p:nvSpPr>
        <p:spPr>
          <a:xfrm>
            <a:off x="1234440" y="1874519"/>
            <a:ext cx="9601200" cy="2194560"/>
          </a:xfrm>
          <a:prstGeom prst="rect">
            <a:avLst/>
          </a:prstGeom>
          <a:noFill/>
        </p:spPr>
        <p:txBody>
          <a:bodyPr wrap="square" lIns="0" rIns="0" tIns="0" bIns="0" anchor="t">
            <a:spAutoFit/>
          </a:bodyPr>
          <a:lstStyle/>
          <a:p>
            <a:pPr algn="l">
              <a:lnSpc>
                <a:spcPct val="92000"/>
              </a:lnSpc>
              <a:spcBef>
                <a:spcPts val="0"/>
              </a:spcBef>
              <a:spcAft>
                <a:spcPts val="0"/>
              </a:spcAft>
            </a:pPr>
            <a:r>
              <a:rPr sz="5800" b="1" i="0">
                <a:solidFill>
                  <a:srgbClr val="16181D"/>
                </a:solidFill>
                <a:latin typeface="Rockwell"/>
                <a:ea typeface="Rockwell"/>
                <a:cs typeface="Rockwell"/>
              </a:rPr>
              <a:t>Vulnerabilidades</a:t>
            </a:r>
          </a:p>
          <a:p>
            <a:pPr>
              <a:lnSpc>
                <a:spcPct val="92000"/>
              </a:lnSpc>
              <a:spcBef>
                <a:spcPts val="0"/>
              </a:spcBef>
              <a:spcAft>
                <a:spcPts val="0"/>
              </a:spcAft>
            </a:pPr>
            <a:r>
              <a:rPr sz="5800" b="1" i="0">
                <a:solidFill>
                  <a:srgbClr val="5B34C7"/>
                </a:solidFill>
                <a:latin typeface="Rockwell"/>
                <a:ea typeface="Rockwell"/>
                <a:cs typeface="Rockwell"/>
              </a:rPr>
              <a:t>y superficie de ataque</a:t>
            </a:r>
          </a:p>
        </p:txBody>
      </p:sp>
      <p:sp>
        <p:nvSpPr>
          <p:cNvPr id="8" name="Rectangle 7"/>
          <p:cNvSpPr/>
          <p:nvPr/>
        </p:nvSpPr>
        <p:spPr>
          <a:xfrm>
            <a:off x="1234440" y="4224528"/>
            <a:ext cx="2743200" cy="32004"/>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1234440" y="4498848"/>
            <a:ext cx="8778240" cy="914400"/>
          </a:xfrm>
          <a:prstGeom prst="rect">
            <a:avLst/>
          </a:prstGeom>
          <a:noFill/>
        </p:spPr>
        <p:txBody>
          <a:bodyPr wrap="square" lIns="0" rIns="0" tIns="0" bIns="0" anchor="t">
            <a:spAutoFit/>
          </a:bodyPr>
          <a:lstStyle/>
          <a:p>
            <a:pPr algn="l">
              <a:lnSpc>
                <a:spcPct val="125000"/>
              </a:lnSpc>
              <a:spcBef>
                <a:spcPts val="0"/>
              </a:spcBef>
              <a:spcAft>
                <a:spcPts val="0"/>
              </a:spcAft>
            </a:pPr>
            <a:r>
              <a:rPr sz="1600" b="0" i="0">
                <a:solidFill>
                  <a:srgbClr val="16181D"/>
                </a:solidFill>
                <a:latin typeface="Verdana"/>
                <a:ea typeface="Verdana"/>
                <a:cs typeface="Verdana"/>
              </a:rPr>
              <a:t>Las clases 4 y 5 vieron quién ataca.</a:t>
            </a:r>
          </a:p>
          <a:p>
            <a:pPr>
              <a:lnSpc>
                <a:spcPct val="125000"/>
              </a:lnSpc>
              <a:spcBef>
                <a:spcPts val="0"/>
              </a:spcBef>
              <a:spcAft>
                <a:spcPts val="0"/>
              </a:spcAft>
            </a:pPr>
            <a:r>
              <a:rPr sz="1600" b="1" i="0">
                <a:solidFill>
                  <a:srgbClr val="16181D"/>
                </a:solidFill>
                <a:latin typeface="Verdana"/>
                <a:ea typeface="Verdana"/>
                <a:cs typeface="Verdana"/>
              </a:rPr>
              <a:t>Esta clase ve por dónde.</a:t>
            </a:r>
          </a:p>
        </p:txBody>
      </p:sp>
      <p:sp>
        <p:nvSpPr>
          <p:cNvPr id="10" name="TextBox 9"/>
          <p:cNvSpPr txBox="1"/>
          <p:nvPr/>
        </p:nvSpPr>
        <p:spPr>
          <a:xfrm>
            <a:off x="1234440" y="5897880"/>
            <a:ext cx="8229600" cy="274320"/>
          </a:xfrm>
          <a:prstGeom prst="rect">
            <a:avLst/>
          </a:prstGeom>
          <a:noFill/>
        </p:spPr>
        <p:txBody>
          <a:bodyPr wrap="square" lIns="0" rIns="0" tIns="0" bIns="0" anchor="t">
            <a:spAutoFit/>
          </a:bodyPr>
          <a:lstStyle/>
          <a:p>
            <a:pPr algn="l">
              <a:spcBef>
                <a:spcPts val="0"/>
              </a:spcBef>
              <a:spcAft>
                <a:spcPts val="0"/>
              </a:spcAft>
            </a:pPr>
            <a:r>
              <a:rPr sz="1100" b="1" i="0">
                <a:solidFill>
                  <a:srgbClr val="6B7280"/>
                </a:solidFill>
                <a:latin typeface="Verdana"/>
                <a:ea typeface="Verdana"/>
                <a:cs typeface="Verdana"/>
              </a:rPr>
              <a:t>Clase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RECORRIDO</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Cinco bloques</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a:t>
            </a:r>
          </a:p>
        </p:txBody>
      </p:sp>
      <p:sp>
        <p:nvSpPr>
          <p:cNvPr id="7" name="Rectangle 6"/>
          <p:cNvSpPr/>
          <p:nvPr/>
        </p:nvSpPr>
        <p:spPr>
          <a:xfrm>
            <a:off x="704088" y="1591056"/>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527048"/>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96112" y="1691640"/>
            <a:ext cx="822960" cy="502920"/>
          </a:xfrm>
          <a:prstGeom prst="rect">
            <a:avLst/>
          </a:prstGeom>
          <a:noFill/>
        </p:spPr>
        <p:txBody>
          <a:bodyPr wrap="square" lIns="0" rIns="0" tIns="0" bIns="0" anchor="ctr">
            <a:spAutoFit/>
          </a:bodyPr>
          <a:lstStyle/>
          <a:p>
            <a:pPr algn="l">
              <a:spcBef>
                <a:spcPts val="0"/>
              </a:spcBef>
              <a:spcAft>
                <a:spcPts val="0"/>
              </a:spcAft>
            </a:pPr>
            <a:r>
              <a:rPr sz="2500" b="1" i="0">
                <a:solidFill>
                  <a:srgbClr val="5B34C7"/>
                </a:solidFill>
                <a:latin typeface="Rockwell"/>
                <a:ea typeface="Rockwell"/>
                <a:cs typeface="Rockwell"/>
              </a:rPr>
              <a:t>01</a:t>
            </a:r>
          </a:p>
        </p:txBody>
      </p:sp>
      <p:sp>
        <p:nvSpPr>
          <p:cNvPr id="10" name="TextBox 9"/>
          <p:cNvSpPr txBox="1"/>
          <p:nvPr/>
        </p:nvSpPr>
        <p:spPr>
          <a:xfrm>
            <a:off x="1737360" y="1673352"/>
            <a:ext cx="9539935" cy="548640"/>
          </a:xfrm>
          <a:prstGeom prst="rect">
            <a:avLst/>
          </a:prstGeom>
          <a:noFill/>
        </p:spPr>
        <p:txBody>
          <a:bodyPr wrap="square" lIns="0" rIns="0" tIns="0" bIns="0" anchor="t">
            <a:spAutoFit/>
          </a:bodyPr>
          <a:lstStyle/>
          <a:p>
            <a:pPr algn="l">
              <a:spcBef>
                <a:spcPts val="0"/>
              </a:spcBef>
              <a:spcAft>
                <a:spcPts val="200"/>
              </a:spcAft>
            </a:pPr>
            <a:r>
              <a:rPr sz="1550" b="1" i="0">
                <a:solidFill>
                  <a:srgbClr val="16181D"/>
                </a:solidFill>
                <a:latin typeface="Rockwell"/>
                <a:ea typeface="Rockwell"/>
                <a:cs typeface="Rockwell"/>
              </a:rPr>
              <a:t>Cuatro palabras que no son sinónimos</a:t>
            </a:r>
          </a:p>
          <a:p>
            <a:pPr>
              <a:spcBef>
                <a:spcPts val="0"/>
              </a:spcBef>
              <a:spcAft>
                <a:spcPts val="0"/>
              </a:spcAft>
            </a:pPr>
            <a:r>
              <a:rPr sz="1200" b="0" i="0">
                <a:solidFill>
                  <a:srgbClr val="6B7280"/>
                </a:solidFill>
                <a:latin typeface="Verdana"/>
                <a:ea typeface="Verdana"/>
                <a:cs typeface="Verdana"/>
              </a:rPr>
              <a:t>Vulnerabilidad, amenaza, exploit, riesgo.</a:t>
            </a:r>
          </a:p>
        </p:txBody>
      </p:sp>
      <p:sp>
        <p:nvSpPr>
          <p:cNvPr id="11" name="Rectangle 10"/>
          <p:cNvSpPr/>
          <p:nvPr/>
        </p:nvSpPr>
        <p:spPr>
          <a:xfrm>
            <a:off x="704088" y="2523744"/>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40080" y="2459736"/>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96112" y="2624328"/>
            <a:ext cx="822960" cy="502920"/>
          </a:xfrm>
          <a:prstGeom prst="rect">
            <a:avLst/>
          </a:prstGeom>
          <a:noFill/>
        </p:spPr>
        <p:txBody>
          <a:bodyPr wrap="square" lIns="0" rIns="0" tIns="0" bIns="0" anchor="ctr">
            <a:spAutoFit/>
          </a:bodyPr>
          <a:lstStyle/>
          <a:p>
            <a:pPr algn="l">
              <a:spcBef>
                <a:spcPts val="0"/>
              </a:spcBef>
              <a:spcAft>
                <a:spcPts val="0"/>
              </a:spcAft>
            </a:pPr>
            <a:r>
              <a:rPr sz="2500" b="1" i="0">
                <a:solidFill>
                  <a:srgbClr val="5B34C7"/>
                </a:solidFill>
                <a:latin typeface="Rockwell"/>
                <a:ea typeface="Rockwell"/>
                <a:cs typeface="Rockwell"/>
              </a:rPr>
              <a:t>02</a:t>
            </a:r>
          </a:p>
        </p:txBody>
      </p:sp>
      <p:sp>
        <p:nvSpPr>
          <p:cNvPr id="14" name="TextBox 13"/>
          <p:cNvSpPr txBox="1"/>
          <p:nvPr/>
        </p:nvSpPr>
        <p:spPr>
          <a:xfrm>
            <a:off x="1737360" y="2606040"/>
            <a:ext cx="9539935" cy="548640"/>
          </a:xfrm>
          <a:prstGeom prst="rect">
            <a:avLst/>
          </a:prstGeom>
          <a:noFill/>
        </p:spPr>
        <p:txBody>
          <a:bodyPr wrap="square" lIns="0" rIns="0" tIns="0" bIns="0" anchor="t">
            <a:spAutoFit/>
          </a:bodyPr>
          <a:lstStyle/>
          <a:p>
            <a:pPr algn="l">
              <a:spcBef>
                <a:spcPts val="0"/>
              </a:spcBef>
              <a:spcAft>
                <a:spcPts val="200"/>
              </a:spcAft>
            </a:pPr>
            <a:r>
              <a:rPr sz="1550" b="1" i="0">
                <a:solidFill>
                  <a:srgbClr val="16181D"/>
                </a:solidFill>
                <a:latin typeface="Rockwell"/>
                <a:ea typeface="Rockwell"/>
                <a:cs typeface="Rockwell"/>
              </a:rPr>
              <a:t>Nombre y puntaje</a:t>
            </a:r>
          </a:p>
          <a:p>
            <a:pPr>
              <a:spcBef>
                <a:spcPts val="0"/>
              </a:spcBef>
              <a:spcAft>
                <a:spcPts val="0"/>
              </a:spcAft>
            </a:pPr>
            <a:r>
              <a:rPr sz="1200" b="0" i="0">
                <a:solidFill>
                  <a:srgbClr val="6B7280"/>
                </a:solidFill>
                <a:latin typeface="Verdana"/>
                <a:ea typeface="Verdana"/>
                <a:cs typeface="Verdana"/>
              </a:rPr>
              <a:t>CVE, CWE y CVSS: cómo se identifica y cómo se mide.</a:t>
            </a:r>
          </a:p>
        </p:txBody>
      </p:sp>
      <p:sp>
        <p:nvSpPr>
          <p:cNvPr id="15" name="Rectangle 14"/>
          <p:cNvSpPr/>
          <p:nvPr/>
        </p:nvSpPr>
        <p:spPr>
          <a:xfrm>
            <a:off x="704088" y="3456432"/>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ectangle 15"/>
          <p:cNvSpPr/>
          <p:nvPr/>
        </p:nvSpPr>
        <p:spPr>
          <a:xfrm>
            <a:off x="640080" y="3392424"/>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896112" y="3557016"/>
            <a:ext cx="822960" cy="502920"/>
          </a:xfrm>
          <a:prstGeom prst="rect">
            <a:avLst/>
          </a:prstGeom>
          <a:noFill/>
        </p:spPr>
        <p:txBody>
          <a:bodyPr wrap="square" lIns="0" rIns="0" tIns="0" bIns="0" anchor="ctr">
            <a:spAutoFit/>
          </a:bodyPr>
          <a:lstStyle/>
          <a:p>
            <a:pPr algn="l">
              <a:spcBef>
                <a:spcPts val="0"/>
              </a:spcBef>
              <a:spcAft>
                <a:spcPts val="0"/>
              </a:spcAft>
            </a:pPr>
            <a:r>
              <a:rPr sz="2500" b="1" i="0">
                <a:solidFill>
                  <a:srgbClr val="5B34C7"/>
                </a:solidFill>
                <a:latin typeface="Rockwell"/>
                <a:ea typeface="Rockwell"/>
                <a:cs typeface="Rockwell"/>
              </a:rPr>
              <a:t>03</a:t>
            </a:r>
          </a:p>
        </p:txBody>
      </p:sp>
      <p:sp>
        <p:nvSpPr>
          <p:cNvPr id="18" name="TextBox 17"/>
          <p:cNvSpPr txBox="1"/>
          <p:nvPr/>
        </p:nvSpPr>
        <p:spPr>
          <a:xfrm>
            <a:off x="1737360" y="3538728"/>
            <a:ext cx="9539935" cy="548640"/>
          </a:xfrm>
          <a:prstGeom prst="rect">
            <a:avLst/>
          </a:prstGeom>
          <a:noFill/>
        </p:spPr>
        <p:txBody>
          <a:bodyPr wrap="square" lIns="0" rIns="0" tIns="0" bIns="0" anchor="t">
            <a:spAutoFit/>
          </a:bodyPr>
          <a:lstStyle/>
          <a:p>
            <a:pPr algn="l">
              <a:spcBef>
                <a:spcPts val="0"/>
              </a:spcBef>
              <a:spcAft>
                <a:spcPts val="200"/>
              </a:spcAft>
            </a:pPr>
            <a:r>
              <a:rPr sz="1550" b="1" i="0">
                <a:solidFill>
                  <a:srgbClr val="16181D"/>
                </a:solidFill>
                <a:latin typeface="Rockwell"/>
                <a:ea typeface="Rockwell"/>
                <a:cs typeface="Rockwell"/>
              </a:rPr>
              <a:t>El tiempo juega</a:t>
            </a:r>
          </a:p>
          <a:p>
            <a:pPr>
              <a:spcBef>
                <a:spcPts val="0"/>
              </a:spcBef>
              <a:spcAft>
                <a:spcPts val="0"/>
              </a:spcAft>
            </a:pPr>
            <a:r>
              <a:rPr sz="1200" b="0" i="0">
                <a:solidFill>
                  <a:srgbClr val="6B7280"/>
                </a:solidFill>
                <a:latin typeface="Verdana"/>
                <a:ea typeface="Verdana"/>
                <a:cs typeface="Verdana"/>
              </a:rPr>
              <a:t>Día cero y ventana de exposición.</a:t>
            </a:r>
          </a:p>
        </p:txBody>
      </p:sp>
      <p:sp>
        <p:nvSpPr>
          <p:cNvPr id="19" name="Rectangle 18"/>
          <p:cNvSpPr/>
          <p:nvPr/>
        </p:nvSpPr>
        <p:spPr>
          <a:xfrm>
            <a:off x="704088" y="4389120"/>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4325112"/>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96112" y="4489704"/>
            <a:ext cx="822960" cy="502920"/>
          </a:xfrm>
          <a:prstGeom prst="rect">
            <a:avLst/>
          </a:prstGeom>
          <a:noFill/>
        </p:spPr>
        <p:txBody>
          <a:bodyPr wrap="square" lIns="0" rIns="0" tIns="0" bIns="0" anchor="ctr">
            <a:spAutoFit/>
          </a:bodyPr>
          <a:lstStyle/>
          <a:p>
            <a:pPr algn="l">
              <a:spcBef>
                <a:spcPts val="0"/>
              </a:spcBef>
              <a:spcAft>
                <a:spcPts val="0"/>
              </a:spcAft>
            </a:pPr>
            <a:r>
              <a:rPr sz="2500" b="1" i="0">
                <a:solidFill>
                  <a:srgbClr val="5B34C7"/>
                </a:solidFill>
                <a:latin typeface="Rockwell"/>
                <a:ea typeface="Rockwell"/>
                <a:cs typeface="Rockwell"/>
              </a:rPr>
              <a:t>04</a:t>
            </a:r>
          </a:p>
        </p:txBody>
      </p:sp>
      <p:sp>
        <p:nvSpPr>
          <p:cNvPr id="22" name="TextBox 21"/>
          <p:cNvSpPr txBox="1"/>
          <p:nvPr/>
        </p:nvSpPr>
        <p:spPr>
          <a:xfrm>
            <a:off x="1737360" y="4471416"/>
            <a:ext cx="9539935" cy="548640"/>
          </a:xfrm>
          <a:prstGeom prst="rect">
            <a:avLst/>
          </a:prstGeom>
          <a:noFill/>
        </p:spPr>
        <p:txBody>
          <a:bodyPr wrap="square" lIns="0" rIns="0" tIns="0" bIns="0" anchor="t">
            <a:spAutoFit/>
          </a:bodyPr>
          <a:lstStyle/>
          <a:p>
            <a:pPr algn="l">
              <a:spcBef>
                <a:spcPts val="0"/>
              </a:spcBef>
              <a:spcAft>
                <a:spcPts val="200"/>
              </a:spcAft>
            </a:pPr>
            <a:r>
              <a:rPr sz="1550" b="1" i="0">
                <a:solidFill>
                  <a:srgbClr val="16181D"/>
                </a:solidFill>
                <a:latin typeface="Rockwell"/>
                <a:ea typeface="Rockwell"/>
                <a:cs typeface="Rockwell"/>
              </a:rPr>
              <a:t>Superficie de ataque</a:t>
            </a:r>
          </a:p>
          <a:p>
            <a:pPr>
              <a:spcBef>
                <a:spcPts val="0"/>
              </a:spcBef>
              <a:spcAft>
                <a:spcPts val="0"/>
              </a:spcAft>
            </a:pPr>
            <a:r>
              <a:rPr sz="1200" b="0" i="0">
                <a:solidFill>
                  <a:srgbClr val="6B7280"/>
                </a:solidFill>
                <a:latin typeface="Verdana"/>
                <a:ea typeface="Verdana"/>
                <a:cs typeface="Verdana"/>
              </a:rPr>
              <a:t>Los tres planos, los puertos, cómo se enumera y cómo se reduce.</a:t>
            </a:r>
          </a:p>
        </p:txBody>
      </p:sp>
      <p:sp>
        <p:nvSpPr>
          <p:cNvPr id="23" name="Rectangle 22"/>
          <p:cNvSpPr/>
          <p:nvPr/>
        </p:nvSpPr>
        <p:spPr>
          <a:xfrm>
            <a:off x="704088" y="5321808"/>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ectangle 23"/>
          <p:cNvSpPr/>
          <p:nvPr/>
        </p:nvSpPr>
        <p:spPr>
          <a:xfrm>
            <a:off x="640080" y="5257800"/>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896112" y="5422392"/>
            <a:ext cx="822960" cy="502920"/>
          </a:xfrm>
          <a:prstGeom prst="rect">
            <a:avLst/>
          </a:prstGeom>
          <a:noFill/>
        </p:spPr>
        <p:txBody>
          <a:bodyPr wrap="square" lIns="0" rIns="0" tIns="0" bIns="0" anchor="ctr">
            <a:spAutoFit/>
          </a:bodyPr>
          <a:lstStyle/>
          <a:p>
            <a:pPr algn="l">
              <a:spcBef>
                <a:spcPts val="0"/>
              </a:spcBef>
              <a:spcAft>
                <a:spcPts val="0"/>
              </a:spcAft>
            </a:pPr>
            <a:r>
              <a:rPr sz="2500" b="1" i="0">
                <a:solidFill>
                  <a:srgbClr val="5B34C7"/>
                </a:solidFill>
                <a:latin typeface="Rockwell"/>
                <a:ea typeface="Rockwell"/>
                <a:cs typeface="Rockwell"/>
              </a:rPr>
              <a:t>05</a:t>
            </a:r>
          </a:p>
        </p:txBody>
      </p:sp>
      <p:sp>
        <p:nvSpPr>
          <p:cNvPr id="26" name="TextBox 25"/>
          <p:cNvSpPr txBox="1"/>
          <p:nvPr/>
        </p:nvSpPr>
        <p:spPr>
          <a:xfrm>
            <a:off x="1737360" y="5404104"/>
            <a:ext cx="9539935" cy="548640"/>
          </a:xfrm>
          <a:prstGeom prst="rect">
            <a:avLst/>
          </a:prstGeom>
          <a:noFill/>
        </p:spPr>
        <p:txBody>
          <a:bodyPr wrap="square" lIns="0" rIns="0" tIns="0" bIns="0" anchor="t">
            <a:spAutoFit/>
          </a:bodyPr>
          <a:lstStyle/>
          <a:p>
            <a:pPr algn="l">
              <a:spcBef>
                <a:spcPts val="0"/>
              </a:spcBef>
              <a:spcAft>
                <a:spcPts val="200"/>
              </a:spcAft>
            </a:pPr>
            <a:r>
              <a:rPr sz="1550" b="1" i="0">
                <a:solidFill>
                  <a:srgbClr val="16181D"/>
                </a:solidFill>
                <a:latin typeface="Rockwell"/>
                <a:ea typeface="Rockwell"/>
                <a:cs typeface="Rockwell"/>
              </a:rPr>
              <a:t>La contraseña como vulnerabilidad</a:t>
            </a:r>
          </a:p>
          <a:p>
            <a:pPr>
              <a:spcBef>
                <a:spcPts val="0"/>
              </a:spcBef>
              <a:spcAft>
                <a:spcPts val="0"/>
              </a:spcAft>
            </a:pPr>
            <a:r>
              <a:rPr sz="1200" b="0" i="0">
                <a:solidFill>
                  <a:srgbClr val="6B7280"/>
                </a:solidFill>
                <a:latin typeface="Verdana"/>
                <a:ea typeface="Verdana"/>
                <a:cs typeface="Verdana"/>
              </a:rPr>
              <a:t>Hash, sal, y por qué el largo le gana a la complejidad.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985455" y="457200"/>
            <a:ext cx="3657600" cy="4023360"/>
          </a:xfrm>
          <a:prstGeom prst="rect">
            <a:avLst/>
          </a:prstGeom>
          <a:noFill/>
        </p:spPr>
        <p:txBody>
          <a:bodyPr wrap="square" lIns="0" rIns="0" tIns="0" bIns="0" anchor="t">
            <a:spAutoFit/>
          </a:bodyPr>
          <a:lstStyle/>
          <a:p>
            <a:pPr algn="r">
              <a:spcBef>
                <a:spcPts val="0"/>
              </a:spcBef>
              <a:spcAft>
                <a:spcPts val="0"/>
              </a:spcAft>
            </a:pPr>
            <a:r>
              <a:rPr sz="19000" b="1" i="0">
                <a:solidFill>
                  <a:srgbClr val="4A27A8"/>
                </a:solidFill>
                <a:latin typeface="Rockwell"/>
                <a:ea typeface="Rockwell"/>
                <a:cs typeface="Rockwell"/>
              </a:rPr>
              <a:t>01</a:t>
            </a:r>
          </a:p>
        </p:txBody>
      </p:sp>
      <p:sp>
        <p:nvSpPr>
          <p:cNvPr id="5" name="TextBox 4"/>
          <p:cNvSpPr txBox="1"/>
          <p:nvPr/>
        </p:nvSpPr>
        <p:spPr>
          <a:xfrm>
            <a:off x="1143000" y="2606040"/>
            <a:ext cx="7680960" cy="2011680"/>
          </a:xfrm>
          <a:prstGeom prst="rect">
            <a:avLst/>
          </a:prstGeom>
          <a:noFill/>
        </p:spPr>
        <p:txBody>
          <a:bodyPr wrap="square" lIns="0" rIns="0" tIns="0" bIns="0" anchor="t">
            <a:spAutoFit/>
          </a:bodyPr>
          <a:lstStyle/>
          <a:p>
            <a:pPr algn="l">
              <a:spcBef>
                <a:spcPts val="0"/>
              </a:spcBef>
              <a:spcAft>
                <a:spcPts val="1000"/>
              </a:spcAft>
            </a:pPr>
            <a:r>
              <a:rPr sz="1150" b="1" i="0" spc="250">
                <a:solidFill>
                  <a:srgbClr val="C5B4F5"/>
                </a:solidFill>
                <a:latin typeface="Verdana"/>
                <a:ea typeface="Verdana"/>
                <a:cs typeface="Verdana"/>
              </a:rPr>
              <a:t>BLOQUE UNO</a:t>
            </a:r>
          </a:p>
          <a:p>
            <a:pPr>
              <a:lnSpc>
                <a:spcPct val="95000"/>
              </a:lnSpc>
              <a:spcBef>
                <a:spcPts val="0"/>
              </a:spcBef>
              <a:spcAft>
                <a:spcPts val="0"/>
              </a:spcAft>
            </a:pPr>
            <a:r>
              <a:rPr sz="4000" b="1" i="0">
                <a:solidFill>
                  <a:srgbClr val="FFFFFF"/>
                </a:solidFill>
                <a:latin typeface="Rockwell"/>
                <a:ea typeface="Rockwell"/>
                <a:cs typeface="Rockwell"/>
              </a:rPr>
              <a:t>Cuatro palabras que
no son sinónimos</a:t>
            </a:r>
          </a:p>
          <a:p>
            <a:pPr>
              <a:lnSpc>
                <a:spcPct val="120000"/>
              </a:lnSpc>
              <a:spcBef>
                <a:spcPts val="1000"/>
              </a:spcBef>
              <a:spcAft>
                <a:spcPts val="0"/>
              </a:spcAft>
            </a:pPr>
            <a:r>
              <a:rPr sz="1400" b="0" i="0">
                <a:solidFill>
                  <a:srgbClr val="CFC4F2"/>
                </a:solidFill>
                <a:latin typeface="Verdana"/>
                <a:ea typeface="Verdana"/>
                <a:cs typeface="Verdana"/>
              </a:rPr>
              <a:t>Se usan como si fueran lo mismo todo el tiempo. Separarlas es lo primero.</a:t>
            </a:r>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VOCABULARIO</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Vulnerabilidad, amenaza, exploit, riesgo</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4</a:t>
            </a:r>
          </a:p>
        </p:txBody>
      </p:sp>
      <p:sp>
        <p:nvSpPr>
          <p:cNvPr id="7" name="Rectangle 6"/>
          <p:cNvSpPr/>
          <p:nvPr/>
        </p:nvSpPr>
        <p:spPr>
          <a:xfrm>
            <a:off x="704088" y="1591056"/>
            <a:ext cx="5257800" cy="2212848"/>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527048"/>
            <a:ext cx="5257800" cy="221284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ectangle 8"/>
          <p:cNvSpPr/>
          <p:nvPr/>
        </p:nvSpPr>
        <p:spPr>
          <a:xfrm>
            <a:off x="640080" y="1527048"/>
            <a:ext cx="5257800" cy="9144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896112" y="1856232"/>
            <a:ext cx="4745736" cy="1737360"/>
          </a:xfrm>
          <a:prstGeom prst="rect">
            <a:avLst/>
          </a:prstGeom>
          <a:noFill/>
        </p:spPr>
        <p:txBody>
          <a:bodyPr wrap="square" lIns="0" rIns="0" tIns="0" bIns="0" anchor="t">
            <a:spAutoFit/>
          </a:bodyPr>
          <a:lstStyle/>
          <a:p>
            <a:pPr algn="l">
              <a:spcBef>
                <a:spcPts val="0"/>
              </a:spcBef>
              <a:spcAft>
                <a:spcPts val="900"/>
              </a:spcAft>
            </a:pPr>
            <a:r>
              <a:rPr sz="1500" b="1" i="0" spc="100">
                <a:solidFill>
                  <a:srgbClr val="5B34C7"/>
                </a:solidFill>
                <a:latin typeface="Rockwell"/>
                <a:ea typeface="Rockwell"/>
                <a:cs typeface="Rockwell"/>
              </a:rPr>
              <a:t>VULNERABILIDAD</a:t>
            </a:r>
          </a:p>
          <a:p>
            <a:pPr>
              <a:lnSpc>
                <a:spcPct val="120000"/>
              </a:lnSpc>
              <a:spcBef>
                <a:spcPts val="0"/>
              </a:spcBef>
              <a:spcAft>
                <a:spcPts val="200"/>
              </a:spcAft>
            </a:pPr>
            <a:r>
              <a:rPr sz="1300" b="0" i="0">
                <a:solidFill>
                  <a:srgbClr val="16181D"/>
                </a:solidFill>
                <a:latin typeface="Verdana"/>
                <a:ea typeface="Verdana"/>
                <a:cs typeface="Verdana"/>
              </a:rPr>
              <a:t>Una debilidad del sistema.</a:t>
            </a:r>
          </a:p>
          <a:p>
            <a:pPr>
              <a:lnSpc>
                <a:spcPct val="120000"/>
              </a:lnSpc>
              <a:spcBef>
                <a:spcPts val="0"/>
              </a:spcBef>
              <a:spcAft>
                <a:spcPts val="200"/>
              </a:spcAft>
            </a:pPr>
            <a:r>
              <a:rPr sz="1300" b="0" i="0">
                <a:solidFill>
                  <a:srgbClr val="16181D"/>
                </a:solidFill>
                <a:latin typeface="Verdana"/>
                <a:ea typeface="Verdana"/>
                <a:cs typeface="Verdana"/>
              </a:rPr>
              <a:t>Está ahí aunque nadie la mire.</a:t>
            </a:r>
          </a:p>
          <a:p>
            <a:pPr>
              <a:lnSpc>
                <a:spcPct val="120000"/>
              </a:lnSpc>
              <a:spcBef>
                <a:spcPts val="800"/>
              </a:spcBef>
              <a:spcAft>
                <a:spcPts val="0"/>
              </a:spcAft>
            </a:pPr>
            <a:r>
              <a:rPr sz="1200" b="0" i="1">
                <a:solidFill>
                  <a:srgbClr val="6B7280"/>
                </a:solidFill>
                <a:latin typeface="Verdana"/>
                <a:ea typeface="Verdana"/>
                <a:cs typeface="Verdana"/>
              </a:rPr>
              <a:t>→ La cerradura floja.</a:t>
            </a:r>
          </a:p>
        </p:txBody>
      </p:sp>
      <p:sp>
        <p:nvSpPr>
          <p:cNvPr id="11" name="Rectangle 10"/>
          <p:cNvSpPr/>
          <p:nvPr/>
        </p:nvSpPr>
        <p:spPr>
          <a:xfrm>
            <a:off x="6355080" y="1591056"/>
            <a:ext cx="5257800" cy="2212848"/>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291072" y="1527048"/>
            <a:ext cx="5257800" cy="221284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Rectangle 12"/>
          <p:cNvSpPr/>
          <p:nvPr/>
        </p:nvSpPr>
        <p:spPr>
          <a:xfrm>
            <a:off x="6291072" y="1527048"/>
            <a:ext cx="5257800" cy="9144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6547104" y="1856232"/>
            <a:ext cx="4745736" cy="1737360"/>
          </a:xfrm>
          <a:prstGeom prst="rect">
            <a:avLst/>
          </a:prstGeom>
          <a:noFill/>
        </p:spPr>
        <p:txBody>
          <a:bodyPr wrap="square" lIns="0" rIns="0" tIns="0" bIns="0" anchor="t">
            <a:spAutoFit/>
          </a:bodyPr>
          <a:lstStyle/>
          <a:p>
            <a:pPr algn="l">
              <a:spcBef>
                <a:spcPts val="0"/>
              </a:spcBef>
              <a:spcAft>
                <a:spcPts val="900"/>
              </a:spcAft>
            </a:pPr>
            <a:r>
              <a:rPr sz="1500" b="1" i="0" spc="100">
                <a:solidFill>
                  <a:srgbClr val="B02A37"/>
                </a:solidFill>
                <a:latin typeface="Rockwell"/>
                <a:ea typeface="Rockwell"/>
                <a:cs typeface="Rockwell"/>
              </a:rPr>
              <a:t>AMENAZA</a:t>
            </a:r>
          </a:p>
          <a:p>
            <a:pPr>
              <a:lnSpc>
                <a:spcPct val="120000"/>
              </a:lnSpc>
              <a:spcBef>
                <a:spcPts val="0"/>
              </a:spcBef>
              <a:spcAft>
                <a:spcPts val="200"/>
              </a:spcAft>
            </a:pPr>
            <a:r>
              <a:rPr sz="1300" b="0" i="0">
                <a:solidFill>
                  <a:srgbClr val="16181D"/>
                </a:solidFill>
                <a:latin typeface="Verdana"/>
                <a:ea typeface="Verdana"/>
                <a:cs typeface="Verdana"/>
              </a:rPr>
              <a:t>Quien o qué podría aprovecharla.</a:t>
            </a:r>
          </a:p>
          <a:p>
            <a:pPr>
              <a:lnSpc>
                <a:spcPct val="120000"/>
              </a:lnSpc>
              <a:spcBef>
                <a:spcPts val="800"/>
              </a:spcBef>
              <a:spcAft>
                <a:spcPts val="0"/>
              </a:spcAft>
            </a:pPr>
            <a:r>
              <a:rPr sz="1200" b="0" i="1">
                <a:solidFill>
                  <a:srgbClr val="6B7280"/>
                </a:solidFill>
                <a:latin typeface="Verdana"/>
                <a:ea typeface="Verdana"/>
                <a:cs typeface="Verdana"/>
              </a:rPr>
              <a:t>→ El que anda robando en el barrio.</a:t>
            </a:r>
          </a:p>
        </p:txBody>
      </p:sp>
      <p:sp>
        <p:nvSpPr>
          <p:cNvPr id="15" name="Rectangle 14"/>
          <p:cNvSpPr/>
          <p:nvPr/>
        </p:nvSpPr>
        <p:spPr>
          <a:xfrm>
            <a:off x="704088" y="3968496"/>
            <a:ext cx="5257800" cy="2212848"/>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ectangle 15"/>
          <p:cNvSpPr/>
          <p:nvPr/>
        </p:nvSpPr>
        <p:spPr>
          <a:xfrm>
            <a:off x="640080" y="3904487"/>
            <a:ext cx="5257800" cy="221284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ectangle 16"/>
          <p:cNvSpPr/>
          <p:nvPr/>
        </p:nvSpPr>
        <p:spPr>
          <a:xfrm>
            <a:off x="640080" y="3904487"/>
            <a:ext cx="5257800" cy="9144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896112" y="4233672"/>
            <a:ext cx="4745736" cy="1737360"/>
          </a:xfrm>
          <a:prstGeom prst="rect">
            <a:avLst/>
          </a:prstGeom>
          <a:noFill/>
        </p:spPr>
        <p:txBody>
          <a:bodyPr wrap="square" lIns="0" rIns="0" tIns="0" bIns="0" anchor="t">
            <a:spAutoFit/>
          </a:bodyPr>
          <a:lstStyle/>
          <a:p>
            <a:pPr algn="l">
              <a:spcBef>
                <a:spcPts val="0"/>
              </a:spcBef>
              <a:spcAft>
                <a:spcPts val="900"/>
              </a:spcAft>
            </a:pPr>
            <a:r>
              <a:rPr sz="1500" b="1" i="0" spc="100">
                <a:solidFill>
                  <a:srgbClr val="C9821B"/>
                </a:solidFill>
                <a:latin typeface="Rockwell"/>
                <a:ea typeface="Rockwell"/>
                <a:cs typeface="Rockwell"/>
              </a:rPr>
              <a:t>EXPLOIT</a:t>
            </a:r>
          </a:p>
          <a:p>
            <a:pPr>
              <a:lnSpc>
                <a:spcPct val="120000"/>
              </a:lnSpc>
              <a:spcBef>
                <a:spcPts val="0"/>
              </a:spcBef>
              <a:spcAft>
                <a:spcPts val="200"/>
              </a:spcAft>
            </a:pPr>
            <a:r>
              <a:rPr sz="1300" b="0" i="0">
                <a:solidFill>
                  <a:srgbClr val="16181D"/>
                </a:solidFill>
                <a:latin typeface="Verdana"/>
                <a:ea typeface="Verdana"/>
                <a:cs typeface="Verdana"/>
              </a:rPr>
              <a:t>El procedimiento o el programa concreto</a:t>
            </a:r>
          </a:p>
          <a:p>
            <a:pPr>
              <a:lnSpc>
                <a:spcPct val="120000"/>
              </a:lnSpc>
              <a:spcBef>
                <a:spcPts val="0"/>
              </a:spcBef>
              <a:spcAft>
                <a:spcPts val="200"/>
              </a:spcAft>
            </a:pPr>
            <a:r>
              <a:rPr sz="1300" b="0" i="0">
                <a:solidFill>
                  <a:srgbClr val="16181D"/>
                </a:solidFill>
                <a:latin typeface="Verdana"/>
                <a:ea typeface="Verdana"/>
                <a:cs typeface="Verdana"/>
              </a:rPr>
              <a:t>que la aprovecha.</a:t>
            </a:r>
          </a:p>
          <a:p>
            <a:pPr>
              <a:lnSpc>
                <a:spcPct val="120000"/>
              </a:lnSpc>
              <a:spcBef>
                <a:spcPts val="800"/>
              </a:spcBef>
              <a:spcAft>
                <a:spcPts val="0"/>
              </a:spcAft>
            </a:pPr>
            <a:r>
              <a:rPr sz="1200" b="0" i="1">
                <a:solidFill>
                  <a:srgbClr val="6B7280"/>
                </a:solidFill>
                <a:latin typeface="Verdana"/>
                <a:ea typeface="Verdana"/>
                <a:cs typeface="Verdana"/>
              </a:rPr>
              <a:t>→ La ganzúa que abre justo esa cerradura.</a:t>
            </a:r>
          </a:p>
        </p:txBody>
      </p:sp>
      <p:sp>
        <p:nvSpPr>
          <p:cNvPr id="19" name="Rectangle 18"/>
          <p:cNvSpPr/>
          <p:nvPr/>
        </p:nvSpPr>
        <p:spPr>
          <a:xfrm>
            <a:off x="6355080" y="3968496"/>
            <a:ext cx="5257800" cy="2212848"/>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291072" y="3904487"/>
            <a:ext cx="5257800" cy="221284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Rectangle 20"/>
          <p:cNvSpPr/>
          <p:nvPr/>
        </p:nvSpPr>
        <p:spPr>
          <a:xfrm>
            <a:off x="6291072" y="3904487"/>
            <a:ext cx="5257800" cy="9144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6547104" y="4233672"/>
            <a:ext cx="4745736" cy="1737360"/>
          </a:xfrm>
          <a:prstGeom prst="rect">
            <a:avLst/>
          </a:prstGeom>
          <a:noFill/>
        </p:spPr>
        <p:txBody>
          <a:bodyPr wrap="square" lIns="0" rIns="0" tIns="0" bIns="0" anchor="t">
            <a:spAutoFit/>
          </a:bodyPr>
          <a:lstStyle/>
          <a:p>
            <a:pPr algn="l">
              <a:spcBef>
                <a:spcPts val="0"/>
              </a:spcBef>
              <a:spcAft>
                <a:spcPts val="900"/>
              </a:spcAft>
            </a:pPr>
            <a:r>
              <a:rPr sz="1500" b="1" i="0" spc="100">
                <a:solidFill>
                  <a:srgbClr val="0E7C66"/>
                </a:solidFill>
                <a:latin typeface="Rockwell"/>
                <a:ea typeface="Rockwell"/>
                <a:cs typeface="Rockwell"/>
              </a:rPr>
              <a:t>RIESGO</a:t>
            </a:r>
          </a:p>
          <a:p>
            <a:pPr>
              <a:lnSpc>
                <a:spcPct val="120000"/>
              </a:lnSpc>
              <a:spcBef>
                <a:spcPts val="0"/>
              </a:spcBef>
              <a:spcAft>
                <a:spcPts val="200"/>
              </a:spcAft>
            </a:pPr>
            <a:r>
              <a:rPr sz="1300" b="0" i="0">
                <a:solidFill>
                  <a:srgbClr val="16181D"/>
                </a:solidFill>
                <a:latin typeface="Verdana"/>
                <a:ea typeface="Verdana"/>
                <a:cs typeface="Verdana"/>
              </a:rPr>
              <a:t>Qué tan probable es que pase</a:t>
            </a:r>
          </a:p>
          <a:p>
            <a:pPr>
              <a:lnSpc>
                <a:spcPct val="120000"/>
              </a:lnSpc>
              <a:spcBef>
                <a:spcPts val="0"/>
              </a:spcBef>
              <a:spcAft>
                <a:spcPts val="200"/>
              </a:spcAft>
            </a:pPr>
            <a:r>
              <a:rPr sz="1300" b="0" i="0">
                <a:solidFill>
                  <a:srgbClr val="16181D"/>
                </a:solidFill>
                <a:latin typeface="Verdana"/>
                <a:ea typeface="Verdana"/>
                <a:cs typeface="Verdana"/>
              </a:rPr>
              <a:t>y cuánto duele si pasa.</a:t>
            </a:r>
          </a:p>
          <a:p>
            <a:pPr>
              <a:lnSpc>
                <a:spcPct val="120000"/>
              </a:lnSpc>
              <a:spcBef>
                <a:spcPts val="800"/>
              </a:spcBef>
              <a:spcAft>
                <a:spcPts val="0"/>
              </a:spcAft>
            </a:pPr>
            <a:r>
              <a:rPr sz="1200" b="0" i="1">
                <a:solidFill>
                  <a:srgbClr val="6B7280"/>
                </a:solidFill>
                <a:latin typeface="Verdana"/>
                <a:ea typeface="Verdana"/>
                <a:cs typeface="Verdana"/>
              </a:rPr>
              <a:t>→ Depende de si adentro hay una bici o nada.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LA CUENTA</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Riesgo = vulnerabilidad × amenaza × impacto</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5</a:t>
            </a:r>
          </a:p>
        </p:txBody>
      </p:sp>
      <p:sp>
        <p:nvSpPr>
          <p:cNvPr id="7" name="Rectangle 6"/>
          <p:cNvSpPr/>
          <p:nvPr/>
        </p:nvSpPr>
        <p:spPr>
          <a:xfrm>
            <a:off x="1115568" y="2048255"/>
            <a:ext cx="2331720" cy="123444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1051560" y="1984248"/>
            <a:ext cx="2331720" cy="123444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1188719" y="1984248"/>
            <a:ext cx="2057400" cy="1234440"/>
          </a:xfrm>
          <a:prstGeom prst="rect">
            <a:avLst/>
          </a:prstGeom>
          <a:noFill/>
        </p:spPr>
        <p:txBody>
          <a:bodyPr wrap="square" lIns="0" rIns="0" tIns="0" bIns="0" anchor="ctr">
            <a:spAutoFit/>
          </a:bodyPr>
          <a:lstStyle/>
          <a:p>
            <a:pPr algn="ctr">
              <a:spcBef>
                <a:spcPts val="0"/>
              </a:spcBef>
              <a:spcAft>
                <a:spcPts val="0"/>
              </a:spcAft>
            </a:pPr>
            <a:r>
              <a:rPr sz="1350" b="1" i="0">
                <a:solidFill>
                  <a:srgbClr val="5B34C7"/>
                </a:solidFill>
                <a:latin typeface="Rockwell"/>
                <a:ea typeface="Rockwell"/>
                <a:cs typeface="Rockwell"/>
              </a:rPr>
              <a:t>VULNERABILIDAD</a:t>
            </a:r>
          </a:p>
        </p:txBody>
      </p:sp>
      <p:sp>
        <p:nvSpPr>
          <p:cNvPr id="10" name="TextBox 9"/>
          <p:cNvSpPr txBox="1"/>
          <p:nvPr/>
        </p:nvSpPr>
        <p:spPr>
          <a:xfrm>
            <a:off x="3493008" y="2350008"/>
            <a:ext cx="685800" cy="548640"/>
          </a:xfrm>
          <a:prstGeom prst="rect">
            <a:avLst/>
          </a:prstGeom>
          <a:noFill/>
        </p:spPr>
        <p:txBody>
          <a:bodyPr wrap="square" lIns="0" rIns="0" tIns="0" bIns="0" anchor="t">
            <a:spAutoFit/>
          </a:bodyPr>
          <a:lstStyle/>
          <a:p>
            <a:pPr algn="ctr">
              <a:spcBef>
                <a:spcPts val="0"/>
              </a:spcBef>
              <a:spcAft>
                <a:spcPts val="0"/>
              </a:spcAft>
            </a:pPr>
            <a:r>
              <a:rPr sz="3000" b="1" i="0">
                <a:solidFill>
                  <a:srgbClr val="16181D"/>
                </a:solidFill>
                <a:latin typeface="Rockwell"/>
                <a:ea typeface="Rockwell"/>
                <a:cs typeface="Rockwell"/>
              </a:rPr>
              <a:t>×</a:t>
            </a:r>
          </a:p>
        </p:txBody>
      </p:sp>
      <p:sp>
        <p:nvSpPr>
          <p:cNvPr id="11" name="Rectangle 10"/>
          <p:cNvSpPr/>
          <p:nvPr/>
        </p:nvSpPr>
        <p:spPr>
          <a:xfrm>
            <a:off x="4361688" y="2048255"/>
            <a:ext cx="2331720" cy="123444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4297679" y="1984248"/>
            <a:ext cx="2331720" cy="123444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4434840" y="1984248"/>
            <a:ext cx="2057400" cy="1234440"/>
          </a:xfrm>
          <a:prstGeom prst="rect">
            <a:avLst/>
          </a:prstGeom>
          <a:noFill/>
        </p:spPr>
        <p:txBody>
          <a:bodyPr wrap="square" lIns="0" rIns="0" tIns="0" bIns="0" anchor="ctr">
            <a:spAutoFit/>
          </a:bodyPr>
          <a:lstStyle/>
          <a:p>
            <a:pPr algn="ctr">
              <a:spcBef>
                <a:spcPts val="0"/>
              </a:spcBef>
              <a:spcAft>
                <a:spcPts val="0"/>
              </a:spcAft>
            </a:pPr>
            <a:r>
              <a:rPr sz="1350" b="1" i="0">
                <a:solidFill>
                  <a:srgbClr val="B02A37"/>
                </a:solidFill>
                <a:latin typeface="Rockwell"/>
                <a:ea typeface="Rockwell"/>
                <a:cs typeface="Rockwell"/>
              </a:rPr>
              <a:t>AMENAZA</a:t>
            </a:r>
          </a:p>
        </p:txBody>
      </p:sp>
      <p:sp>
        <p:nvSpPr>
          <p:cNvPr id="14" name="TextBox 13"/>
          <p:cNvSpPr txBox="1"/>
          <p:nvPr/>
        </p:nvSpPr>
        <p:spPr>
          <a:xfrm>
            <a:off x="6739127" y="2350008"/>
            <a:ext cx="685800" cy="548640"/>
          </a:xfrm>
          <a:prstGeom prst="rect">
            <a:avLst/>
          </a:prstGeom>
          <a:noFill/>
        </p:spPr>
        <p:txBody>
          <a:bodyPr wrap="square" lIns="0" rIns="0" tIns="0" bIns="0" anchor="t">
            <a:spAutoFit/>
          </a:bodyPr>
          <a:lstStyle/>
          <a:p>
            <a:pPr algn="ctr">
              <a:spcBef>
                <a:spcPts val="0"/>
              </a:spcBef>
              <a:spcAft>
                <a:spcPts val="0"/>
              </a:spcAft>
            </a:pPr>
            <a:r>
              <a:rPr sz="3000" b="1" i="0">
                <a:solidFill>
                  <a:srgbClr val="16181D"/>
                </a:solidFill>
                <a:latin typeface="Rockwell"/>
                <a:ea typeface="Rockwell"/>
                <a:cs typeface="Rockwell"/>
              </a:rPr>
              <a:t>×</a:t>
            </a:r>
          </a:p>
        </p:txBody>
      </p:sp>
      <p:sp>
        <p:nvSpPr>
          <p:cNvPr id="15" name="Rectangle 14"/>
          <p:cNvSpPr/>
          <p:nvPr/>
        </p:nvSpPr>
        <p:spPr>
          <a:xfrm>
            <a:off x="7607808" y="2048255"/>
            <a:ext cx="2331720" cy="123444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ectangle 15"/>
          <p:cNvSpPr/>
          <p:nvPr/>
        </p:nvSpPr>
        <p:spPr>
          <a:xfrm>
            <a:off x="7543800" y="1984248"/>
            <a:ext cx="2331720" cy="123444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7680960" y="1984248"/>
            <a:ext cx="2057400" cy="1234440"/>
          </a:xfrm>
          <a:prstGeom prst="rect">
            <a:avLst/>
          </a:prstGeom>
          <a:noFill/>
        </p:spPr>
        <p:txBody>
          <a:bodyPr wrap="square" lIns="0" rIns="0" tIns="0" bIns="0" anchor="ctr">
            <a:spAutoFit/>
          </a:bodyPr>
          <a:lstStyle/>
          <a:p>
            <a:pPr algn="ctr">
              <a:spcBef>
                <a:spcPts val="0"/>
              </a:spcBef>
              <a:spcAft>
                <a:spcPts val="0"/>
              </a:spcAft>
            </a:pPr>
            <a:r>
              <a:rPr sz="1350" b="1" i="0">
                <a:solidFill>
                  <a:srgbClr val="0E7C66"/>
                </a:solidFill>
                <a:latin typeface="Rockwell"/>
                <a:ea typeface="Rockwell"/>
                <a:cs typeface="Rockwell"/>
              </a:rPr>
              <a:t>IMPACTO</a:t>
            </a:r>
          </a:p>
        </p:txBody>
      </p:sp>
      <p:sp>
        <p:nvSpPr>
          <p:cNvPr id="18" name="Right Arrow 17"/>
          <p:cNvSpPr/>
          <p:nvPr/>
        </p:nvSpPr>
        <p:spPr>
          <a:xfrm>
            <a:off x="10104120" y="2532888"/>
            <a:ext cx="502920" cy="146304"/>
          </a:xfrm>
          <a:prstGeom prst="rightArrow">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50408" y="3877056"/>
            <a:ext cx="6065215" cy="1207008"/>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5486400" y="3813048"/>
            <a:ext cx="6065215" cy="120700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5742432" y="4032504"/>
            <a:ext cx="5516575" cy="914400"/>
          </a:xfrm>
          <a:prstGeom prst="rect">
            <a:avLst/>
          </a:prstGeom>
          <a:noFill/>
        </p:spPr>
        <p:txBody>
          <a:bodyPr wrap="square" lIns="0" rIns="0" tIns="0" bIns="0" anchor="t">
            <a:spAutoFit/>
          </a:bodyPr>
          <a:lstStyle/>
          <a:p>
            <a:pPr algn="l">
              <a:lnSpc>
                <a:spcPct val="120000"/>
              </a:lnSpc>
              <a:spcBef>
                <a:spcPts val="0"/>
              </a:spcBef>
              <a:spcAft>
                <a:spcPts val="0"/>
              </a:spcAft>
            </a:pPr>
            <a:r>
              <a:rPr sz="1500" b="1" i="0">
                <a:solidFill>
                  <a:srgbClr val="16181D"/>
                </a:solidFill>
                <a:latin typeface="Verdana"/>
                <a:ea typeface="Verdana"/>
                <a:cs typeface="Verdana"/>
              </a:rPr>
              <a:t>Si cualquiera de los tres es cero, el riesgo es cero.</a:t>
            </a:r>
          </a:p>
          <a:p>
            <a:pPr>
              <a:lnSpc>
                <a:spcPct val="120000"/>
              </a:lnSpc>
              <a:spcBef>
                <a:spcPts val="0"/>
              </a:spcBef>
              <a:spcAft>
                <a:spcPts val="0"/>
              </a:spcAft>
            </a:pPr>
            <a:r>
              <a:rPr sz="1250" b="0" i="0">
                <a:solidFill>
                  <a:srgbClr val="6B7280"/>
                </a:solidFill>
                <a:latin typeface="Verdana"/>
                <a:ea typeface="Verdana"/>
                <a:cs typeface="Verdana"/>
              </a:rPr>
              <a:t>Una falla gravísima en un programa que nadie instaló no le hace daño a nadie.</a:t>
            </a:r>
          </a:p>
        </p:txBody>
      </p:sp>
      <p:sp>
        <p:nvSpPr>
          <p:cNvPr id="22" name="Rectangle 21"/>
          <p:cNvSpPr/>
          <p:nvPr/>
        </p:nvSpPr>
        <p:spPr>
          <a:xfrm>
            <a:off x="704088" y="3877056"/>
            <a:ext cx="4572000" cy="1207008"/>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640080" y="3813048"/>
            <a:ext cx="4572000" cy="1207008"/>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877824" y="3995928"/>
            <a:ext cx="4096512" cy="841248"/>
          </a:xfrm>
          <a:prstGeom prst="rect">
            <a:avLst/>
          </a:prstGeom>
          <a:noFill/>
        </p:spPr>
        <p:txBody>
          <a:bodyPr wrap="square" lIns="0" rIns="0" tIns="0" bIns="0" anchor="t">
            <a:spAutoFit/>
          </a:bodyPr>
          <a:lstStyle/>
          <a:p>
            <a:pPr algn="l">
              <a:lnSpc>
                <a:spcPct val="115000"/>
              </a:lnSpc>
              <a:spcBef>
                <a:spcPts val="0"/>
              </a:spcBef>
              <a:spcAft>
                <a:spcPts val="300"/>
              </a:spcAft>
            </a:pPr>
            <a:r>
              <a:rPr sz="1300" b="0" i="0">
                <a:solidFill>
                  <a:srgbClr val="16181D"/>
                </a:solidFill>
                <a:latin typeface="Verdana"/>
                <a:ea typeface="Verdana"/>
                <a:cs typeface="Verdana"/>
              </a:rPr>
              <a:t>La vulnerabilidad es la única sobre la que</a:t>
            </a:r>
          </a:p>
          <a:p>
            <a:pPr>
              <a:lnSpc>
                <a:spcPct val="115000"/>
              </a:lnSpc>
              <a:spcBef>
                <a:spcPts val="0"/>
              </a:spcBef>
              <a:spcAft>
                <a:spcPts val="300"/>
              </a:spcAft>
            </a:pPr>
            <a:r>
              <a:rPr sz="1300" b="1" i="0">
                <a:solidFill>
                  <a:srgbClr val="5B34C7"/>
                </a:solidFill>
                <a:latin typeface="Verdana"/>
                <a:ea typeface="Verdana"/>
                <a:cs typeface="Verdana"/>
              </a:rPr>
              <a:t>podés actuar directamente.</a:t>
            </a:r>
          </a:p>
          <a:p>
            <a:pPr>
              <a:lnSpc>
                <a:spcPct val="115000"/>
              </a:lnSpc>
              <a:spcBef>
                <a:spcPts val="0"/>
              </a:spcBef>
              <a:spcAft>
                <a:spcPts val="300"/>
              </a:spcAft>
            </a:pPr>
            <a:r>
              <a:rPr sz="1300" b="0" i="0">
                <a:solidFill>
                  <a:srgbClr val="16181D"/>
                </a:solidFill>
                <a:latin typeface="Verdana"/>
                <a:ea typeface="Verdana"/>
                <a:cs typeface="Verdana"/>
              </a:rPr>
              <a:t>No elegís quién te ataca. Sí elegís qué dejás abierto.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ORIGEN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De dónde salen las vulnerabilidades</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6</a:t>
            </a:r>
          </a:p>
        </p:txBody>
      </p:sp>
      <p:sp>
        <p:nvSpPr>
          <p:cNvPr id="7" name="Rectangle 6"/>
          <p:cNvSpPr/>
          <p:nvPr/>
        </p:nvSpPr>
        <p:spPr>
          <a:xfrm>
            <a:off x="640080" y="1572768"/>
            <a:ext cx="10911535" cy="34747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49808" y="1572768"/>
            <a:ext cx="2235945"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ORIGEN</a:t>
            </a:r>
          </a:p>
        </p:txBody>
      </p:sp>
      <p:sp>
        <p:nvSpPr>
          <p:cNvPr id="9" name="TextBox 8"/>
          <p:cNvSpPr txBox="1"/>
          <p:nvPr/>
        </p:nvSpPr>
        <p:spPr>
          <a:xfrm>
            <a:off x="3150345" y="1572768"/>
            <a:ext cx="3108868"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QUÉ PASÓ</a:t>
            </a:r>
          </a:p>
        </p:txBody>
      </p:sp>
      <p:sp>
        <p:nvSpPr>
          <p:cNvPr id="10" name="TextBox 9"/>
          <p:cNvSpPr txBox="1"/>
          <p:nvPr/>
        </p:nvSpPr>
        <p:spPr>
          <a:xfrm>
            <a:off x="6423806" y="1572768"/>
            <a:ext cx="5072944"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EJEMPLO CONCRETO</a:t>
            </a:r>
          </a:p>
        </p:txBody>
      </p:sp>
      <p:sp>
        <p:nvSpPr>
          <p:cNvPr id="11" name="Rectangle 10"/>
          <p:cNvSpPr/>
          <p:nvPr/>
        </p:nvSpPr>
        <p:spPr>
          <a:xfrm>
            <a:off x="640080" y="1920240"/>
            <a:ext cx="10911535" cy="530352"/>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749808" y="1920240"/>
            <a:ext cx="2235945" cy="530352"/>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16181D"/>
                </a:solidFill>
                <a:latin typeface="Verdana"/>
                <a:ea typeface="Verdana"/>
                <a:cs typeface="Verdana"/>
              </a:rPr>
              <a:t>Error de programación</a:t>
            </a:r>
          </a:p>
        </p:txBody>
      </p:sp>
      <p:sp>
        <p:nvSpPr>
          <p:cNvPr id="13" name="TextBox 12"/>
          <p:cNvSpPr txBox="1"/>
          <p:nvPr/>
        </p:nvSpPr>
        <p:spPr>
          <a:xfrm>
            <a:off x="3150345" y="1920240"/>
            <a:ext cx="3108868"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El código no controla lo que recibe.</a:t>
            </a:r>
          </a:p>
        </p:txBody>
      </p:sp>
      <p:sp>
        <p:nvSpPr>
          <p:cNvPr id="14" name="TextBox 13"/>
          <p:cNvSpPr txBox="1"/>
          <p:nvPr/>
        </p:nvSpPr>
        <p:spPr>
          <a:xfrm>
            <a:off x="6423806" y="1920240"/>
            <a:ext cx="5072944"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6B7280"/>
                </a:solidFill>
                <a:latin typeface="Verdana"/>
                <a:ea typeface="Verdana"/>
                <a:cs typeface="Verdana"/>
              </a:rPr>
              <a:t>Un formulario que le pasa cualquier texto a la base de datos.</a:t>
            </a:r>
          </a:p>
        </p:txBody>
      </p:sp>
      <p:sp>
        <p:nvSpPr>
          <p:cNvPr id="15" name="Rectangle 14"/>
          <p:cNvSpPr/>
          <p:nvPr/>
        </p:nvSpPr>
        <p:spPr>
          <a:xfrm>
            <a:off x="640080" y="2450592"/>
            <a:ext cx="10911535" cy="530352"/>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749808" y="2450592"/>
            <a:ext cx="2235945" cy="530352"/>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16181D"/>
                </a:solidFill>
                <a:latin typeface="Verdana"/>
                <a:ea typeface="Verdana"/>
                <a:cs typeface="Verdana"/>
              </a:rPr>
              <a:t>Mala configuración</a:t>
            </a:r>
          </a:p>
        </p:txBody>
      </p:sp>
      <p:sp>
        <p:nvSpPr>
          <p:cNvPr id="17" name="TextBox 16"/>
          <p:cNvSpPr txBox="1"/>
          <p:nvPr/>
        </p:nvSpPr>
        <p:spPr>
          <a:xfrm>
            <a:off x="3150345" y="2450592"/>
            <a:ext cx="3108868"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El software está bien, la instalación no.</a:t>
            </a:r>
          </a:p>
        </p:txBody>
      </p:sp>
      <p:sp>
        <p:nvSpPr>
          <p:cNvPr id="18" name="TextBox 17"/>
          <p:cNvSpPr txBox="1"/>
          <p:nvPr/>
        </p:nvSpPr>
        <p:spPr>
          <a:xfrm>
            <a:off x="6423806" y="2450592"/>
            <a:ext cx="5072944"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6B7280"/>
                </a:solidFill>
                <a:latin typeface="Verdana"/>
                <a:ea typeface="Verdana"/>
                <a:cs typeface="Verdana"/>
              </a:rPr>
              <a:t>Un router con usuario admin y contraseña admin de fábrica.</a:t>
            </a:r>
          </a:p>
        </p:txBody>
      </p:sp>
      <p:sp>
        <p:nvSpPr>
          <p:cNvPr id="19" name="Rectangle 18"/>
          <p:cNvSpPr/>
          <p:nvPr/>
        </p:nvSpPr>
        <p:spPr>
          <a:xfrm>
            <a:off x="640080" y="2980944"/>
            <a:ext cx="10911535" cy="530352"/>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749808" y="2980944"/>
            <a:ext cx="2235945" cy="530352"/>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16181D"/>
                </a:solidFill>
                <a:latin typeface="Verdana"/>
                <a:ea typeface="Verdana"/>
                <a:cs typeface="Verdana"/>
              </a:rPr>
              <a:t>Software sin actualizar</a:t>
            </a:r>
          </a:p>
        </p:txBody>
      </p:sp>
      <p:sp>
        <p:nvSpPr>
          <p:cNvPr id="21" name="TextBox 20"/>
          <p:cNvSpPr txBox="1"/>
          <p:nvPr/>
        </p:nvSpPr>
        <p:spPr>
          <a:xfrm>
            <a:off x="3150345" y="2980944"/>
            <a:ext cx="3108868"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La falla ya se conoce y ya tiene arreglo.</a:t>
            </a:r>
          </a:p>
        </p:txBody>
      </p:sp>
      <p:sp>
        <p:nvSpPr>
          <p:cNvPr id="22" name="TextBox 21"/>
          <p:cNvSpPr txBox="1"/>
          <p:nvPr/>
        </p:nvSpPr>
        <p:spPr>
          <a:xfrm>
            <a:off x="6423806" y="2980944"/>
            <a:ext cx="5072944"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6B7280"/>
                </a:solidFill>
                <a:latin typeface="Verdana"/>
                <a:ea typeface="Verdana"/>
                <a:cs typeface="Verdana"/>
              </a:rPr>
              <a:t>Un servidor con una versión de hace tres años.</a:t>
            </a:r>
          </a:p>
        </p:txBody>
      </p:sp>
      <p:sp>
        <p:nvSpPr>
          <p:cNvPr id="23" name="Rectangle 22"/>
          <p:cNvSpPr/>
          <p:nvPr/>
        </p:nvSpPr>
        <p:spPr>
          <a:xfrm>
            <a:off x="640080" y="3511296"/>
            <a:ext cx="10911535" cy="530352"/>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749808" y="3511296"/>
            <a:ext cx="2235945" cy="530352"/>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16181D"/>
                </a:solidFill>
                <a:latin typeface="Verdana"/>
                <a:ea typeface="Verdana"/>
                <a:cs typeface="Verdana"/>
              </a:rPr>
              <a:t>Decisión de diseño</a:t>
            </a:r>
          </a:p>
        </p:txBody>
      </p:sp>
      <p:sp>
        <p:nvSpPr>
          <p:cNvPr id="25" name="TextBox 24"/>
          <p:cNvSpPr txBox="1"/>
          <p:nvPr/>
        </p:nvSpPr>
        <p:spPr>
          <a:xfrm>
            <a:off x="3150345" y="3511296"/>
            <a:ext cx="3108868"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El protocolo es inseguro por cómo fue pensado.</a:t>
            </a:r>
          </a:p>
        </p:txBody>
      </p:sp>
      <p:sp>
        <p:nvSpPr>
          <p:cNvPr id="26" name="TextBox 25"/>
          <p:cNvSpPr txBox="1"/>
          <p:nvPr/>
        </p:nvSpPr>
        <p:spPr>
          <a:xfrm>
            <a:off x="6423806" y="3511296"/>
            <a:ext cx="5072944"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6B7280"/>
                </a:solidFill>
                <a:latin typeface="Verdana"/>
                <a:ea typeface="Verdana"/>
                <a:cs typeface="Verdana"/>
              </a:rPr>
              <a:t>Telnet y FTP mandan la contraseña en texto claro.</a:t>
            </a:r>
          </a:p>
        </p:txBody>
      </p:sp>
      <p:sp>
        <p:nvSpPr>
          <p:cNvPr id="27" name="Rectangle 26"/>
          <p:cNvSpPr/>
          <p:nvPr/>
        </p:nvSpPr>
        <p:spPr>
          <a:xfrm>
            <a:off x="640080" y="4041648"/>
            <a:ext cx="10911535" cy="530352"/>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749808" y="4041648"/>
            <a:ext cx="2235945" cy="530352"/>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16181D"/>
                </a:solidFill>
                <a:latin typeface="Verdana"/>
                <a:ea typeface="Verdana"/>
                <a:cs typeface="Verdana"/>
              </a:rPr>
              <a:t>Personas y procesos</a:t>
            </a:r>
          </a:p>
        </p:txBody>
      </p:sp>
      <p:sp>
        <p:nvSpPr>
          <p:cNvPr id="29" name="TextBox 28"/>
          <p:cNvSpPr txBox="1"/>
          <p:nvPr/>
        </p:nvSpPr>
        <p:spPr>
          <a:xfrm>
            <a:off x="3150345" y="4041648"/>
            <a:ext cx="3108868"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La debilidad está en cómo se administra.</a:t>
            </a:r>
          </a:p>
        </p:txBody>
      </p:sp>
      <p:sp>
        <p:nvSpPr>
          <p:cNvPr id="30" name="TextBox 29"/>
          <p:cNvSpPr txBox="1"/>
          <p:nvPr/>
        </p:nvSpPr>
        <p:spPr>
          <a:xfrm>
            <a:off x="6423806" y="4041648"/>
            <a:ext cx="5072944" cy="530352"/>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6B7280"/>
                </a:solidFill>
                <a:latin typeface="Verdana"/>
                <a:ea typeface="Verdana"/>
                <a:cs typeface="Verdana"/>
              </a:rPr>
              <a:t>La cuenta de un profesor que se fue el año pasado.</a:t>
            </a:r>
          </a:p>
        </p:txBody>
      </p:sp>
      <p:sp>
        <p:nvSpPr>
          <p:cNvPr id="31" name="Rectangle 30"/>
          <p:cNvSpPr/>
          <p:nvPr/>
        </p:nvSpPr>
        <p:spPr>
          <a:xfrm>
            <a:off x="704088" y="4581144"/>
            <a:ext cx="10911535" cy="105156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Rectangle 31"/>
          <p:cNvSpPr/>
          <p:nvPr/>
        </p:nvSpPr>
        <p:spPr>
          <a:xfrm>
            <a:off x="640080" y="4517136"/>
            <a:ext cx="10911535" cy="1051560"/>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877824" y="4700016"/>
            <a:ext cx="10436047" cy="685799"/>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Solo el primero es «culpa del programador». </a:t>
            </a:r>
            <a:r>
              <a:rPr sz="1350" b="0" i="0">
                <a:solidFill>
                  <a:srgbClr val="16181D"/>
                </a:solidFill>
                <a:latin typeface="Verdana"/>
                <a:ea typeface="Verdana"/>
                <a:cs typeface="Verdana"/>
              </a:rPr>
              <a:t>Los otros cuatro son de quien administra el sistema:</a:t>
            </a:r>
          </a:p>
          <a:p>
            <a:pPr>
              <a:lnSpc>
                <a:spcPct val="115000"/>
              </a:lnSpc>
              <a:spcBef>
                <a:spcPts val="0"/>
              </a:spcBef>
              <a:spcAft>
                <a:spcPts val="300"/>
              </a:spcAft>
            </a:pPr>
            <a:r>
              <a:rPr sz="1350" b="0" i="0">
                <a:solidFill>
                  <a:srgbClr val="16181D"/>
                </a:solidFill>
                <a:latin typeface="Verdana"/>
                <a:ea typeface="Verdana"/>
                <a:cs typeface="Verdana"/>
              </a:rPr>
              <a:t>es el mismo punto de la clase 3 — la superficie de ataque se reduce sacando, y casi todo lo que hay para sacar lo dejamos nosotros.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985455" y="457200"/>
            <a:ext cx="3657600" cy="4023360"/>
          </a:xfrm>
          <a:prstGeom prst="rect">
            <a:avLst/>
          </a:prstGeom>
          <a:noFill/>
        </p:spPr>
        <p:txBody>
          <a:bodyPr wrap="square" lIns="0" rIns="0" tIns="0" bIns="0" anchor="t">
            <a:spAutoFit/>
          </a:bodyPr>
          <a:lstStyle/>
          <a:p>
            <a:pPr algn="r">
              <a:spcBef>
                <a:spcPts val="0"/>
              </a:spcBef>
              <a:spcAft>
                <a:spcPts val="0"/>
              </a:spcAft>
            </a:pPr>
            <a:r>
              <a:rPr sz="19000" b="1" i="0">
                <a:solidFill>
                  <a:srgbClr val="4A27A8"/>
                </a:solidFill>
                <a:latin typeface="Rockwell"/>
                <a:ea typeface="Rockwell"/>
                <a:cs typeface="Rockwell"/>
              </a:rPr>
              <a:t>02</a:t>
            </a:r>
          </a:p>
        </p:txBody>
      </p:sp>
      <p:sp>
        <p:nvSpPr>
          <p:cNvPr id="5" name="TextBox 4"/>
          <p:cNvSpPr txBox="1"/>
          <p:nvPr/>
        </p:nvSpPr>
        <p:spPr>
          <a:xfrm>
            <a:off x="1143000" y="2606040"/>
            <a:ext cx="7680960" cy="2011680"/>
          </a:xfrm>
          <a:prstGeom prst="rect">
            <a:avLst/>
          </a:prstGeom>
          <a:noFill/>
        </p:spPr>
        <p:txBody>
          <a:bodyPr wrap="square" lIns="0" rIns="0" tIns="0" bIns="0" anchor="t">
            <a:spAutoFit/>
          </a:bodyPr>
          <a:lstStyle/>
          <a:p>
            <a:pPr algn="l">
              <a:spcBef>
                <a:spcPts val="0"/>
              </a:spcBef>
              <a:spcAft>
                <a:spcPts val="1000"/>
              </a:spcAft>
            </a:pPr>
            <a:r>
              <a:rPr sz="1150" b="1" i="0" spc="250">
                <a:solidFill>
                  <a:srgbClr val="C5B4F5"/>
                </a:solidFill>
                <a:latin typeface="Verdana"/>
                <a:ea typeface="Verdana"/>
                <a:cs typeface="Verdana"/>
              </a:rPr>
              <a:t>BLOQUE DOS</a:t>
            </a:r>
          </a:p>
          <a:p>
            <a:pPr>
              <a:lnSpc>
                <a:spcPct val="95000"/>
              </a:lnSpc>
              <a:spcBef>
                <a:spcPts val="0"/>
              </a:spcBef>
              <a:spcAft>
                <a:spcPts val="0"/>
              </a:spcAft>
            </a:pPr>
            <a:r>
              <a:rPr sz="4000" b="1" i="0">
                <a:solidFill>
                  <a:srgbClr val="FFFFFF"/>
                </a:solidFill>
                <a:latin typeface="Rockwell"/>
                <a:ea typeface="Rockwell"/>
                <a:cs typeface="Rockwell"/>
              </a:rPr>
              <a:t>Nombre y puntaje</a:t>
            </a:r>
          </a:p>
          <a:p>
            <a:pPr>
              <a:lnSpc>
                <a:spcPct val="120000"/>
              </a:lnSpc>
              <a:spcBef>
                <a:spcPts val="1000"/>
              </a:spcBef>
              <a:spcAft>
                <a:spcPts val="0"/>
              </a:spcAft>
            </a:pPr>
            <a:r>
              <a:rPr sz="1400" b="0" i="0">
                <a:solidFill>
                  <a:srgbClr val="CFC4F2"/>
                </a:solidFill>
                <a:latin typeface="Verdana"/>
                <a:ea typeface="Verdana"/>
                <a:cs typeface="Verdana"/>
              </a:rPr>
              <a:t>Cómo se identifica una vulnerabilidad y cómo se mide qué tan grave es.</a:t>
            </a:r>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IDENTIFICACIÓN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Anatomía de un identificador CVE</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8</a:t>
            </a:r>
          </a:p>
        </p:txBody>
      </p:sp>
      <p:sp>
        <p:nvSpPr>
          <p:cNvPr id="7" name="Rectangle 6"/>
          <p:cNvSpPr/>
          <p:nvPr/>
        </p:nvSpPr>
        <p:spPr>
          <a:xfrm>
            <a:off x="2258568" y="1682496"/>
            <a:ext cx="7772400" cy="105156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2194560" y="1618488"/>
            <a:ext cx="7772400"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2194560" y="1618488"/>
            <a:ext cx="7772400" cy="1051560"/>
          </a:xfrm>
          <a:prstGeom prst="rect">
            <a:avLst/>
          </a:prstGeom>
          <a:noFill/>
        </p:spPr>
        <p:txBody>
          <a:bodyPr wrap="square" lIns="0" rIns="0" tIns="0" bIns="0" anchor="ctr">
            <a:spAutoFit/>
          </a:bodyPr>
          <a:lstStyle/>
          <a:p>
            <a:pPr algn="ctr">
              <a:spcBef>
                <a:spcPts val="0"/>
              </a:spcBef>
              <a:spcAft>
                <a:spcPts val="0"/>
              </a:spcAft>
            </a:pPr>
            <a:r>
              <a:rPr sz="3800" b="1" i="0">
                <a:solidFill>
                  <a:srgbClr val="16181D"/>
                </a:solidFill>
                <a:latin typeface="Courier New"/>
                <a:ea typeface="Courier New"/>
                <a:cs typeface="Courier New"/>
              </a:rPr>
              <a:t>CVE</a:t>
            </a:r>
            <a:r>
              <a:rPr sz="3800" b="1" i="0">
                <a:solidFill>
                  <a:srgbClr val="C7CCD4"/>
                </a:solidFill>
                <a:latin typeface="Courier New"/>
                <a:ea typeface="Courier New"/>
                <a:cs typeface="Courier New"/>
              </a:rPr>
              <a:t> - </a:t>
            </a:r>
            <a:r>
              <a:rPr sz="3800" b="1" i="0">
                <a:solidFill>
                  <a:srgbClr val="5B34C7"/>
                </a:solidFill>
                <a:latin typeface="Courier New"/>
                <a:ea typeface="Courier New"/>
                <a:cs typeface="Courier New"/>
              </a:rPr>
              <a:t>2021</a:t>
            </a:r>
            <a:r>
              <a:rPr sz="3800" b="1" i="0">
                <a:solidFill>
                  <a:srgbClr val="C7CCD4"/>
                </a:solidFill>
                <a:latin typeface="Courier New"/>
                <a:ea typeface="Courier New"/>
                <a:cs typeface="Courier New"/>
              </a:rPr>
              <a:t> - </a:t>
            </a:r>
            <a:r>
              <a:rPr sz="3800" b="1" i="0">
                <a:solidFill>
                  <a:srgbClr val="0E7C66"/>
                </a:solidFill>
                <a:latin typeface="Courier New"/>
                <a:ea typeface="Courier New"/>
                <a:cs typeface="Courier New"/>
              </a:rPr>
              <a:t>44228</a:t>
            </a:r>
          </a:p>
        </p:txBody>
      </p:sp>
      <p:sp>
        <p:nvSpPr>
          <p:cNvPr id="10" name="Rectangle 9"/>
          <p:cNvSpPr/>
          <p:nvPr/>
        </p:nvSpPr>
        <p:spPr>
          <a:xfrm>
            <a:off x="2651760" y="2670048"/>
            <a:ext cx="18288" cy="274320"/>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1828799" y="2999232"/>
            <a:ext cx="1828800" cy="731520"/>
          </a:xfrm>
          <a:prstGeom prst="rect">
            <a:avLst/>
          </a:prstGeom>
          <a:noFill/>
        </p:spPr>
        <p:txBody>
          <a:bodyPr wrap="square" lIns="0" rIns="0" tIns="0" bIns="0" anchor="t">
            <a:spAutoFit/>
          </a:bodyPr>
          <a:lstStyle/>
          <a:p>
            <a:pPr algn="ctr">
              <a:lnSpc>
                <a:spcPct val="115000"/>
              </a:lnSpc>
              <a:spcBef>
                <a:spcPts val="0"/>
              </a:spcBef>
              <a:spcAft>
                <a:spcPts val="100"/>
              </a:spcAft>
            </a:pPr>
            <a:r>
              <a:rPr sz="1100" b="1" i="0">
                <a:solidFill>
                  <a:srgbClr val="16181D"/>
                </a:solidFill>
                <a:latin typeface="Verdana"/>
                <a:ea typeface="Verdana"/>
                <a:cs typeface="Verdana"/>
              </a:rPr>
              <a:t>Common Vulnerabilities</a:t>
            </a:r>
          </a:p>
          <a:p>
            <a:pPr algn="ctr">
              <a:lnSpc>
                <a:spcPct val="115000"/>
              </a:lnSpc>
              <a:spcBef>
                <a:spcPts val="0"/>
              </a:spcBef>
              <a:spcAft>
                <a:spcPts val="100"/>
              </a:spcAft>
            </a:pPr>
            <a:r>
              <a:rPr sz="1100" b="0" i="0">
                <a:solidFill>
                  <a:srgbClr val="6B7280"/>
                </a:solidFill>
                <a:latin typeface="Verdana"/>
                <a:ea typeface="Verdana"/>
                <a:cs typeface="Verdana"/>
              </a:rPr>
              <a:t>and Exposures</a:t>
            </a:r>
          </a:p>
        </p:txBody>
      </p:sp>
      <p:sp>
        <p:nvSpPr>
          <p:cNvPr id="12" name="Rectangle 11"/>
          <p:cNvSpPr/>
          <p:nvPr/>
        </p:nvSpPr>
        <p:spPr>
          <a:xfrm>
            <a:off x="5669279" y="2670048"/>
            <a:ext cx="18288" cy="2743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4846320" y="2999232"/>
            <a:ext cx="1828800" cy="731520"/>
          </a:xfrm>
          <a:prstGeom prst="rect">
            <a:avLst/>
          </a:prstGeom>
          <a:noFill/>
        </p:spPr>
        <p:txBody>
          <a:bodyPr wrap="square" lIns="0" rIns="0" tIns="0" bIns="0" anchor="t">
            <a:spAutoFit/>
          </a:bodyPr>
          <a:lstStyle/>
          <a:p>
            <a:pPr algn="ctr">
              <a:lnSpc>
                <a:spcPct val="115000"/>
              </a:lnSpc>
              <a:spcBef>
                <a:spcPts val="0"/>
              </a:spcBef>
              <a:spcAft>
                <a:spcPts val="100"/>
              </a:spcAft>
            </a:pPr>
            <a:r>
              <a:rPr sz="1100" b="1" i="0">
                <a:solidFill>
                  <a:srgbClr val="5B34C7"/>
                </a:solidFill>
                <a:latin typeface="Verdana"/>
                <a:ea typeface="Verdana"/>
                <a:cs typeface="Verdana"/>
              </a:rPr>
              <a:t>Año en que se reservó</a:t>
            </a:r>
          </a:p>
          <a:p>
            <a:pPr algn="ctr">
              <a:lnSpc>
                <a:spcPct val="115000"/>
              </a:lnSpc>
              <a:spcBef>
                <a:spcPts val="0"/>
              </a:spcBef>
              <a:spcAft>
                <a:spcPts val="100"/>
              </a:spcAft>
            </a:pPr>
            <a:r>
              <a:rPr sz="1100" b="0" i="0">
                <a:solidFill>
                  <a:srgbClr val="6B7280"/>
                </a:solidFill>
                <a:latin typeface="Verdana"/>
                <a:ea typeface="Verdana"/>
                <a:cs typeface="Verdana"/>
              </a:rPr>
              <a:t>el identificador</a:t>
            </a:r>
          </a:p>
        </p:txBody>
      </p:sp>
      <p:sp>
        <p:nvSpPr>
          <p:cNvPr id="14" name="Rectangle 13"/>
          <p:cNvSpPr/>
          <p:nvPr/>
        </p:nvSpPr>
        <p:spPr>
          <a:xfrm>
            <a:off x="8183879" y="2670048"/>
            <a:ext cx="18288" cy="2743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7360919" y="2999232"/>
            <a:ext cx="1828800" cy="731520"/>
          </a:xfrm>
          <a:prstGeom prst="rect">
            <a:avLst/>
          </a:prstGeom>
          <a:noFill/>
        </p:spPr>
        <p:txBody>
          <a:bodyPr wrap="square" lIns="0" rIns="0" tIns="0" bIns="0" anchor="t">
            <a:spAutoFit/>
          </a:bodyPr>
          <a:lstStyle/>
          <a:p>
            <a:pPr algn="ctr">
              <a:lnSpc>
                <a:spcPct val="115000"/>
              </a:lnSpc>
              <a:spcBef>
                <a:spcPts val="0"/>
              </a:spcBef>
              <a:spcAft>
                <a:spcPts val="100"/>
              </a:spcAft>
            </a:pPr>
            <a:r>
              <a:rPr sz="1100" b="1" i="0">
                <a:solidFill>
                  <a:srgbClr val="0E7C66"/>
                </a:solidFill>
                <a:latin typeface="Verdana"/>
                <a:ea typeface="Verdana"/>
                <a:cs typeface="Verdana"/>
              </a:rPr>
              <a:t>Número correlativo,</a:t>
            </a:r>
          </a:p>
          <a:p>
            <a:pPr algn="ctr">
              <a:lnSpc>
                <a:spcPct val="115000"/>
              </a:lnSpc>
              <a:spcBef>
                <a:spcPts val="0"/>
              </a:spcBef>
              <a:spcAft>
                <a:spcPts val="100"/>
              </a:spcAft>
            </a:pPr>
            <a:r>
              <a:rPr sz="1100" b="0" i="0">
                <a:solidFill>
                  <a:srgbClr val="6B7280"/>
                </a:solidFill>
                <a:latin typeface="Verdana"/>
                <a:ea typeface="Verdana"/>
                <a:cs typeface="Verdana"/>
              </a:rPr>
              <a:t>sin significado propio</a:t>
            </a:r>
          </a:p>
        </p:txBody>
      </p:sp>
      <p:sp>
        <p:nvSpPr>
          <p:cNvPr id="16" name="Rectangle 15"/>
          <p:cNvSpPr/>
          <p:nvPr/>
        </p:nvSpPr>
        <p:spPr>
          <a:xfrm>
            <a:off x="704088" y="4059936"/>
            <a:ext cx="3456432" cy="16459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ectangle 16"/>
          <p:cNvSpPr/>
          <p:nvPr/>
        </p:nvSpPr>
        <p:spPr>
          <a:xfrm>
            <a:off x="640080" y="3995928"/>
            <a:ext cx="3456432" cy="16459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877824" y="4178808"/>
            <a:ext cx="2980944" cy="1280160"/>
          </a:xfrm>
          <a:prstGeom prst="rect">
            <a:avLst/>
          </a:prstGeom>
          <a:noFill/>
        </p:spPr>
        <p:txBody>
          <a:bodyPr wrap="square" lIns="0" rIns="0" tIns="0" bIns="0" anchor="t">
            <a:spAutoFit/>
          </a:bodyPr>
          <a:lstStyle/>
          <a:p>
            <a:pPr algn="l">
              <a:spcBef>
                <a:spcPts val="0"/>
              </a:spcBef>
              <a:spcAft>
                <a:spcPts val="600"/>
              </a:spcAft>
            </a:pPr>
            <a:r>
              <a:rPr sz="1300" b="1" i="0">
                <a:solidFill>
                  <a:srgbClr val="5B34C7"/>
                </a:solidFill>
                <a:latin typeface="Rockwell"/>
                <a:ea typeface="Rockwell"/>
                <a:cs typeface="Rockwell"/>
              </a:rPr>
              <a:t>Quién lo asigna</a:t>
            </a:r>
          </a:p>
          <a:p>
            <a:pPr>
              <a:lnSpc>
                <a:spcPct val="118000"/>
              </a:lnSpc>
              <a:spcBef>
                <a:spcPts val="0"/>
              </a:spcBef>
              <a:spcAft>
                <a:spcPts val="300"/>
              </a:spcAft>
            </a:pPr>
            <a:r>
              <a:rPr sz="1150" b="0" i="0">
                <a:solidFill>
                  <a:srgbClr val="16181D"/>
                </a:solidFill>
                <a:latin typeface="Verdana"/>
                <a:ea typeface="Verdana"/>
                <a:cs typeface="Verdana"/>
              </a:rPr>
              <a:t>El Programa CVE, a través de organizaciones autorizadas (CNA). Muchas empresas son CNA de sus propios productos.</a:t>
            </a:r>
          </a:p>
        </p:txBody>
      </p:sp>
      <p:sp>
        <p:nvSpPr>
          <p:cNvPr id="19" name="Rectangle 18"/>
          <p:cNvSpPr/>
          <p:nvPr/>
        </p:nvSpPr>
        <p:spPr>
          <a:xfrm>
            <a:off x="4434840" y="4059936"/>
            <a:ext cx="3456432" cy="16459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4370832" y="3995928"/>
            <a:ext cx="3456432" cy="16459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4608576" y="4178808"/>
            <a:ext cx="2980944" cy="1280160"/>
          </a:xfrm>
          <a:prstGeom prst="rect">
            <a:avLst/>
          </a:prstGeom>
          <a:noFill/>
        </p:spPr>
        <p:txBody>
          <a:bodyPr wrap="square" lIns="0" rIns="0" tIns="0" bIns="0" anchor="t">
            <a:spAutoFit/>
          </a:bodyPr>
          <a:lstStyle/>
          <a:p>
            <a:pPr algn="l">
              <a:spcBef>
                <a:spcPts val="0"/>
              </a:spcBef>
              <a:spcAft>
                <a:spcPts val="600"/>
              </a:spcAft>
            </a:pPr>
            <a:r>
              <a:rPr sz="1300" b="1" i="0">
                <a:solidFill>
                  <a:srgbClr val="0E7C66"/>
                </a:solidFill>
                <a:latin typeface="Rockwell"/>
                <a:ea typeface="Rockwell"/>
                <a:cs typeface="Rockwell"/>
              </a:rPr>
              <a:t>Dónde se consulta</a:t>
            </a:r>
          </a:p>
          <a:p>
            <a:pPr>
              <a:lnSpc>
                <a:spcPct val="118000"/>
              </a:lnSpc>
              <a:spcBef>
                <a:spcPts val="0"/>
              </a:spcBef>
              <a:spcAft>
                <a:spcPts val="300"/>
              </a:spcAft>
            </a:pPr>
            <a:r>
              <a:rPr sz="1150" b="0" i="0">
                <a:solidFill>
                  <a:srgbClr val="16181D"/>
                </a:solidFill>
                <a:latin typeface="Verdana"/>
                <a:ea typeface="Verdana"/>
                <a:cs typeface="Verdana"/>
              </a:rPr>
              <a:t>En la NVD (nvd.nist.gov): descripción, puntaje, tipo de falla y lista de versiones afectadas.</a:t>
            </a:r>
          </a:p>
        </p:txBody>
      </p:sp>
      <p:sp>
        <p:nvSpPr>
          <p:cNvPr id="22" name="Rectangle 21"/>
          <p:cNvSpPr/>
          <p:nvPr/>
        </p:nvSpPr>
        <p:spPr>
          <a:xfrm>
            <a:off x="8165592" y="4059936"/>
            <a:ext cx="3456432" cy="164592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8101583" y="3995928"/>
            <a:ext cx="3456432" cy="16459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8339327" y="4178808"/>
            <a:ext cx="2980944" cy="1280160"/>
          </a:xfrm>
          <a:prstGeom prst="rect">
            <a:avLst/>
          </a:prstGeom>
          <a:noFill/>
        </p:spPr>
        <p:txBody>
          <a:bodyPr wrap="square" lIns="0" rIns="0" tIns="0" bIns="0" anchor="t">
            <a:spAutoFit/>
          </a:bodyPr>
          <a:lstStyle/>
          <a:p>
            <a:pPr algn="l">
              <a:spcBef>
                <a:spcPts val="0"/>
              </a:spcBef>
              <a:spcAft>
                <a:spcPts val="600"/>
              </a:spcAft>
            </a:pPr>
            <a:r>
              <a:rPr sz="1300" b="1" i="0">
                <a:solidFill>
                  <a:srgbClr val="B02A37"/>
                </a:solidFill>
                <a:latin typeface="Rockwell"/>
                <a:ea typeface="Rockwell"/>
                <a:cs typeface="Rockwell"/>
              </a:rPr>
              <a:t>Qué implica que exista</a:t>
            </a:r>
          </a:p>
          <a:p>
            <a:pPr>
              <a:lnSpc>
                <a:spcPct val="118000"/>
              </a:lnSpc>
              <a:spcBef>
                <a:spcPts val="0"/>
              </a:spcBef>
              <a:spcAft>
                <a:spcPts val="300"/>
              </a:spcAft>
            </a:pPr>
            <a:r>
              <a:rPr sz="1150" b="0" i="0">
                <a:solidFill>
                  <a:srgbClr val="16181D"/>
                </a:solidFill>
                <a:latin typeface="Verdana"/>
                <a:ea typeface="Verdana"/>
                <a:cs typeface="Verdana"/>
              </a:rPr>
              <a:t>Que la falla es pública. La conoce el que defiende y la conoce el que ataca.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NO CONFUNDIR</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El CVE es el caso. El CWE es la categoría</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9</a:t>
            </a:r>
          </a:p>
        </p:txBody>
      </p:sp>
      <p:sp>
        <p:nvSpPr>
          <p:cNvPr id="7" name="Rectangle 6"/>
          <p:cNvSpPr/>
          <p:nvPr/>
        </p:nvSpPr>
        <p:spPr>
          <a:xfrm>
            <a:off x="704088" y="1636776"/>
            <a:ext cx="5257800" cy="117043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572768"/>
            <a:ext cx="5257800" cy="117043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96112" y="1755648"/>
            <a:ext cx="4745736" cy="1005840"/>
          </a:xfrm>
          <a:prstGeom prst="rect">
            <a:avLst/>
          </a:prstGeom>
          <a:noFill/>
        </p:spPr>
        <p:txBody>
          <a:bodyPr wrap="square" lIns="0" rIns="0" tIns="0" bIns="0" anchor="t">
            <a:spAutoFit/>
          </a:bodyPr>
          <a:lstStyle/>
          <a:p>
            <a:pPr algn="l">
              <a:spcBef>
                <a:spcPts val="0"/>
              </a:spcBef>
              <a:spcAft>
                <a:spcPts val="600"/>
              </a:spcAft>
            </a:pPr>
            <a:r>
              <a:rPr sz="1900" b="1" i="0">
                <a:solidFill>
                  <a:srgbClr val="5B34C7"/>
                </a:solidFill>
                <a:latin typeface="Courier New"/>
                <a:ea typeface="Courier New"/>
                <a:cs typeface="Courier New"/>
              </a:rPr>
              <a:t>CVE</a:t>
            </a:r>
          </a:p>
          <a:p>
            <a:pPr>
              <a:lnSpc>
                <a:spcPct val="120000"/>
              </a:lnSpc>
              <a:spcBef>
                <a:spcPts val="0"/>
              </a:spcBef>
              <a:spcAft>
                <a:spcPts val="0"/>
              </a:spcAft>
            </a:pPr>
            <a:r>
              <a:rPr sz="1300" b="0" i="0">
                <a:solidFill>
                  <a:srgbClr val="16181D"/>
                </a:solidFill>
                <a:latin typeface="Verdana"/>
                <a:ea typeface="Verdana"/>
                <a:cs typeface="Verdana"/>
              </a:rPr>
              <a:t>Esta falla, en este producto, en estas versiones. Un caso concreto.</a:t>
            </a:r>
          </a:p>
        </p:txBody>
      </p:sp>
      <p:sp>
        <p:nvSpPr>
          <p:cNvPr id="10" name="Rectangle 9"/>
          <p:cNvSpPr/>
          <p:nvPr/>
        </p:nvSpPr>
        <p:spPr>
          <a:xfrm>
            <a:off x="6355080" y="1636776"/>
            <a:ext cx="5257800" cy="1170432"/>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6291072" y="1572768"/>
            <a:ext cx="5257800" cy="117043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547104" y="1755648"/>
            <a:ext cx="4745736" cy="1005840"/>
          </a:xfrm>
          <a:prstGeom prst="rect">
            <a:avLst/>
          </a:prstGeom>
          <a:noFill/>
        </p:spPr>
        <p:txBody>
          <a:bodyPr wrap="square" lIns="0" rIns="0" tIns="0" bIns="0" anchor="t">
            <a:spAutoFit/>
          </a:bodyPr>
          <a:lstStyle/>
          <a:p>
            <a:pPr algn="l">
              <a:spcBef>
                <a:spcPts val="0"/>
              </a:spcBef>
              <a:spcAft>
                <a:spcPts val="600"/>
              </a:spcAft>
            </a:pPr>
            <a:r>
              <a:rPr sz="1900" b="1" i="0">
                <a:solidFill>
                  <a:srgbClr val="0E7C66"/>
                </a:solidFill>
                <a:latin typeface="Courier New"/>
                <a:ea typeface="Courier New"/>
                <a:cs typeface="Courier New"/>
              </a:rPr>
              <a:t>CWE</a:t>
            </a:r>
          </a:p>
          <a:p>
            <a:pPr>
              <a:lnSpc>
                <a:spcPct val="120000"/>
              </a:lnSpc>
              <a:spcBef>
                <a:spcPts val="0"/>
              </a:spcBef>
              <a:spcAft>
                <a:spcPts val="0"/>
              </a:spcAft>
            </a:pPr>
            <a:r>
              <a:rPr sz="1300" b="0" i="0">
                <a:solidFill>
                  <a:srgbClr val="16181D"/>
                </a:solidFill>
                <a:latin typeface="Verdana"/>
                <a:ea typeface="Verdana"/>
                <a:cs typeface="Verdana"/>
              </a:rPr>
              <a:t>El tipo de error. Miles de CVE distintos pueden ser todos CWE-89.</a:t>
            </a:r>
          </a:p>
        </p:txBody>
      </p:sp>
      <p:sp>
        <p:nvSpPr>
          <p:cNvPr id="13" name="Rectangle 12"/>
          <p:cNvSpPr/>
          <p:nvPr/>
        </p:nvSpPr>
        <p:spPr>
          <a:xfrm>
            <a:off x="640080" y="2926080"/>
            <a:ext cx="10911535" cy="34747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749808" y="2926080"/>
            <a:ext cx="1253907"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TIPO</a:t>
            </a:r>
          </a:p>
        </p:txBody>
      </p:sp>
      <p:sp>
        <p:nvSpPr>
          <p:cNvPr id="15" name="TextBox 14"/>
          <p:cNvSpPr txBox="1"/>
          <p:nvPr/>
        </p:nvSpPr>
        <p:spPr>
          <a:xfrm>
            <a:off x="2168307" y="2926080"/>
            <a:ext cx="2781522"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NOMBRE</a:t>
            </a:r>
          </a:p>
        </p:txBody>
      </p:sp>
      <p:sp>
        <p:nvSpPr>
          <p:cNvPr id="16" name="TextBox 15"/>
          <p:cNvSpPr txBox="1"/>
          <p:nvPr/>
        </p:nvSpPr>
        <p:spPr>
          <a:xfrm>
            <a:off x="5114422" y="2926080"/>
            <a:ext cx="6382329"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QUÉ SIGNIFICA</a:t>
            </a:r>
          </a:p>
        </p:txBody>
      </p:sp>
      <p:sp>
        <p:nvSpPr>
          <p:cNvPr id="17" name="Rectangle 16"/>
          <p:cNvSpPr/>
          <p:nvPr/>
        </p:nvSpPr>
        <p:spPr>
          <a:xfrm>
            <a:off x="640080" y="3273552"/>
            <a:ext cx="10911535" cy="411480"/>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749808" y="3273552"/>
            <a:ext cx="1253907"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Courier New"/>
                <a:ea typeface="Courier New"/>
                <a:cs typeface="Courier New"/>
              </a:rPr>
              <a:t>CWE-79</a:t>
            </a:r>
          </a:p>
        </p:txBody>
      </p:sp>
      <p:sp>
        <p:nvSpPr>
          <p:cNvPr id="19" name="TextBox 18"/>
          <p:cNvSpPr txBox="1"/>
          <p:nvPr/>
        </p:nvSpPr>
        <p:spPr>
          <a:xfrm>
            <a:off x="2168307" y="3273552"/>
            <a:ext cx="2781522"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Scripting entre sitios (XSS)</a:t>
            </a:r>
          </a:p>
        </p:txBody>
      </p:sp>
      <p:sp>
        <p:nvSpPr>
          <p:cNvPr id="20" name="TextBox 19"/>
          <p:cNvSpPr txBox="1"/>
          <p:nvPr/>
        </p:nvSpPr>
        <p:spPr>
          <a:xfrm>
            <a:off x="5114422" y="3273552"/>
            <a:ext cx="6382329"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La página muestra sin filtrar lo que escribió un usuario.</a:t>
            </a:r>
          </a:p>
        </p:txBody>
      </p:sp>
      <p:sp>
        <p:nvSpPr>
          <p:cNvPr id="21" name="Rectangle 20"/>
          <p:cNvSpPr/>
          <p:nvPr/>
        </p:nvSpPr>
        <p:spPr>
          <a:xfrm>
            <a:off x="640080" y="3685032"/>
            <a:ext cx="10911535" cy="411480"/>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749808" y="3685032"/>
            <a:ext cx="1253907"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Courier New"/>
                <a:ea typeface="Courier New"/>
                <a:cs typeface="Courier New"/>
              </a:rPr>
              <a:t>CWE-89</a:t>
            </a:r>
          </a:p>
        </p:txBody>
      </p:sp>
      <p:sp>
        <p:nvSpPr>
          <p:cNvPr id="23" name="TextBox 22"/>
          <p:cNvSpPr txBox="1"/>
          <p:nvPr/>
        </p:nvSpPr>
        <p:spPr>
          <a:xfrm>
            <a:off x="2168307" y="3685032"/>
            <a:ext cx="2781522"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Inyección SQL</a:t>
            </a:r>
          </a:p>
        </p:txBody>
      </p:sp>
      <p:sp>
        <p:nvSpPr>
          <p:cNvPr id="24" name="TextBox 23"/>
          <p:cNvSpPr txBox="1"/>
          <p:nvPr/>
        </p:nvSpPr>
        <p:spPr>
          <a:xfrm>
            <a:off x="5114422" y="3685032"/>
            <a:ext cx="6382329"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El formulario deja escribir órdenes directo en la base de datos.</a:t>
            </a:r>
          </a:p>
        </p:txBody>
      </p:sp>
      <p:sp>
        <p:nvSpPr>
          <p:cNvPr id="25" name="Rectangle 24"/>
          <p:cNvSpPr/>
          <p:nvPr/>
        </p:nvSpPr>
        <p:spPr>
          <a:xfrm>
            <a:off x="640080" y="4096512"/>
            <a:ext cx="10911535" cy="411480"/>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TextBox 25"/>
          <p:cNvSpPr txBox="1"/>
          <p:nvPr/>
        </p:nvSpPr>
        <p:spPr>
          <a:xfrm>
            <a:off x="749808" y="4096512"/>
            <a:ext cx="1253907"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Courier New"/>
                <a:ea typeface="Courier New"/>
                <a:cs typeface="Courier New"/>
              </a:rPr>
              <a:t>CWE-798</a:t>
            </a:r>
          </a:p>
        </p:txBody>
      </p:sp>
      <p:sp>
        <p:nvSpPr>
          <p:cNvPr id="27" name="TextBox 26"/>
          <p:cNvSpPr txBox="1"/>
          <p:nvPr/>
        </p:nvSpPr>
        <p:spPr>
          <a:xfrm>
            <a:off x="2168307" y="4096512"/>
            <a:ext cx="2781522"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Credenciales embebidas</a:t>
            </a:r>
          </a:p>
        </p:txBody>
      </p:sp>
      <p:sp>
        <p:nvSpPr>
          <p:cNvPr id="28" name="TextBox 27"/>
          <p:cNvSpPr txBox="1"/>
          <p:nvPr/>
        </p:nvSpPr>
        <p:spPr>
          <a:xfrm>
            <a:off x="5114422" y="4096512"/>
            <a:ext cx="6382329"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El programa trae adentro una contraseña que no se puede cambiar.</a:t>
            </a:r>
          </a:p>
        </p:txBody>
      </p:sp>
      <p:sp>
        <p:nvSpPr>
          <p:cNvPr id="29" name="Rectangle 28"/>
          <p:cNvSpPr/>
          <p:nvPr/>
        </p:nvSpPr>
        <p:spPr>
          <a:xfrm>
            <a:off x="640080" y="4507992"/>
            <a:ext cx="10911535" cy="411480"/>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749808" y="4507992"/>
            <a:ext cx="1253907"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Courier New"/>
                <a:ea typeface="Courier New"/>
                <a:cs typeface="Courier New"/>
              </a:rPr>
              <a:t>CWE-22</a:t>
            </a:r>
          </a:p>
        </p:txBody>
      </p:sp>
      <p:sp>
        <p:nvSpPr>
          <p:cNvPr id="31" name="TextBox 30"/>
          <p:cNvSpPr txBox="1"/>
          <p:nvPr/>
        </p:nvSpPr>
        <p:spPr>
          <a:xfrm>
            <a:off x="2168307" y="4507992"/>
            <a:ext cx="2781522"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Salto de directorio</a:t>
            </a:r>
          </a:p>
        </p:txBody>
      </p:sp>
      <p:sp>
        <p:nvSpPr>
          <p:cNvPr id="32" name="TextBox 31"/>
          <p:cNvSpPr txBox="1"/>
          <p:nvPr/>
        </p:nvSpPr>
        <p:spPr>
          <a:xfrm>
            <a:off x="5114422" y="4507992"/>
            <a:ext cx="6382329" cy="41148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Pidiendo ../../ se llega a archivos que no correspondían.</a:t>
            </a:r>
          </a:p>
        </p:txBody>
      </p:sp>
      <p:sp>
        <p:nvSpPr>
          <p:cNvPr id="33" name="Rectangle 32"/>
          <p:cNvSpPr/>
          <p:nvPr/>
        </p:nvSpPr>
        <p:spPr>
          <a:xfrm>
            <a:off x="640080" y="5065776"/>
            <a:ext cx="10911535" cy="713232"/>
          </a:xfrm>
          <a:prstGeom prst="rect">
            <a:avLst/>
          </a:prstGeom>
          <a:solidFill>
            <a:srgbClr val="FDF2DE"/>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TextBox 33"/>
          <p:cNvSpPr txBox="1"/>
          <p:nvPr/>
        </p:nvSpPr>
        <p:spPr>
          <a:xfrm>
            <a:off x="877824" y="5248656"/>
            <a:ext cx="10436047" cy="34747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El CVE te dice si te afecta. El CWE te dice qué clase de error fue — y si lo vas a volver a cometer.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DIMENSIÓN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48.000 en un año</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10</a:t>
            </a:r>
          </a:p>
        </p:txBody>
      </p:sp>
      <p:sp>
        <p:nvSpPr>
          <p:cNvPr id="7" name="TextBox 6"/>
          <p:cNvSpPr txBox="1"/>
          <p:nvPr/>
        </p:nvSpPr>
        <p:spPr>
          <a:xfrm>
            <a:off x="640080" y="1709928"/>
            <a:ext cx="5120640" cy="2011680"/>
          </a:xfrm>
          <a:prstGeom prst="rect">
            <a:avLst/>
          </a:prstGeom>
          <a:noFill/>
        </p:spPr>
        <p:txBody>
          <a:bodyPr wrap="square" lIns="0" rIns="0" tIns="0" bIns="0" anchor="t">
            <a:spAutoFit/>
          </a:bodyPr>
          <a:lstStyle/>
          <a:p>
            <a:pPr algn="l">
              <a:lnSpc>
                <a:spcPct val="90000"/>
              </a:lnSpc>
              <a:spcBef>
                <a:spcPts val="0"/>
              </a:spcBef>
              <a:spcAft>
                <a:spcPts val="0"/>
              </a:spcAft>
            </a:pPr>
            <a:r>
              <a:rPr sz="8600" b="1" i="0">
                <a:solidFill>
                  <a:srgbClr val="5B34C7"/>
                </a:solidFill>
                <a:latin typeface="Rockwell"/>
                <a:ea typeface="Rockwell"/>
                <a:cs typeface="Rockwell"/>
              </a:rPr>
              <a:t>48.000</a:t>
            </a:r>
          </a:p>
          <a:p>
            <a:pPr>
              <a:lnSpc>
                <a:spcPct val="120000"/>
              </a:lnSpc>
              <a:spcBef>
                <a:spcPts val="600"/>
              </a:spcBef>
              <a:spcAft>
                <a:spcPts val="0"/>
              </a:spcAft>
            </a:pPr>
            <a:r>
              <a:rPr sz="1500" b="1" i="0">
                <a:solidFill>
                  <a:srgbClr val="16181D"/>
                </a:solidFill>
                <a:latin typeface="Verdana"/>
                <a:ea typeface="Verdana"/>
                <a:cs typeface="Verdana"/>
              </a:rPr>
              <a:t>CVE publicados durante 2025.</a:t>
            </a:r>
          </a:p>
          <a:p>
            <a:pPr>
              <a:lnSpc>
                <a:spcPct val="120000"/>
              </a:lnSpc>
              <a:spcBef>
                <a:spcPts val="0"/>
              </a:spcBef>
              <a:spcAft>
                <a:spcPts val="0"/>
              </a:spcAft>
            </a:pPr>
            <a:r>
              <a:rPr sz="1500" b="0" i="0">
                <a:solidFill>
                  <a:srgbClr val="16181D"/>
                </a:solidFill>
                <a:latin typeface="Verdana"/>
                <a:ea typeface="Verdana"/>
                <a:cs typeface="Verdana"/>
              </a:rPr>
              <a:t>Un promedio de unos 130 por día.</a:t>
            </a:r>
          </a:p>
        </p:txBody>
      </p:sp>
      <p:sp>
        <p:nvSpPr>
          <p:cNvPr id="8" name="Rectangle 7"/>
          <p:cNvSpPr/>
          <p:nvPr/>
        </p:nvSpPr>
        <p:spPr>
          <a:xfrm>
            <a:off x="6099048" y="1773936"/>
            <a:ext cx="5513832" cy="132588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ectangle 8"/>
          <p:cNvSpPr/>
          <p:nvPr/>
        </p:nvSpPr>
        <p:spPr>
          <a:xfrm>
            <a:off x="6035040" y="1709928"/>
            <a:ext cx="5513832" cy="132588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6272783" y="1892808"/>
            <a:ext cx="5038344" cy="960119"/>
          </a:xfrm>
          <a:prstGeom prst="rect">
            <a:avLst/>
          </a:prstGeom>
          <a:noFill/>
        </p:spPr>
        <p:txBody>
          <a:bodyPr wrap="square" lIns="0" rIns="0" tIns="0" bIns="0" anchor="t">
            <a:spAutoFit/>
          </a:bodyPr>
          <a:lstStyle/>
          <a:p>
            <a:pPr algn="l">
              <a:spcBef>
                <a:spcPts val="0"/>
              </a:spcBef>
              <a:spcAft>
                <a:spcPts val="600"/>
              </a:spcAft>
            </a:pPr>
            <a:r>
              <a:rPr sz="1500" b="1" i="0">
                <a:solidFill>
                  <a:srgbClr val="B02A37"/>
                </a:solidFill>
                <a:latin typeface="Rockwell"/>
                <a:ea typeface="Rockwell"/>
                <a:cs typeface="Rockwell"/>
              </a:rPr>
              <a:t>Nadie los parchea todos</a:t>
            </a:r>
          </a:p>
          <a:p>
            <a:pPr>
              <a:lnSpc>
                <a:spcPct val="118000"/>
              </a:lnSpc>
              <a:spcBef>
                <a:spcPts val="0"/>
              </a:spcBef>
              <a:spcAft>
                <a:spcPts val="300"/>
              </a:spcAft>
            </a:pPr>
            <a:r>
              <a:rPr sz="1300" b="0" i="0">
                <a:solidFill>
                  <a:srgbClr val="16181D"/>
                </a:solidFill>
                <a:latin typeface="Verdana"/>
                <a:ea typeface="Verdana"/>
                <a:cs typeface="Verdana"/>
              </a:rPr>
              <a:t>Ni una empresa grande con un equipo dedicado. Mucho menos un liceo con un técnico.</a:t>
            </a:r>
          </a:p>
        </p:txBody>
      </p:sp>
      <p:sp>
        <p:nvSpPr>
          <p:cNvPr id="11" name="Rectangle 10"/>
          <p:cNvSpPr/>
          <p:nvPr/>
        </p:nvSpPr>
        <p:spPr>
          <a:xfrm>
            <a:off x="6099048" y="3282696"/>
            <a:ext cx="5513832" cy="173736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035040" y="3218688"/>
            <a:ext cx="5513832" cy="17373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6272783" y="3401568"/>
            <a:ext cx="5038344" cy="1371600"/>
          </a:xfrm>
          <a:prstGeom prst="rect">
            <a:avLst/>
          </a:prstGeom>
          <a:noFill/>
        </p:spPr>
        <p:txBody>
          <a:bodyPr wrap="square" lIns="0" rIns="0" tIns="0" bIns="0" anchor="t">
            <a:spAutoFit/>
          </a:bodyPr>
          <a:lstStyle/>
          <a:p>
            <a:pPr algn="l">
              <a:spcBef>
                <a:spcPts val="0"/>
              </a:spcBef>
              <a:spcAft>
                <a:spcPts val="600"/>
              </a:spcAft>
            </a:pPr>
            <a:r>
              <a:rPr sz="1500" b="1" i="0">
                <a:solidFill>
                  <a:srgbClr val="5B34C7"/>
                </a:solidFill>
                <a:latin typeface="Rockwell"/>
                <a:ea typeface="Rockwell"/>
                <a:cs typeface="Rockwell"/>
              </a:rPr>
              <a:t>Entonces el problema no es arreglar</a:t>
            </a:r>
          </a:p>
          <a:p>
            <a:pPr>
              <a:lnSpc>
                <a:spcPct val="118000"/>
              </a:lnSpc>
              <a:spcBef>
                <a:spcPts val="0"/>
              </a:spcBef>
              <a:spcAft>
                <a:spcPts val="300"/>
              </a:spcAft>
            </a:pPr>
            <a:r>
              <a:rPr sz="1300" b="0" i="0">
                <a:solidFill>
                  <a:srgbClr val="16181D"/>
                </a:solidFill>
                <a:latin typeface="Verdana"/>
                <a:ea typeface="Verdana"/>
                <a:cs typeface="Verdana"/>
              </a:rPr>
              <a:t>El problema es DECIDIR QUÉ SE ARREGLA PRIMERO. Eso se llama triage, y es el trabajo real de quien defiende. Es lo que van a practicar en la actividad de hoy.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MEDICIÓN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CVSS: un número de 0 a 10</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11</a:t>
            </a:r>
          </a:p>
        </p:txBody>
      </p:sp>
      <p:sp>
        <p:nvSpPr>
          <p:cNvPr id="7" name="Rectangle 6"/>
          <p:cNvSpPr/>
          <p:nvPr/>
        </p:nvSpPr>
        <p:spPr>
          <a:xfrm>
            <a:off x="1005840" y="1984248"/>
            <a:ext cx="2443203" cy="731520"/>
          </a:xfrm>
          <a:prstGeom prst="rect">
            <a:avLst/>
          </a:prstGeom>
          <a:solidFill>
            <a:srgbClr val="8A93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1005840" y="1984248"/>
            <a:ext cx="2443203" cy="731520"/>
          </a:xfrm>
          <a:prstGeom prst="rect">
            <a:avLst/>
          </a:prstGeom>
          <a:noFill/>
        </p:spPr>
        <p:txBody>
          <a:bodyPr wrap="square" lIns="0" rIns="0" tIns="0" bIns="0" anchor="ctr">
            <a:spAutoFit/>
          </a:bodyPr>
          <a:lstStyle/>
          <a:p>
            <a:pPr algn="ctr">
              <a:spcBef>
                <a:spcPts val="0"/>
              </a:spcBef>
              <a:spcAft>
                <a:spcPts val="0"/>
              </a:spcAft>
            </a:pPr>
            <a:r>
              <a:rPr sz="1400" b="1" i="0" spc="120">
                <a:solidFill>
                  <a:srgbClr val="FFFFFF"/>
                </a:solidFill>
                <a:latin typeface="Rockwell"/>
                <a:ea typeface="Rockwell"/>
                <a:cs typeface="Rockwell"/>
              </a:rPr>
              <a:t>BAJA</a:t>
            </a:r>
          </a:p>
        </p:txBody>
      </p:sp>
      <p:sp>
        <p:nvSpPr>
          <p:cNvPr id="9" name="TextBox 8"/>
          <p:cNvSpPr txBox="1"/>
          <p:nvPr/>
        </p:nvSpPr>
        <p:spPr>
          <a:xfrm>
            <a:off x="1005840" y="2807208"/>
            <a:ext cx="2443203" cy="274320"/>
          </a:xfrm>
          <a:prstGeom prst="rect">
            <a:avLst/>
          </a:prstGeom>
          <a:noFill/>
        </p:spPr>
        <p:txBody>
          <a:bodyPr wrap="square" lIns="0" rIns="0" tIns="0" bIns="0" anchor="t">
            <a:spAutoFit/>
          </a:bodyPr>
          <a:lstStyle/>
          <a:p>
            <a:pPr algn="ctr">
              <a:spcBef>
                <a:spcPts val="0"/>
              </a:spcBef>
              <a:spcAft>
                <a:spcPts val="0"/>
              </a:spcAft>
            </a:pPr>
            <a:r>
              <a:rPr sz="1250" b="1" i="0">
                <a:solidFill>
                  <a:srgbClr val="16181D"/>
                </a:solidFill>
                <a:latin typeface="Courier New"/>
                <a:ea typeface="Courier New"/>
                <a:cs typeface="Courier New"/>
              </a:rPr>
              <a:t>0,1 – 3,9</a:t>
            </a:r>
          </a:p>
        </p:txBody>
      </p:sp>
      <p:sp>
        <p:nvSpPr>
          <p:cNvPr id="10" name="Rectangle 9"/>
          <p:cNvSpPr/>
          <p:nvPr/>
        </p:nvSpPr>
        <p:spPr>
          <a:xfrm>
            <a:off x="3449043" y="1984248"/>
            <a:ext cx="2850404" cy="73152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3449043" y="1984248"/>
            <a:ext cx="2850404" cy="731520"/>
          </a:xfrm>
          <a:prstGeom prst="rect">
            <a:avLst/>
          </a:prstGeom>
          <a:noFill/>
        </p:spPr>
        <p:txBody>
          <a:bodyPr wrap="square" lIns="0" rIns="0" tIns="0" bIns="0" anchor="ctr">
            <a:spAutoFit/>
          </a:bodyPr>
          <a:lstStyle/>
          <a:p>
            <a:pPr algn="ctr">
              <a:spcBef>
                <a:spcPts val="0"/>
              </a:spcBef>
              <a:spcAft>
                <a:spcPts val="0"/>
              </a:spcAft>
            </a:pPr>
            <a:r>
              <a:rPr sz="1400" b="1" i="0" spc="120">
                <a:solidFill>
                  <a:srgbClr val="FFFFFF"/>
                </a:solidFill>
                <a:latin typeface="Rockwell"/>
                <a:ea typeface="Rockwell"/>
                <a:cs typeface="Rockwell"/>
              </a:rPr>
              <a:t>MEDIA</a:t>
            </a:r>
          </a:p>
        </p:txBody>
      </p:sp>
      <p:sp>
        <p:nvSpPr>
          <p:cNvPr id="12" name="TextBox 11"/>
          <p:cNvSpPr txBox="1"/>
          <p:nvPr/>
        </p:nvSpPr>
        <p:spPr>
          <a:xfrm>
            <a:off x="3449043" y="2807208"/>
            <a:ext cx="2850404" cy="274320"/>
          </a:xfrm>
          <a:prstGeom prst="rect">
            <a:avLst/>
          </a:prstGeom>
          <a:noFill/>
        </p:spPr>
        <p:txBody>
          <a:bodyPr wrap="square" lIns="0" rIns="0" tIns="0" bIns="0" anchor="t">
            <a:spAutoFit/>
          </a:bodyPr>
          <a:lstStyle/>
          <a:p>
            <a:pPr algn="ctr">
              <a:spcBef>
                <a:spcPts val="0"/>
              </a:spcBef>
              <a:spcAft>
                <a:spcPts val="0"/>
              </a:spcAft>
            </a:pPr>
            <a:r>
              <a:rPr sz="1250" b="1" i="0">
                <a:solidFill>
                  <a:srgbClr val="16181D"/>
                </a:solidFill>
                <a:latin typeface="Courier New"/>
                <a:ea typeface="Courier New"/>
                <a:cs typeface="Courier New"/>
              </a:rPr>
              <a:t>4,0 – 6,9</a:t>
            </a:r>
          </a:p>
        </p:txBody>
      </p:sp>
      <p:sp>
        <p:nvSpPr>
          <p:cNvPr id="13" name="Rectangle 12"/>
          <p:cNvSpPr/>
          <p:nvPr/>
        </p:nvSpPr>
        <p:spPr>
          <a:xfrm>
            <a:off x="6299447" y="1984248"/>
            <a:ext cx="2443203" cy="731520"/>
          </a:xfrm>
          <a:prstGeom prst="rect">
            <a:avLst/>
          </a:prstGeom>
          <a:solidFill>
            <a:srgbClr val="D95F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6299447" y="1984248"/>
            <a:ext cx="2443203" cy="731520"/>
          </a:xfrm>
          <a:prstGeom prst="rect">
            <a:avLst/>
          </a:prstGeom>
          <a:noFill/>
        </p:spPr>
        <p:txBody>
          <a:bodyPr wrap="square" lIns="0" rIns="0" tIns="0" bIns="0" anchor="ctr">
            <a:spAutoFit/>
          </a:bodyPr>
          <a:lstStyle/>
          <a:p>
            <a:pPr algn="ctr">
              <a:spcBef>
                <a:spcPts val="0"/>
              </a:spcBef>
              <a:spcAft>
                <a:spcPts val="0"/>
              </a:spcAft>
            </a:pPr>
            <a:r>
              <a:rPr sz="1400" b="1" i="0" spc="120">
                <a:solidFill>
                  <a:srgbClr val="FFFFFF"/>
                </a:solidFill>
                <a:latin typeface="Rockwell"/>
                <a:ea typeface="Rockwell"/>
                <a:cs typeface="Rockwell"/>
              </a:rPr>
              <a:t>ALTA</a:t>
            </a:r>
          </a:p>
        </p:txBody>
      </p:sp>
      <p:sp>
        <p:nvSpPr>
          <p:cNvPr id="15" name="TextBox 14"/>
          <p:cNvSpPr txBox="1"/>
          <p:nvPr/>
        </p:nvSpPr>
        <p:spPr>
          <a:xfrm>
            <a:off x="6299447" y="2807208"/>
            <a:ext cx="2443203" cy="274320"/>
          </a:xfrm>
          <a:prstGeom prst="rect">
            <a:avLst/>
          </a:prstGeom>
          <a:noFill/>
        </p:spPr>
        <p:txBody>
          <a:bodyPr wrap="square" lIns="0" rIns="0" tIns="0" bIns="0" anchor="t">
            <a:spAutoFit/>
          </a:bodyPr>
          <a:lstStyle/>
          <a:p>
            <a:pPr algn="ctr">
              <a:spcBef>
                <a:spcPts val="0"/>
              </a:spcBef>
              <a:spcAft>
                <a:spcPts val="0"/>
              </a:spcAft>
            </a:pPr>
            <a:r>
              <a:rPr sz="1250" b="1" i="0">
                <a:solidFill>
                  <a:srgbClr val="16181D"/>
                </a:solidFill>
                <a:latin typeface="Courier New"/>
                <a:ea typeface="Courier New"/>
                <a:cs typeface="Courier New"/>
              </a:rPr>
              <a:t>7,0 – 8,9</a:t>
            </a:r>
          </a:p>
        </p:txBody>
      </p:sp>
      <p:sp>
        <p:nvSpPr>
          <p:cNvPr id="16" name="Rectangle 15"/>
          <p:cNvSpPr/>
          <p:nvPr/>
        </p:nvSpPr>
        <p:spPr>
          <a:xfrm>
            <a:off x="8742651" y="1984248"/>
            <a:ext cx="2443203" cy="73152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8742651" y="1984248"/>
            <a:ext cx="2443203" cy="731520"/>
          </a:xfrm>
          <a:prstGeom prst="rect">
            <a:avLst/>
          </a:prstGeom>
          <a:noFill/>
        </p:spPr>
        <p:txBody>
          <a:bodyPr wrap="square" lIns="0" rIns="0" tIns="0" bIns="0" anchor="ctr">
            <a:spAutoFit/>
          </a:bodyPr>
          <a:lstStyle/>
          <a:p>
            <a:pPr algn="ctr">
              <a:spcBef>
                <a:spcPts val="0"/>
              </a:spcBef>
              <a:spcAft>
                <a:spcPts val="0"/>
              </a:spcAft>
            </a:pPr>
            <a:r>
              <a:rPr sz="1400" b="1" i="0" spc="120">
                <a:solidFill>
                  <a:srgbClr val="FFFFFF"/>
                </a:solidFill>
                <a:latin typeface="Rockwell"/>
                <a:ea typeface="Rockwell"/>
                <a:cs typeface="Rockwell"/>
              </a:rPr>
              <a:t>CRÍTICA</a:t>
            </a:r>
          </a:p>
        </p:txBody>
      </p:sp>
      <p:sp>
        <p:nvSpPr>
          <p:cNvPr id="18" name="TextBox 17"/>
          <p:cNvSpPr txBox="1"/>
          <p:nvPr/>
        </p:nvSpPr>
        <p:spPr>
          <a:xfrm>
            <a:off x="8742651" y="2807208"/>
            <a:ext cx="2443203" cy="274320"/>
          </a:xfrm>
          <a:prstGeom prst="rect">
            <a:avLst/>
          </a:prstGeom>
          <a:noFill/>
        </p:spPr>
        <p:txBody>
          <a:bodyPr wrap="square" lIns="0" rIns="0" tIns="0" bIns="0" anchor="t">
            <a:spAutoFit/>
          </a:bodyPr>
          <a:lstStyle/>
          <a:p>
            <a:pPr algn="ctr">
              <a:spcBef>
                <a:spcPts val="0"/>
              </a:spcBef>
              <a:spcAft>
                <a:spcPts val="0"/>
              </a:spcAft>
            </a:pPr>
            <a:r>
              <a:rPr sz="1250" b="1" i="0">
                <a:solidFill>
                  <a:srgbClr val="16181D"/>
                </a:solidFill>
                <a:latin typeface="Courier New"/>
                <a:ea typeface="Courier New"/>
                <a:cs typeface="Courier New"/>
              </a:rPr>
              <a:t>9,0 – 10,0</a:t>
            </a:r>
          </a:p>
        </p:txBody>
      </p:sp>
      <p:sp>
        <p:nvSpPr>
          <p:cNvPr id="19" name="Rectangle 18"/>
          <p:cNvSpPr/>
          <p:nvPr/>
        </p:nvSpPr>
        <p:spPr>
          <a:xfrm>
            <a:off x="704088" y="3557016"/>
            <a:ext cx="5257800" cy="1874519"/>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3493008"/>
            <a:ext cx="5257800"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77824" y="3675888"/>
            <a:ext cx="4782312" cy="1508760"/>
          </a:xfrm>
          <a:prstGeom prst="rect">
            <a:avLst/>
          </a:prstGeom>
          <a:noFill/>
        </p:spPr>
        <p:txBody>
          <a:bodyPr wrap="square" lIns="0" rIns="0" tIns="0" bIns="0" anchor="t">
            <a:spAutoFit/>
          </a:bodyPr>
          <a:lstStyle/>
          <a:p>
            <a:pPr algn="l">
              <a:spcBef>
                <a:spcPts val="0"/>
              </a:spcBef>
              <a:spcAft>
                <a:spcPts val="600"/>
              </a:spcAft>
            </a:pPr>
            <a:r>
              <a:rPr sz="1500" b="1" i="0">
                <a:solidFill>
                  <a:srgbClr val="5B34C7"/>
                </a:solidFill>
                <a:latin typeface="Rockwell"/>
                <a:ea typeface="Rockwell"/>
                <a:cs typeface="Rockwell"/>
              </a:rPr>
              <a:t>Qué mide</a:t>
            </a:r>
          </a:p>
          <a:p>
            <a:pPr>
              <a:lnSpc>
                <a:spcPct val="118000"/>
              </a:lnSpc>
              <a:spcBef>
                <a:spcPts val="0"/>
              </a:spcBef>
              <a:spcAft>
                <a:spcPts val="300"/>
              </a:spcAft>
            </a:pPr>
            <a:r>
              <a:rPr sz="1300" b="0" i="0">
                <a:solidFill>
                  <a:srgbClr val="16181D"/>
                </a:solidFill>
                <a:latin typeface="Verdana"/>
                <a:ea typeface="Verdana"/>
                <a:cs typeface="Verdana"/>
              </a:rPr>
              <a:t>La gravedad técnica de la falla considerada en abstracto: qué tan fácil es explotarla y cuánto daño hace si se explota.</a:t>
            </a:r>
          </a:p>
        </p:txBody>
      </p:sp>
      <p:sp>
        <p:nvSpPr>
          <p:cNvPr id="22" name="Rectangle 21"/>
          <p:cNvSpPr/>
          <p:nvPr/>
        </p:nvSpPr>
        <p:spPr>
          <a:xfrm>
            <a:off x="6355080" y="3557016"/>
            <a:ext cx="5257800" cy="1874519"/>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6291072" y="3493008"/>
            <a:ext cx="5257800"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6528816" y="3675888"/>
            <a:ext cx="4782312" cy="1508760"/>
          </a:xfrm>
          <a:prstGeom prst="rect">
            <a:avLst/>
          </a:prstGeom>
          <a:noFill/>
        </p:spPr>
        <p:txBody>
          <a:bodyPr wrap="square" lIns="0" rIns="0" tIns="0" bIns="0" anchor="t">
            <a:spAutoFit/>
          </a:bodyPr>
          <a:lstStyle/>
          <a:p>
            <a:pPr algn="l">
              <a:spcBef>
                <a:spcPts val="0"/>
              </a:spcBef>
              <a:spcAft>
                <a:spcPts val="600"/>
              </a:spcAft>
            </a:pPr>
            <a:r>
              <a:rPr sz="1500" b="1" i="0">
                <a:solidFill>
                  <a:srgbClr val="B02A37"/>
                </a:solidFill>
                <a:latin typeface="Rockwell"/>
                <a:ea typeface="Rockwell"/>
                <a:cs typeface="Rockwell"/>
              </a:rPr>
              <a:t>Qué NO mide</a:t>
            </a:r>
          </a:p>
          <a:p>
            <a:pPr>
              <a:lnSpc>
                <a:spcPct val="118000"/>
              </a:lnSpc>
              <a:spcBef>
                <a:spcPts val="0"/>
              </a:spcBef>
              <a:spcAft>
                <a:spcPts val="300"/>
              </a:spcAft>
            </a:pPr>
            <a:r>
              <a:rPr sz="1300" b="0" i="0">
                <a:solidFill>
                  <a:srgbClr val="16181D"/>
                </a:solidFill>
                <a:latin typeface="Verdana"/>
                <a:ea typeface="Verdana"/>
                <a:cs typeface="Verdana"/>
              </a:rPr>
              <a:t>Tu contexto. No sabe si esa máquina está prendida, si tiene salida a internet, qué guarda adentro ni si ya hay un exploit circulando.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MEDICIÓN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De dónde sale el número</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12</a:t>
            </a:r>
          </a:p>
        </p:txBody>
      </p:sp>
      <p:sp>
        <p:nvSpPr>
          <p:cNvPr id="7" name="Rectangle 6"/>
          <p:cNvSpPr/>
          <p:nvPr/>
        </p:nvSpPr>
        <p:spPr>
          <a:xfrm>
            <a:off x="704088" y="1655064"/>
            <a:ext cx="10911535" cy="676656"/>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591056"/>
            <a:ext cx="10911535" cy="676656"/>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96112" y="1755648"/>
            <a:ext cx="4206240" cy="411480"/>
          </a:xfrm>
          <a:prstGeom prst="rect">
            <a:avLst/>
          </a:prstGeom>
          <a:noFill/>
        </p:spPr>
        <p:txBody>
          <a:bodyPr wrap="square" lIns="0" rIns="0" tIns="0" bIns="0" anchor="t">
            <a:spAutoFit/>
          </a:bodyPr>
          <a:lstStyle/>
          <a:p>
            <a:pPr algn="l">
              <a:spcBef>
                <a:spcPts val="0"/>
              </a:spcBef>
              <a:spcAft>
                <a:spcPts val="0"/>
              </a:spcAft>
            </a:pPr>
            <a:r>
              <a:rPr sz="1350" b="1" i="0">
                <a:solidFill>
                  <a:srgbClr val="16181D"/>
                </a:solidFill>
                <a:latin typeface="Verdana"/>
                <a:ea typeface="Verdana"/>
                <a:cs typeface="Verdana"/>
              </a:rPr>
              <a:t>¿Desde dónde se explota?</a:t>
            </a:r>
          </a:p>
        </p:txBody>
      </p:sp>
      <p:sp>
        <p:nvSpPr>
          <p:cNvPr id="10" name="TextBox 9"/>
          <p:cNvSpPr txBox="1"/>
          <p:nvPr/>
        </p:nvSpPr>
        <p:spPr>
          <a:xfrm>
            <a:off x="5303520" y="1764792"/>
            <a:ext cx="5973775" cy="411480"/>
          </a:xfrm>
          <a:prstGeom prst="rect">
            <a:avLst/>
          </a:prstGeom>
          <a:noFill/>
        </p:spPr>
        <p:txBody>
          <a:bodyPr wrap="square" lIns="0" rIns="0" tIns="0" bIns="0" anchor="t">
            <a:spAutoFit/>
          </a:bodyPr>
          <a:lstStyle/>
          <a:p>
            <a:pPr algn="l">
              <a:spcBef>
                <a:spcPts val="0"/>
              </a:spcBef>
              <a:spcAft>
                <a:spcPts val="0"/>
              </a:spcAft>
            </a:pPr>
            <a:r>
              <a:rPr sz="1250" b="0" i="0">
                <a:solidFill>
                  <a:srgbClr val="5B34C7"/>
                </a:solidFill>
                <a:latin typeface="Verdana"/>
                <a:ea typeface="Verdana"/>
                <a:cs typeface="Verdana"/>
              </a:rPr>
              <a:t>sube si →  Desde internet, sin estar en la red local.</a:t>
            </a:r>
          </a:p>
        </p:txBody>
      </p:sp>
      <p:sp>
        <p:nvSpPr>
          <p:cNvPr id="11" name="Rectangle 10"/>
          <p:cNvSpPr/>
          <p:nvPr/>
        </p:nvSpPr>
        <p:spPr>
          <a:xfrm>
            <a:off x="704088" y="2441448"/>
            <a:ext cx="10911535" cy="676656"/>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40080" y="2377440"/>
            <a:ext cx="10911535" cy="676656"/>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96112" y="2542032"/>
            <a:ext cx="4206240" cy="411480"/>
          </a:xfrm>
          <a:prstGeom prst="rect">
            <a:avLst/>
          </a:prstGeom>
          <a:noFill/>
        </p:spPr>
        <p:txBody>
          <a:bodyPr wrap="square" lIns="0" rIns="0" tIns="0" bIns="0" anchor="t">
            <a:spAutoFit/>
          </a:bodyPr>
          <a:lstStyle/>
          <a:p>
            <a:pPr algn="l">
              <a:spcBef>
                <a:spcPts val="0"/>
              </a:spcBef>
              <a:spcAft>
                <a:spcPts val="0"/>
              </a:spcAft>
            </a:pPr>
            <a:r>
              <a:rPr sz="1350" b="1" i="0">
                <a:solidFill>
                  <a:srgbClr val="16181D"/>
                </a:solidFill>
                <a:latin typeface="Verdana"/>
                <a:ea typeface="Verdana"/>
                <a:cs typeface="Verdana"/>
              </a:rPr>
              <a:t>¿Es difícil de lograr?</a:t>
            </a:r>
          </a:p>
        </p:txBody>
      </p:sp>
      <p:sp>
        <p:nvSpPr>
          <p:cNvPr id="14" name="TextBox 13"/>
          <p:cNvSpPr txBox="1"/>
          <p:nvPr/>
        </p:nvSpPr>
        <p:spPr>
          <a:xfrm>
            <a:off x="5303520" y="2551176"/>
            <a:ext cx="5973775" cy="411480"/>
          </a:xfrm>
          <a:prstGeom prst="rect">
            <a:avLst/>
          </a:prstGeom>
          <a:noFill/>
        </p:spPr>
        <p:txBody>
          <a:bodyPr wrap="square" lIns="0" rIns="0" tIns="0" bIns="0" anchor="t">
            <a:spAutoFit/>
          </a:bodyPr>
          <a:lstStyle/>
          <a:p>
            <a:pPr algn="l">
              <a:spcBef>
                <a:spcPts val="0"/>
              </a:spcBef>
              <a:spcAft>
                <a:spcPts val="0"/>
              </a:spcAft>
            </a:pPr>
            <a:r>
              <a:rPr sz="1250" b="0" i="0">
                <a:solidFill>
                  <a:srgbClr val="5B34C7"/>
                </a:solidFill>
                <a:latin typeface="Verdana"/>
                <a:ea typeface="Verdana"/>
                <a:cs typeface="Verdana"/>
              </a:rPr>
              <a:t>sube si →  Sale siempre, al primer intento, sin condiciones raras.</a:t>
            </a:r>
          </a:p>
        </p:txBody>
      </p:sp>
      <p:sp>
        <p:nvSpPr>
          <p:cNvPr id="15" name="Rectangle 14"/>
          <p:cNvSpPr/>
          <p:nvPr/>
        </p:nvSpPr>
        <p:spPr>
          <a:xfrm>
            <a:off x="704088" y="3227832"/>
            <a:ext cx="10911535" cy="676656"/>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ectangle 15"/>
          <p:cNvSpPr/>
          <p:nvPr/>
        </p:nvSpPr>
        <p:spPr>
          <a:xfrm>
            <a:off x="640080" y="3163824"/>
            <a:ext cx="10911535" cy="676656"/>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896112" y="3328416"/>
            <a:ext cx="4206240" cy="411480"/>
          </a:xfrm>
          <a:prstGeom prst="rect">
            <a:avLst/>
          </a:prstGeom>
          <a:noFill/>
        </p:spPr>
        <p:txBody>
          <a:bodyPr wrap="square" lIns="0" rIns="0" tIns="0" bIns="0" anchor="t">
            <a:spAutoFit/>
          </a:bodyPr>
          <a:lstStyle/>
          <a:p>
            <a:pPr algn="l">
              <a:spcBef>
                <a:spcPts val="0"/>
              </a:spcBef>
              <a:spcAft>
                <a:spcPts val="0"/>
              </a:spcAft>
            </a:pPr>
            <a:r>
              <a:rPr sz="1350" b="1" i="0">
                <a:solidFill>
                  <a:srgbClr val="16181D"/>
                </a:solidFill>
                <a:latin typeface="Verdana"/>
                <a:ea typeface="Verdana"/>
                <a:cs typeface="Verdana"/>
              </a:rPr>
              <a:t>¿Hace falta una cuenta?</a:t>
            </a:r>
          </a:p>
        </p:txBody>
      </p:sp>
      <p:sp>
        <p:nvSpPr>
          <p:cNvPr id="18" name="TextBox 17"/>
          <p:cNvSpPr txBox="1"/>
          <p:nvPr/>
        </p:nvSpPr>
        <p:spPr>
          <a:xfrm>
            <a:off x="5303520" y="3337560"/>
            <a:ext cx="5973775" cy="411480"/>
          </a:xfrm>
          <a:prstGeom prst="rect">
            <a:avLst/>
          </a:prstGeom>
          <a:noFill/>
        </p:spPr>
        <p:txBody>
          <a:bodyPr wrap="square" lIns="0" rIns="0" tIns="0" bIns="0" anchor="t">
            <a:spAutoFit/>
          </a:bodyPr>
          <a:lstStyle/>
          <a:p>
            <a:pPr algn="l">
              <a:spcBef>
                <a:spcPts val="0"/>
              </a:spcBef>
              <a:spcAft>
                <a:spcPts val="0"/>
              </a:spcAft>
            </a:pPr>
            <a:r>
              <a:rPr sz="1250" b="0" i="0">
                <a:solidFill>
                  <a:srgbClr val="5B34C7"/>
                </a:solidFill>
                <a:latin typeface="Verdana"/>
                <a:ea typeface="Verdana"/>
                <a:cs typeface="Verdana"/>
              </a:rPr>
              <a:t>sube si →  No hace falta ninguna.</a:t>
            </a:r>
          </a:p>
        </p:txBody>
      </p:sp>
      <p:sp>
        <p:nvSpPr>
          <p:cNvPr id="19" name="Rectangle 18"/>
          <p:cNvSpPr/>
          <p:nvPr/>
        </p:nvSpPr>
        <p:spPr>
          <a:xfrm>
            <a:off x="704088" y="4014216"/>
            <a:ext cx="10911535" cy="676656"/>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3950208"/>
            <a:ext cx="10911535" cy="676656"/>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96112" y="4114800"/>
            <a:ext cx="4206240" cy="411480"/>
          </a:xfrm>
          <a:prstGeom prst="rect">
            <a:avLst/>
          </a:prstGeom>
          <a:noFill/>
        </p:spPr>
        <p:txBody>
          <a:bodyPr wrap="square" lIns="0" rIns="0" tIns="0" bIns="0" anchor="t">
            <a:spAutoFit/>
          </a:bodyPr>
          <a:lstStyle/>
          <a:p>
            <a:pPr algn="l">
              <a:spcBef>
                <a:spcPts val="0"/>
              </a:spcBef>
              <a:spcAft>
                <a:spcPts val="0"/>
              </a:spcAft>
            </a:pPr>
            <a:r>
              <a:rPr sz="1350" b="1" i="0">
                <a:solidFill>
                  <a:srgbClr val="16181D"/>
                </a:solidFill>
                <a:latin typeface="Verdana"/>
                <a:ea typeface="Verdana"/>
                <a:cs typeface="Verdana"/>
              </a:rPr>
              <a:t>¿La víctima tiene que hacer algo?</a:t>
            </a:r>
          </a:p>
        </p:txBody>
      </p:sp>
      <p:sp>
        <p:nvSpPr>
          <p:cNvPr id="22" name="TextBox 21"/>
          <p:cNvSpPr txBox="1"/>
          <p:nvPr/>
        </p:nvSpPr>
        <p:spPr>
          <a:xfrm>
            <a:off x="5303520" y="4123944"/>
            <a:ext cx="5973775" cy="411480"/>
          </a:xfrm>
          <a:prstGeom prst="rect">
            <a:avLst/>
          </a:prstGeom>
          <a:noFill/>
        </p:spPr>
        <p:txBody>
          <a:bodyPr wrap="square" lIns="0" rIns="0" tIns="0" bIns="0" anchor="t">
            <a:spAutoFit/>
          </a:bodyPr>
          <a:lstStyle/>
          <a:p>
            <a:pPr algn="l">
              <a:spcBef>
                <a:spcPts val="0"/>
              </a:spcBef>
              <a:spcAft>
                <a:spcPts val="0"/>
              </a:spcAft>
            </a:pPr>
            <a:r>
              <a:rPr sz="1250" b="0" i="0">
                <a:solidFill>
                  <a:srgbClr val="5B34C7"/>
                </a:solidFill>
                <a:latin typeface="Verdana"/>
                <a:ea typeface="Verdana"/>
                <a:cs typeface="Verdana"/>
              </a:rPr>
              <a:t>sube si →  No: se explota sola, sin que nadie haga clic.</a:t>
            </a:r>
          </a:p>
        </p:txBody>
      </p:sp>
      <p:sp>
        <p:nvSpPr>
          <p:cNvPr id="23" name="Rectangle 22"/>
          <p:cNvSpPr/>
          <p:nvPr/>
        </p:nvSpPr>
        <p:spPr>
          <a:xfrm>
            <a:off x="704088" y="4800600"/>
            <a:ext cx="10911535" cy="676656"/>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ectangle 23"/>
          <p:cNvSpPr/>
          <p:nvPr/>
        </p:nvSpPr>
        <p:spPr>
          <a:xfrm>
            <a:off x="640080" y="4736592"/>
            <a:ext cx="10911535" cy="676656"/>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896112" y="4901184"/>
            <a:ext cx="4206240" cy="411480"/>
          </a:xfrm>
          <a:prstGeom prst="rect">
            <a:avLst/>
          </a:prstGeom>
          <a:noFill/>
        </p:spPr>
        <p:txBody>
          <a:bodyPr wrap="square" lIns="0" rIns="0" tIns="0" bIns="0" anchor="t">
            <a:spAutoFit/>
          </a:bodyPr>
          <a:lstStyle/>
          <a:p>
            <a:pPr algn="l">
              <a:spcBef>
                <a:spcPts val="0"/>
              </a:spcBef>
              <a:spcAft>
                <a:spcPts val="0"/>
              </a:spcAft>
            </a:pPr>
            <a:r>
              <a:rPr sz="1350" b="1" i="0">
                <a:solidFill>
                  <a:srgbClr val="16181D"/>
                </a:solidFill>
                <a:latin typeface="Verdana"/>
                <a:ea typeface="Verdana"/>
                <a:cs typeface="Verdana"/>
              </a:rPr>
              <a:t>¿Qué rompe?</a:t>
            </a:r>
          </a:p>
        </p:txBody>
      </p:sp>
      <p:sp>
        <p:nvSpPr>
          <p:cNvPr id="26" name="TextBox 25"/>
          <p:cNvSpPr txBox="1"/>
          <p:nvPr/>
        </p:nvSpPr>
        <p:spPr>
          <a:xfrm>
            <a:off x="5303520" y="4910328"/>
            <a:ext cx="5973775" cy="411480"/>
          </a:xfrm>
          <a:prstGeom prst="rect">
            <a:avLst/>
          </a:prstGeom>
          <a:noFill/>
        </p:spPr>
        <p:txBody>
          <a:bodyPr wrap="square" lIns="0" rIns="0" tIns="0" bIns="0" anchor="t">
            <a:spAutoFit/>
          </a:bodyPr>
          <a:lstStyle/>
          <a:p>
            <a:pPr algn="l">
              <a:spcBef>
                <a:spcPts val="0"/>
              </a:spcBef>
              <a:spcAft>
                <a:spcPts val="0"/>
              </a:spcAft>
            </a:pPr>
            <a:r>
              <a:rPr sz="1250" b="0" i="0">
                <a:solidFill>
                  <a:srgbClr val="0E7C66"/>
                </a:solidFill>
                <a:latin typeface="Verdana"/>
                <a:ea typeface="Verdana"/>
                <a:cs typeface="Verdana"/>
              </a:rPr>
              <a:t>sube si →  Cuanto más rompe de confidencialidad, integridad o disponibilidad.</a:t>
            </a:r>
          </a:p>
        </p:txBody>
      </p:sp>
      <p:sp>
        <p:nvSpPr>
          <p:cNvPr id="27" name="Rectangle 26"/>
          <p:cNvSpPr/>
          <p:nvPr/>
        </p:nvSpPr>
        <p:spPr>
          <a:xfrm>
            <a:off x="640080" y="5577840"/>
            <a:ext cx="10911535" cy="640080"/>
          </a:xfrm>
          <a:prstGeom prst="rect">
            <a:avLst/>
          </a:prstGeom>
          <a:solidFill>
            <a:srgbClr val="E3F2EE"/>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877824" y="5760720"/>
            <a:ext cx="10436047" cy="274319"/>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0E7C66"/>
                </a:solidFill>
                <a:latin typeface="Verdana"/>
                <a:ea typeface="Verdana"/>
                <a:cs typeface="Verdana"/>
              </a:rPr>
              <a:t>La última fila es la tríada CID. </a:t>
            </a:r>
            <a:r>
              <a:rPr sz="1350" b="0" i="0">
                <a:solidFill>
                  <a:srgbClr val="16181D"/>
                </a:solidFill>
                <a:latin typeface="Verdana"/>
                <a:ea typeface="Verdana"/>
                <a:cs typeface="Verdana"/>
              </a:rPr>
              <a:t>El CVSS termina midiendo daño a C, I y D: es la clase 2 convertida en número.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MEDICIÓN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Cómo se lee un vector</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13</a:t>
            </a:r>
          </a:p>
        </p:txBody>
      </p:sp>
      <p:sp>
        <p:nvSpPr>
          <p:cNvPr id="7" name="Rectangle 6"/>
          <p:cNvSpPr/>
          <p:nvPr/>
        </p:nvSpPr>
        <p:spPr>
          <a:xfrm>
            <a:off x="704088" y="1682496"/>
            <a:ext cx="10911535" cy="841248"/>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18488"/>
            <a:ext cx="10911535" cy="84124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640080" y="1618488"/>
            <a:ext cx="8808415" cy="841248"/>
          </a:xfrm>
          <a:prstGeom prst="rect">
            <a:avLst/>
          </a:prstGeom>
          <a:noFill/>
        </p:spPr>
        <p:txBody>
          <a:bodyPr wrap="square" lIns="0" rIns="0" tIns="0" bIns="0" anchor="ctr">
            <a:spAutoFit/>
          </a:bodyPr>
          <a:lstStyle/>
          <a:p>
            <a:pPr algn="ctr">
              <a:spcBef>
                <a:spcPts val="0"/>
              </a:spcBef>
              <a:spcAft>
                <a:spcPts val="0"/>
              </a:spcAft>
            </a:pPr>
            <a:r>
              <a:rPr sz="2100" b="1" i="0">
                <a:solidFill>
                  <a:srgbClr val="6B7280"/>
                </a:solidFill>
                <a:latin typeface="Courier New"/>
                <a:ea typeface="Courier New"/>
                <a:cs typeface="Courier New"/>
              </a:rPr>
              <a:t>CVSS:3.1</a:t>
            </a:r>
            <a:r>
              <a:rPr sz="2100" b="1" i="0">
                <a:solidFill>
                  <a:srgbClr val="C7CCD4"/>
                </a:solidFill>
                <a:latin typeface="Courier New"/>
                <a:ea typeface="Courier New"/>
                <a:cs typeface="Courier New"/>
              </a:rPr>
              <a:t>/</a:t>
            </a:r>
            <a:r>
              <a:rPr sz="2100" b="1" i="0">
                <a:solidFill>
                  <a:srgbClr val="5B34C7"/>
                </a:solidFill>
                <a:latin typeface="Courier New"/>
                <a:ea typeface="Courier New"/>
                <a:cs typeface="Courier New"/>
              </a:rPr>
              <a:t>AV:N</a:t>
            </a:r>
            <a:r>
              <a:rPr sz="2100" b="1" i="0">
                <a:solidFill>
                  <a:srgbClr val="C7CCD4"/>
                </a:solidFill>
                <a:latin typeface="Courier New"/>
                <a:ea typeface="Courier New"/>
                <a:cs typeface="Courier New"/>
              </a:rPr>
              <a:t>/</a:t>
            </a:r>
            <a:r>
              <a:rPr sz="2100" b="1" i="0">
                <a:solidFill>
                  <a:srgbClr val="5B34C7"/>
                </a:solidFill>
                <a:latin typeface="Courier New"/>
                <a:ea typeface="Courier New"/>
                <a:cs typeface="Courier New"/>
              </a:rPr>
              <a:t>AC:L</a:t>
            </a:r>
            <a:r>
              <a:rPr sz="2100" b="1" i="0">
                <a:solidFill>
                  <a:srgbClr val="C7CCD4"/>
                </a:solidFill>
                <a:latin typeface="Courier New"/>
                <a:ea typeface="Courier New"/>
                <a:cs typeface="Courier New"/>
              </a:rPr>
              <a:t>/</a:t>
            </a:r>
            <a:r>
              <a:rPr sz="2100" b="1" i="0">
                <a:solidFill>
                  <a:srgbClr val="5B34C7"/>
                </a:solidFill>
                <a:latin typeface="Courier New"/>
                <a:ea typeface="Courier New"/>
                <a:cs typeface="Courier New"/>
              </a:rPr>
              <a:t>PR:N</a:t>
            </a:r>
            <a:r>
              <a:rPr sz="2100" b="1" i="0">
                <a:solidFill>
                  <a:srgbClr val="C7CCD4"/>
                </a:solidFill>
                <a:latin typeface="Courier New"/>
                <a:ea typeface="Courier New"/>
                <a:cs typeface="Courier New"/>
              </a:rPr>
              <a:t>/</a:t>
            </a:r>
            <a:r>
              <a:rPr sz="2100" b="1" i="0">
                <a:solidFill>
                  <a:srgbClr val="5B34C7"/>
                </a:solidFill>
                <a:latin typeface="Courier New"/>
                <a:ea typeface="Courier New"/>
                <a:cs typeface="Courier New"/>
              </a:rPr>
              <a:t>UI:N</a:t>
            </a:r>
            <a:r>
              <a:rPr sz="2100" b="1" i="0">
                <a:solidFill>
                  <a:srgbClr val="C7CCD4"/>
                </a:solidFill>
                <a:latin typeface="Courier New"/>
                <a:ea typeface="Courier New"/>
                <a:cs typeface="Courier New"/>
              </a:rPr>
              <a:t>/</a:t>
            </a:r>
            <a:r>
              <a:rPr sz="2100" b="1" i="0">
                <a:solidFill>
                  <a:srgbClr val="0E7C66"/>
                </a:solidFill>
                <a:latin typeface="Courier New"/>
                <a:ea typeface="Courier New"/>
                <a:cs typeface="Courier New"/>
              </a:rPr>
              <a:t>C:H</a:t>
            </a:r>
            <a:r>
              <a:rPr sz="2100" b="1" i="0">
                <a:solidFill>
                  <a:srgbClr val="C7CCD4"/>
                </a:solidFill>
                <a:latin typeface="Courier New"/>
                <a:ea typeface="Courier New"/>
                <a:cs typeface="Courier New"/>
              </a:rPr>
              <a:t>/</a:t>
            </a:r>
            <a:r>
              <a:rPr sz="2100" b="1" i="0">
                <a:solidFill>
                  <a:srgbClr val="0E7C66"/>
                </a:solidFill>
                <a:latin typeface="Courier New"/>
                <a:ea typeface="Courier New"/>
                <a:cs typeface="Courier New"/>
              </a:rPr>
              <a:t>I:H</a:t>
            </a:r>
            <a:r>
              <a:rPr sz="2100" b="1" i="0">
                <a:solidFill>
                  <a:srgbClr val="C7CCD4"/>
                </a:solidFill>
                <a:latin typeface="Courier New"/>
                <a:ea typeface="Courier New"/>
                <a:cs typeface="Courier New"/>
              </a:rPr>
              <a:t>/</a:t>
            </a:r>
            <a:r>
              <a:rPr sz="2100" b="1" i="0">
                <a:solidFill>
                  <a:srgbClr val="0E7C66"/>
                </a:solidFill>
                <a:latin typeface="Courier New"/>
                <a:ea typeface="Courier New"/>
                <a:cs typeface="Courier New"/>
              </a:rPr>
              <a:t>A:H</a:t>
            </a:r>
          </a:p>
        </p:txBody>
      </p:sp>
      <p:sp>
        <p:nvSpPr>
          <p:cNvPr id="10" name="TextBox 9"/>
          <p:cNvSpPr txBox="1"/>
          <p:nvPr/>
        </p:nvSpPr>
        <p:spPr>
          <a:xfrm>
            <a:off x="9448495" y="1618488"/>
            <a:ext cx="1828800" cy="841248"/>
          </a:xfrm>
          <a:prstGeom prst="rect">
            <a:avLst/>
          </a:prstGeom>
          <a:noFill/>
        </p:spPr>
        <p:txBody>
          <a:bodyPr wrap="square" lIns="0" rIns="0" tIns="0" bIns="0" anchor="ctr">
            <a:spAutoFit/>
          </a:bodyPr>
          <a:lstStyle/>
          <a:p>
            <a:pPr algn="r">
              <a:spcBef>
                <a:spcPts val="0"/>
              </a:spcBef>
              <a:spcAft>
                <a:spcPts val="0"/>
              </a:spcAft>
            </a:pPr>
            <a:r>
              <a:rPr sz="3000" b="1" i="0">
                <a:solidFill>
                  <a:srgbClr val="B02A37"/>
                </a:solidFill>
                <a:latin typeface="Rockwell"/>
                <a:ea typeface="Rockwell"/>
                <a:cs typeface="Rockwell"/>
              </a:rPr>
              <a:t>9,8</a:t>
            </a:r>
            <a:r>
              <a:rPr sz="1200" b="1" i="0">
                <a:solidFill>
                  <a:srgbClr val="B02A37"/>
                </a:solidFill>
                <a:latin typeface="Verdana"/>
                <a:ea typeface="Verdana"/>
                <a:cs typeface="Verdana"/>
              </a:rPr>
              <a:t>  CRÍTICA</a:t>
            </a:r>
          </a:p>
        </p:txBody>
      </p:sp>
      <p:sp>
        <p:nvSpPr>
          <p:cNvPr id="11" name="Rectangle 10"/>
          <p:cNvSpPr/>
          <p:nvPr/>
        </p:nvSpPr>
        <p:spPr>
          <a:xfrm>
            <a:off x="758952" y="2825496"/>
            <a:ext cx="1394198" cy="9601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94944"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694944"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5B34C7"/>
                </a:solidFill>
                <a:latin typeface="Courier New"/>
                <a:ea typeface="Courier New"/>
                <a:cs typeface="Courier New"/>
              </a:rPr>
              <a:t>AV:N</a:t>
            </a:r>
          </a:p>
          <a:p>
            <a:pPr algn="ctr">
              <a:spcBef>
                <a:spcPts val="0"/>
              </a:spcBef>
              <a:spcAft>
                <a:spcPts val="0"/>
              </a:spcAft>
            </a:pPr>
            <a:r>
              <a:rPr sz="1150" b="0" i="0">
                <a:solidFill>
                  <a:srgbClr val="16181D"/>
                </a:solidFill>
                <a:latin typeface="Verdana"/>
                <a:ea typeface="Verdana"/>
                <a:cs typeface="Verdana"/>
              </a:rPr>
              <a:t>por red</a:t>
            </a:r>
          </a:p>
        </p:txBody>
      </p:sp>
      <p:sp>
        <p:nvSpPr>
          <p:cNvPr id="14" name="Rectangle 13"/>
          <p:cNvSpPr/>
          <p:nvPr/>
        </p:nvSpPr>
        <p:spPr>
          <a:xfrm>
            <a:off x="2317742" y="2825496"/>
            <a:ext cx="1394198" cy="9601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Rectangle 14"/>
          <p:cNvSpPr/>
          <p:nvPr/>
        </p:nvSpPr>
        <p:spPr>
          <a:xfrm>
            <a:off x="2253734"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2253734"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5B34C7"/>
                </a:solidFill>
                <a:latin typeface="Courier New"/>
                <a:ea typeface="Courier New"/>
                <a:cs typeface="Courier New"/>
              </a:rPr>
              <a:t>AC:L</a:t>
            </a:r>
          </a:p>
          <a:p>
            <a:pPr algn="ctr">
              <a:spcBef>
                <a:spcPts val="0"/>
              </a:spcBef>
              <a:spcAft>
                <a:spcPts val="0"/>
              </a:spcAft>
            </a:pPr>
            <a:r>
              <a:rPr sz="1150" b="0" i="0">
                <a:solidFill>
                  <a:srgbClr val="16181D"/>
                </a:solidFill>
                <a:latin typeface="Verdana"/>
                <a:ea typeface="Verdana"/>
                <a:cs typeface="Verdana"/>
              </a:rPr>
              <a:t>fácil</a:t>
            </a:r>
          </a:p>
        </p:txBody>
      </p:sp>
      <p:sp>
        <p:nvSpPr>
          <p:cNvPr id="17" name="Rectangle 16"/>
          <p:cNvSpPr/>
          <p:nvPr/>
        </p:nvSpPr>
        <p:spPr>
          <a:xfrm>
            <a:off x="3876533" y="2825496"/>
            <a:ext cx="1394198" cy="9601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ectangle 17"/>
          <p:cNvSpPr/>
          <p:nvPr/>
        </p:nvSpPr>
        <p:spPr>
          <a:xfrm>
            <a:off x="3812525"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3812525"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5B34C7"/>
                </a:solidFill>
                <a:latin typeface="Courier New"/>
                <a:ea typeface="Courier New"/>
                <a:cs typeface="Courier New"/>
              </a:rPr>
              <a:t>PR:N</a:t>
            </a:r>
          </a:p>
          <a:p>
            <a:pPr algn="ctr">
              <a:spcBef>
                <a:spcPts val="0"/>
              </a:spcBef>
              <a:spcAft>
                <a:spcPts val="0"/>
              </a:spcAft>
            </a:pPr>
            <a:r>
              <a:rPr sz="1150" b="0" i="0">
                <a:solidFill>
                  <a:srgbClr val="16181D"/>
                </a:solidFill>
                <a:latin typeface="Verdana"/>
                <a:ea typeface="Verdana"/>
                <a:cs typeface="Verdana"/>
              </a:rPr>
              <a:t>sin cuenta</a:t>
            </a:r>
          </a:p>
        </p:txBody>
      </p:sp>
      <p:sp>
        <p:nvSpPr>
          <p:cNvPr id="20" name="Rectangle 19"/>
          <p:cNvSpPr/>
          <p:nvPr/>
        </p:nvSpPr>
        <p:spPr>
          <a:xfrm>
            <a:off x="5435324" y="2825496"/>
            <a:ext cx="1394198" cy="9601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Rectangle 20"/>
          <p:cNvSpPr/>
          <p:nvPr/>
        </p:nvSpPr>
        <p:spPr>
          <a:xfrm>
            <a:off x="5371316"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TextBox 21"/>
          <p:cNvSpPr txBox="1"/>
          <p:nvPr/>
        </p:nvSpPr>
        <p:spPr>
          <a:xfrm>
            <a:off x="5371316"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5B34C7"/>
                </a:solidFill>
                <a:latin typeface="Courier New"/>
                <a:ea typeface="Courier New"/>
                <a:cs typeface="Courier New"/>
              </a:rPr>
              <a:t>UI:N</a:t>
            </a:r>
          </a:p>
          <a:p>
            <a:pPr algn="ctr">
              <a:spcBef>
                <a:spcPts val="0"/>
              </a:spcBef>
              <a:spcAft>
                <a:spcPts val="0"/>
              </a:spcAft>
            </a:pPr>
            <a:r>
              <a:rPr sz="1150" b="0" i="0">
                <a:solidFill>
                  <a:srgbClr val="16181D"/>
                </a:solidFill>
                <a:latin typeface="Verdana"/>
                <a:ea typeface="Verdana"/>
                <a:cs typeface="Verdana"/>
              </a:rPr>
              <a:t>sin clic</a:t>
            </a:r>
          </a:p>
        </p:txBody>
      </p:sp>
      <p:sp>
        <p:nvSpPr>
          <p:cNvPr id="23" name="Rectangle 22"/>
          <p:cNvSpPr/>
          <p:nvPr/>
        </p:nvSpPr>
        <p:spPr>
          <a:xfrm>
            <a:off x="6994114" y="2825496"/>
            <a:ext cx="1394198" cy="9601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ectangle 23"/>
          <p:cNvSpPr/>
          <p:nvPr/>
        </p:nvSpPr>
        <p:spPr>
          <a:xfrm>
            <a:off x="6930106"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6930106"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0E7C66"/>
                </a:solidFill>
                <a:latin typeface="Courier New"/>
                <a:ea typeface="Courier New"/>
                <a:cs typeface="Courier New"/>
              </a:rPr>
              <a:t>C:H</a:t>
            </a:r>
          </a:p>
          <a:p>
            <a:pPr algn="ctr">
              <a:spcBef>
                <a:spcPts val="0"/>
              </a:spcBef>
              <a:spcAft>
                <a:spcPts val="0"/>
              </a:spcAft>
            </a:pPr>
            <a:r>
              <a:rPr sz="1150" b="0" i="0">
                <a:solidFill>
                  <a:srgbClr val="16181D"/>
                </a:solidFill>
                <a:latin typeface="Verdana"/>
                <a:ea typeface="Verdana"/>
                <a:cs typeface="Verdana"/>
              </a:rPr>
              <a:t>rompe C</a:t>
            </a:r>
          </a:p>
        </p:txBody>
      </p:sp>
      <p:sp>
        <p:nvSpPr>
          <p:cNvPr id="26" name="Rectangle 25"/>
          <p:cNvSpPr/>
          <p:nvPr/>
        </p:nvSpPr>
        <p:spPr>
          <a:xfrm>
            <a:off x="8552905" y="2825496"/>
            <a:ext cx="1394198" cy="9601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Rectangle 26"/>
          <p:cNvSpPr/>
          <p:nvPr/>
        </p:nvSpPr>
        <p:spPr>
          <a:xfrm>
            <a:off x="8488897"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8488897"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0E7C66"/>
                </a:solidFill>
                <a:latin typeface="Courier New"/>
                <a:ea typeface="Courier New"/>
                <a:cs typeface="Courier New"/>
              </a:rPr>
              <a:t>I:H</a:t>
            </a:r>
          </a:p>
          <a:p>
            <a:pPr algn="ctr">
              <a:spcBef>
                <a:spcPts val="0"/>
              </a:spcBef>
              <a:spcAft>
                <a:spcPts val="0"/>
              </a:spcAft>
            </a:pPr>
            <a:r>
              <a:rPr sz="1150" b="0" i="0">
                <a:solidFill>
                  <a:srgbClr val="16181D"/>
                </a:solidFill>
                <a:latin typeface="Verdana"/>
                <a:ea typeface="Verdana"/>
                <a:cs typeface="Verdana"/>
              </a:rPr>
              <a:t>rompe I</a:t>
            </a:r>
          </a:p>
        </p:txBody>
      </p:sp>
      <p:sp>
        <p:nvSpPr>
          <p:cNvPr id="29" name="Rectangle 28"/>
          <p:cNvSpPr/>
          <p:nvPr/>
        </p:nvSpPr>
        <p:spPr>
          <a:xfrm>
            <a:off x="10111696" y="2825496"/>
            <a:ext cx="1394198" cy="9601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Rectangle 29"/>
          <p:cNvSpPr/>
          <p:nvPr/>
        </p:nvSpPr>
        <p:spPr>
          <a:xfrm>
            <a:off x="10047688" y="2761488"/>
            <a:ext cx="1394198" cy="960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TextBox 30"/>
          <p:cNvSpPr txBox="1"/>
          <p:nvPr/>
        </p:nvSpPr>
        <p:spPr>
          <a:xfrm>
            <a:off x="10047688" y="2761488"/>
            <a:ext cx="1394198" cy="960120"/>
          </a:xfrm>
          <a:prstGeom prst="rect">
            <a:avLst/>
          </a:prstGeom>
          <a:noFill/>
        </p:spPr>
        <p:txBody>
          <a:bodyPr wrap="square" lIns="0" rIns="0" tIns="0" bIns="0" anchor="ctr">
            <a:spAutoFit/>
          </a:bodyPr>
          <a:lstStyle/>
          <a:p>
            <a:pPr algn="ctr">
              <a:spcBef>
                <a:spcPts val="0"/>
              </a:spcBef>
              <a:spcAft>
                <a:spcPts val="400"/>
              </a:spcAft>
            </a:pPr>
            <a:r>
              <a:rPr sz="1300" b="1" i="0">
                <a:solidFill>
                  <a:srgbClr val="0E7C66"/>
                </a:solidFill>
                <a:latin typeface="Courier New"/>
                <a:ea typeface="Courier New"/>
                <a:cs typeface="Courier New"/>
              </a:rPr>
              <a:t>A:H</a:t>
            </a:r>
          </a:p>
          <a:p>
            <a:pPr algn="ctr">
              <a:spcBef>
                <a:spcPts val="0"/>
              </a:spcBef>
              <a:spcAft>
                <a:spcPts val="0"/>
              </a:spcAft>
            </a:pPr>
            <a:r>
              <a:rPr sz="1150" b="0" i="0">
                <a:solidFill>
                  <a:srgbClr val="16181D"/>
                </a:solidFill>
                <a:latin typeface="Verdana"/>
                <a:ea typeface="Verdana"/>
                <a:cs typeface="Verdana"/>
              </a:rPr>
              <a:t>rompe A</a:t>
            </a:r>
          </a:p>
        </p:txBody>
      </p:sp>
      <p:sp>
        <p:nvSpPr>
          <p:cNvPr id="32" name="Rectangle 31"/>
          <p:cNvSpPr/>
          <p:nvPr/>
        </p:nvSpPr>
        <p:spPr>
          <a:xfrm>
            <a:off x="704088" y="4105656"/>
            <a:ext cx="10911535" cy="132588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Rectangle 32"/>
          <p:cNvSpPr/>
          <p:nvPr/>
        </p:nvSpPr>
        <p:spPr>
          <a:xfrm>
            <a:off x="640080" y="4041648"/>
            <a:ext cx="10911535" cy="132588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TextBox 33"/>
          <p:cNvSpPr txBox="1"/>
          <p:nvPr/>
        </p:nvSpPr>
        <p:spPr>
          <a:xfrm>
            <a:off x="877824" y="4224528"/>
            <a:ext cx="10436047" cy="960119"/>
          </a:xfrm>
          <a:prstGeom prst="rect">
            <a:avLst/>
          </a:prstGeom>
          <a:noFill/>
        </p:spPr>
        <p:txBody>
          <a:bodyPr wrap="square" lIns="0" rIns="0" tIns="0" bIns="0" anchor="t">
            <a:spAutoFit/>
          </a:bodyPr>
          <a:lstStyle/>
          <a:p>
            <a:pPr algn="l">
              <a:spcBef>
                <a:spcPts val="0"/>
              </a:spcBef>
              <a:spcAft>
                <a:spcPts val="600"/>
              </a:spcAft>
            </a:pPr>
            <a:r>
              <a:rPr sz="1500" b="1" i="0">
                <a:solidFill>
                  <a:srgbClr val="B02A37"/>
                </a:solidFill>
                <a:latin typeface="Rockwell"/>
                <a:ea typeface="Rockwell"/>
                <a:cs typeface="Rockwell"/>
              </a:rPr>
              <a:t>Un ejemplo real de los peores posibles</a:t>
            </a:r>
          </a:p>
          <a:p>
            <a:pPr>
              <a:lnSpc>
                <a:spcPct val="118000"/>
              </a:lnSpc>
              <a:spcBef>
                <a:spcPts val="0"/>
              </a:spcBef>
              <a:spcAft>
                <a:spcPts val="300"/>
              </a:spcAft>
            </a:pPr>
            <a:r>
              <a:rPr sz="1300" b="0" i="0">
                <a:solidFill>
                  <a:srgbClr val="16181D"/>
                </a:solidFill>
                <a:latin typeface="Verdana"/>
                <a:ea typeface="Verdana"/>
                <a:cs typeface="Verdana"/>
              </a:rPr>
              <a:t>CVE-2021-44228, conocido como Log4Shell: una falla en una biblioteca de registro de Java que usaba medio mundo. Se explotaba por red, sin credenciales, sin interacción, y permitía ejecutar código en el servidor. Puntaje: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EL PUNTO CENTRAL</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El puntaje no es el riesgo</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14</a:t>
            </a:r>
          </a:p>
        </p:txBody>
      </p:sp>
      <p:sp>
        <p:nvSpPr>
          <p:cNvPr id="7" name="Rectangle 6"/>
          <p:cNvSpPr/>
          <p:nvPr/>
        </p:nvSpPr>
        <p:spPr>
          <a:xfrm>
            <a:off x="640080" y="1591056"/>
            <a:ext cx="10911535" cy="34747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49808" y="1591056"/>
            <a:ext cx="3108868"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
            </a:r>
          </a:p>
        </p:txBody>
      </p:sp>
      <p:sp>
        <p:nvSpPr>
          <p:cNvPr id="9" name="TextBox 8"/>
          <p:cNvSpPr txBox="1"/>
          <p:nvPr/>
        </p:nvSpPr>
        <p:spPr>
          <a:xfrm>
            <a:off x="4023268" y="1591056"/>
            <a:ext cx="3654445"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SERVIDOR DE LA SALA</a:t>
            </a:r>
          </a:p>
        </p:txBody>
      </p:sp>
      <p:sp>
        <p:nvSpPr>
          <p:cNvPr id="10" name="TextBox 9"/>
          <p:cNvSpPr txBox="1"/>
          <p:nvPr/>
        </p:nvSpPr>
        <p:spPr>
          <a:xfrm>
            <a:off x="7842305" y="1591056"/>
            <a:ext cx="3654445"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SITIO DE INSCRIPCIONES</a:t>
            </a:r>
          </a:p>
        </p:txBody>
      </p:sp>
      <p:sp>
        <p:nvSpPr>
          <p:cNvPr id="11" name="Rectangle 10"/>
          <p:cNvSpPr/>
          <p:nvPr/>
        </p:nvSpPr>
        <p:spPr>
          <a:xfrm>
            <a:off x="640080" y="1938528"/>
            <a:ext cx="10911535" cy="512064"/>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749808" y="1938528"/>
            <a:ext cx="3108868"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Vulnerabilidad</a:t>
            </a:r>
          </a:p>
        </p:txBody>
      </p:sp>
      <p:sp>
        <p:nvSpPr>
          <p:cNvPr id="13" name="TextBox 12"/>
          <p:cNvSpPr txBox="1"/>
          <p:nvPr/>
        </p:nvSpPr>
        <p:spPr>
          <a:xfrm>
            <a:off x="4023268" y="1938528"/>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Crítica · 9,8</a:t>
            </a:r>
          </a:p>
        </p:txBody>
      </p:sp>
      <p:sp>
        <p:nvSpPr>
          <p:cNvPr id="14" name="TextBox 13"/>
          <p:cNvSpPr txBox="1"/>
          <p:nvPr/>
        </p:nvSpPr>
        <p:spPr>
          <a:xfrm>
            <a:off x="7842305" y="1938528"/>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C9821B"/>
                </a:solidFill>
                <a:latin typeface="Verdana"/>
                <a:ea typeface="Verdana"/>
                <a:cs typeface="Verdana"/>
              </a:rPr>
              <a:t>Media · 6,5</a:t>
            </a:r>
          </a:p>
        </p:txBody>
      </p:sp>
      <p:sp>
        <p:nvSpPr>
          <p:cNvPr id="15" name="Rectangle 14"/>
          <p:cNvSpPr/>
          <p:nvPr/>
        </p:nvSpPr>
        <p:spPr>
          <a:xfrm>
            <a:off x="640080" y="2450592"/>
            <a:ext cx="10911535" cy="512064"/>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749808" y="2450592"/>
            <a:ext cx="3108868"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¿Se llega desde internet?</a:t>
            </a:r>
          </a:p>
        </p:txBody>
      </p:sp>
      <p:sp>
        <p:nvSpPr>
          <p:cNvPr id="17" name="TextBox 16"/>
          <p:cNvSpPr txBox="1"/>
          <p:nvPr/>
        </p:nvSpPr>
        <p:spPr>
          <a:xfrm>
            <a:off x="4023268" y="2450592"/>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No, solo red interna</a:t>
            </a:r>
          </a:p>
        </p:txBody>
      </p:sp>
      <p:sp>
        <p:nvSpPr>
          <p:cNvPr id="18" name="TextBox 17"/>
          <p:cNvSpPr txBox="1"/>
          <p:nvPr/>
        </p:nvSpPr>
        <p:spPr>
          <a:xfrm>
            <a:off x="7842305" y="2450592"/>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Sí, desde cualquier lado</a:t>
            </a:r>
          </a:p>
        </p:txBody>
      </p:sp>
      <p:sp>
        <p:nvSpPr>
          <p:cNvPr id="19" name="Rectangle 18"/>
          <p:cNvSpPr/>
          <p:nvPr/>
        </p:nvSpPr>
        <p:spPr>
          <a:xfrm>
            <a:off x="640080" y="2962656"/>
            <a:ext cx="10911535" cy="512064"/>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749808" y="2962656"/>
            <a:ext cx="3108868"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¿Hay exploit circulando?</a:t>
            </a:r>
          </a:p>
        </p:txBody>
      </p:sp>
      <p:sp>
        <p:nvSpPr>
          <p:cNvPr id="21" name="TextBox 20"/>
          <p:cNvSpPr txBox="1"/>
          <p:nvPr/>
        </p:nvSpPr>
        <p:spPr>
          <a:xfrm>
            <a:off x="4023268" y="2962656"/>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No se conoce</a:t>
            </a:r>
          </a:p>
        </p:txBody>
      </p:sp>
      <p:sp>
        <p:nvSpPr>
          <p:cNvPr id="22" name="TextBox 21"/>
          <p:cNvSpPr txBox="1"/>
          <p:nvPr/>
        </p:nvSpPr>
        <p:spPr>
          <a:xfrm>
            <a:off x="7842305" y="2962656"/>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Sí, publicado y funcionando</a:t>
            </a:r>
          </a:p>
        </p:txBody>
      </p:sp>
      <p:sp>
        <p:nvSpPr>
          <p:cNvPr id="23" name="Rectangle 22"/>
          <p:cNvSpPr/>
          <p:nvPr/>
        </p:nvSpPr>
        <p:spPr>
          <a:xfrm>
            <a:off x="640080" y="3474720"/>
            <a:ext cx="10911535" cy="512064"/>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749808" y="3474720"/>
            <a:ext cx="3108868"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¿Qué guarda?</a:t>
            </a:r>
          </a:p>
        </p:txBody>
      </p:sp>
      <p:sp>
        <p:nvSpPr>
          <p:cNvPr id="25" name="TextBox 24"/>
          <p:cNvSpPr txBox="1"/>
          <p:nvPr/>
        </p:nvSpPr>
        <p:spPr>
          <a:xfrm>
            <a:off x="4023268" y="3474720"/>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Copias de instaladores</a:t>
            </a:r>
          </a:p>
        </p:txBody>
      </p:sp>
      <p:sp>
        <p:nvSpPr>
          <p:cNvPr id="26" name="TextBox 25"/>
          <p:cNvSpPr txBox="1"/>
          <p:nvPr/>
        </p:nvSpPr>
        <p:spPr>
          <a:xfrm>
            <a:off x="7842305" y="3474720"/>
            <a:ext cx="3654445" cy="512064"/>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Datos de 800 estudiantes</a:t>
            </a:r>
          </a:p>
        </p:txBody>
      </p:sp>
      <p:sp>
        <p:nvSpPr>
          <p:cNvPr id="27" name="Rectangle 26"/>
          <p:cNvSpPr/>
          <p:nvPr/>
        </p:nvSpPr>
        <p:spPr>
          <a:xfrm>
            <a:off x="704088" y="4288536"/>
            <a:ext cx="10911535" cy="109728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Rectangle 27"/>
          <p:cNvSpPr/>
          <p:nvPr/>
        </p:nvSpPr>
        <p:spPr>
          <a:xfrm>
            <a:off x="640080" y="4224528"/>
            <a:ext cx="10911535" cy="1097280"/>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TextBox 28"/>
          <p:cNvSpPr txBox="1"/>
          <p:nvPr/>
        </p:nvSpPr>
        <p:spPr>
          <a:xfrm>
            <a:off x="640080" y="4224528"/>
            <a:ext cx="10911535" cy="1097280"/>
          </a:xfrm>
          <a:prstGeom prst="rect">
            <a:avLst/>
          </a:prstGeom>
          <a:noFill/>
        </p:spPr>
        <p:txBody>
          <a:bodyPr wrap="square" lIns="0" rIns="0" tIns="0" bIns="0" anchor="ctr">
            <a:spAutoFit/>
          </a:bodyPr>
          <a:lstStyle/>
          <a:p>
            <a:pPr algn="ctr">
              <a:spcBef>
                <a:spcPts val="0"/>
              </a:spcBef>
              <a:spcAft>
                <a:spcPts val="0"/>
              </a:spcAft>
            </a:pPr>
            <a:r>
              <a:rPr sz="1700" b="1" i="0">
                <a:solidFill>
                  <a:srgbClr val="16181D"/>
                </a:solidFill>
                <a:latin typeface="Rockwell"/>
                <a:ea typeface="Rockwell"/>
                <a:cs typeface="Rockwell"/>
              </a:rPr>
              <a:t>La de 9,8 es más grave como falla. La de 6,5 es más urgente como riesgo.</a:t>
            </a:r>
          </a:p>
          <a:p>
            <a:pPr algn="ctr">
              <a:spcBef>
                <a:spcPts val="600"/>
              </a:spcBef>
              <a:spcAft>
                <a:spcPts val="0"/>
              </a:spcAft>
            </a:pPr>
            <a:r>
              <a:rPr sz="1500" b="1" i="0">
                <a:solidFill>
                  <a:srgbClr val="5B34C7"/>
                </a:solidFill>
                <a:latin typeface="Verdana"/>
                <a:ea typeface="Verdana"/>
                <a:cs typeface="Verdana"/>
              </a:rPr>
              <a:t>Se parchea primero la de 6,5.</a:t>
            </a:r>
          </a:p>
        </p:txBody>
      </p:sp>
      <p:sp>
        <p:nvSpPr>
          <p:cNvPr id="30" name="TextBox 29"/>
          <p:cNvSpPr txBox="1"/>
          <p:nvPr/>
        </p:nvSpPr>
        <p:spPr>
          <a:xfrm>
            <a:off x="640080" y="5504688"/>
            <a:ext cx="10911535" cy="457200"/>
          </a:xfrm>
          <a:prstGeom prst="rect">
            <a:avLst/>
          </a:prstGeom>
          <a:noFill/>
        </p:spPr>
        <p:txBody>
          <a:bodyPr wrap="square" lIns="0" rIns="0" tIns="0" bIns="0" anchor="t">
            <a:spAutoFit/>
          </a:bodyPr>
          <a:lstStyle/>
          <a:p>
            <a:pPr algn="ctr">
              <a:spcBef>
                <a:spcPts val="0"/>
              </a:spcBef>
              <a:spcAft>
                <a:spcPts val="0"/>
              </a:spcAft>
            </a:pPr>
            <a:r>
              <a:rPr sz="1300" b="0" i="0">
                <a:solidFill>
                  <a:srgbClr val="6B7280"/>
                </a:solidFill>
                <a:latin typeface="Verdana"/>
                <a:ea typeface="Verdana"/>
                <a:cs typeface="Verdana"/>
              </a:rPr>
              <a:t>El puntaje te lo dan hecho. La prioridad la ponés vos, con el contexto.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985455" y="457200"/>
            <a:ext cx="3657600" cy="4023360"/>
          </a:xfrm>
          <a:prstGeom prst="rect">
            <a:avLst/>
          </a:prstGeom>
          <a:noFill/>
        </p:spPr>
        <p:txBody>
          <a:bodyPr wrap="square" lIns="0" rIns="0" tIns="0" bIns="0" anchor="t">
            <a:spAutoFit/>
          </a:bodyPr>
          <a:lstStyle/>
          <a:p>
            <a:pPr algn="r">
              <a:spcBef>
                <a:spcPts val="0"/>
              </a:spcBef>
              <a:spcAft>
                <a:spcPts val="0"/>
              </a:spcAft>
            </a:pPr>
            <a:r>
              <a:rPr sz="19000" b="1" i="0">
                <a:solidFill>
                  <a:srgbClr val="4A27A8"/>
                </a:solidFill>
                <a:latin typeface="Rockwell"/>
                <a:ea typeface="Rockwell"/>
                <a:cs typeface="Rockwell"/>
              </a:rPr>
              <a:t>03</a:t>
            </a:r>
          </a:p>
        </p:txBody>
      </p:sp>
      <p:sp>
        <p:nvSpPr>
          <p:cNvPr id="5" name="TextBox 4"/>
          <p:cNvSpPr txBox="1"/>
          <p:nvPr/>
        </p:nvSpPr>
        <p:spPr>
          <a:xfrm>
            <a:off x="1143000" y="2606040"/>
            <a:ext cx="7680960" cy="2011680"/>
          </a:xfrm>
          <a:prstGeom prst="rect">
            <a:avLst/>
          </a:prstGeom>
          <a:noFill/>
        </p:spPr>
        <p:txBody>
          <a:bodyPr wrap="square" lIns="0" rIns="0" tIns="0" bIns="0" anchor="t">
            <a:spAutoFit/>
          </a:bodyPr>
          <a:lstStyle/>
          <a:p>
            <a:pPr algn="l">
              <a:spcBef>
                <a:spcPts val="0"/>
              </a:spcBef>
              <a:spcAft>
                <a:spcPts val="1000"/>
              </a:spcAft>
            </a:pPr>
            <a:r>
              <a:rPr sz="1150" b="1" i="0" spc="250">
                <a:solidFill>
                  <a:srgbClr val="C5B4F5"/>
                </a:solidFill>
                <a:latin typeface="Verdana"/>
                <a:ea typeface="Verdana"/>
                <a:cs typeface="Verdana"/>
              </a:rPr>
              <a:t>BLOQUE TRES</a:t>
            </a:r>
          </a:p>
          <a:p>
            <a:pPr>
              <a:lnSpc>
                <a:spcPct val="95000"/>
              </a:lnSpc>
              <a:spcBef>
                <a:spcPts val="0"/>
              </a:spcBef>
              <a:spcAft>
                <a:spcPts val="0"/>
              </a:spcAft>
            </a:pPr>
            <a:r>
              <a:rPr sz="4000" b="1" i="0">
                <a:solidFill>
                  <a:srgbClr val="FFFFFF"/>
                </a:solidFill>
                <a:latin typeface="Rockwell"/>
                <a:ea typeface="Rockwell"/>
                <a:cs typeface="Rockwell"/>
              </a:rPr>
              <a:t>El tiempo juega</a:t>
            </a:r>
          </a:p>
          <a:p>
            <a:pPr>
              <a:lnSpc>
                <a:spcPct val="120000"/>
              </a:lnSpc>
              <a:spcBef>
                <a:spcPts val="1000"/>
              </a:spcBef>
              <a:spcAft>
                <a:spcPts val="0"/>
              </a:spcAft>
            </a:pPr>
            <a:r>
              <a:rPr sz="1400" b="0" i="0">
                <a:solidFill>
                  <a:srgbClr val="CFC4F2"/>
                </a:solidFill>
                <a:latin typeface="Verdana"/>
                <a:ea typeface="Verdana"/>
                <a:cs typeface="Verdana"/>
              </a:rPr>
              <a:t>Entre que la falla existe y que alguien la arregla pasan cosas. Y quien gana cambia.</a:t>
            </a:r>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CRONOLOGÍA</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La vida de una vulnerabilidad</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16</a:t>
            </a:r>
          </a:p>
        </p:txBody>
      </p:sp>
      <p:sp>
        <p:nvSpPr>
          <p:cNvPr id="7" name="Rectangle 6"/>
          <p:cNvSpPr/>
          <p:nvPr/>
        </p:nvSpPr>
        <p:spPr>
          <a:xfrm>
            <a:off x="704088" y="1865376"/>
            <a:ext cx="2021372" cy="1874519"/>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801368"/>
            <a:ext cx="2021372"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ectangle 8"/>
          <p:cNvSpPr/>
          <p:nvPr/>
        </p:nvSpPr>
        <p:spPr>
          <a:xfrm>
            <a:off x="640080" y="1801368"/>
            <a:ext cx="2021372" cy="8229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804671" y="2029968"/>
            <a:ext cx="1692188" cy="1554480"/>
          </a:xfrm>
          <a:prstGeom prst="rect">
            <a:avLst/>
          </a:prstGeom>
          <a:noFill/>
        </p:spPr>
        <p:txBody>
          <a:bodyPr wrap="square" lIns="0" rIns="0" tIns="0" bIns="0" anchor="t">
            <a:spAutoFit/>
          </a:bodyPr>
          <a:lstStyle/>
          <a:p>
            <a:pPr algn="l">
              <a:spcBef>
                <a:spcPts val="0"/>
              </a:spcBef>
              <a:spcAft>
                <a:spcPts val="400"/>
              </a:spcAft>
            </a:pPr>
            <a:r>
              <a:rPr sz="2000" b="1" i="0">
                <a:solidFill>
                  <a:srgbClr val="6B7280"/>
                </a:solidFill>
                <a:latin typeface="Rockwell"/>
                <a:ea typeface="Rockwell"/>
                <a:cs typeface="Rockwell"/>
              </a:rPr>
              <a:t>1</a:t>
            </a:r>
          </a:p>
          <a:p>
            <a:pPr>
              <a:lnSpc>
                <a:spcPct val="110000"/>
              </a:lnSpc>
              <a:spcBef>
                <a:spcPts val="0"/>
              </a:spcBef>
              <a:spcAft>
                <a:spcPts val="600"/>
              </a:spcAft>
            </a:pPr>
            <a:r>
              <a:rPr sz="1250" b="1" i="0">
                <a:solidFill>
                  <a:srgbClr val="16181D"/>
                </a:solidFill>
                <a:latin typeface="Verdana"/>
                <a:ea typeface="Verdana"/>
                <a:cs typeface="Verdana"/>
              </a:rPr>
              <a:t>La falla existe</a:t>
            </a:r>
          </a:p>
          <a:p>
            <a:pPr>
              <a:lnSpc>
                <a:spcPct val="115000"/>
              </a:lnSpc>
              <a:spcBef>
                <a:spcPts val="0"/>
              </a:spcBef>
              <a:spcAft>
                <a:spcPts val="100"/>
              </a:spcAft>
            </a:pPr>
            <a:r>
              <a:rPr sz="1050" b="0" i="0">
                <a:solidFill>
                  <a:srgbClr val="6B7280"/>
                </a:solidFill>
                <a:latin typeface="Verdana"/>
                <a:ea typeface="Verdana"/>
                <a:cs typeface="Verdana"/>
              </a:rPr>
              <a:t>Nadie la conoce.</a:t>
            </a:r>
          </a:p>
          <a:p>
            <a:pPr>
              <a:lnSpc>
                <a:spcPct val="115000"/>
              </a:lnSpc>
              <a:spcBef>
                <a:spcPts val="0"/>
              </a:spcBef>
              <a:spcAft>
                <a:spcPts val="100"/>
              </a:spcAft>
            </a:pPr>
            <a:r>
              <a:rPr sz="1050" b="0" i="0">
                <a:solidFill>
                  <a:srgbClr val="6B7280"/>
                </a:solidFill>
                <a:latin typeface="Verdana"/>
                <a:ea typeface="Verdana"/>
                <a:cs typeface="Verdana"/>
              </a:rPr>
              <a:t>Estás expuesto sin saberlo.</a:t>
            </a:r>
          </a:p>
        </p:txBody>
      </p:sp>
      <p:sp>
        <p:nvSpPr>
          <p:cNvPr id="11" name="Right Arrow 10"/>
          <p:cNvSpPr/>
          <p:nvPr/>
        </p:nvSpPr>
        <p:spPr>
          <a:xfrm>
            <a:off x="2688884" y="2670048"/>
            <a:ext cx="146304" cy="91440"/>
          </a:xfrm>
          <a:prstGeom prst="rightArrow">
            <a:avLst/>
          </a:prstGeom>
          <a:solidFill>
            <a:srgbClr val="C7C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26628" y="1865376"/>
            <a:ext cx="2021372" cy="1874519"/>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Rectangle 12"/>
          <p:cNvSpPr/>
          <p:nvPr/>
        </p:nvSpPr>
        <p:spPr>
          <a:xfrm>
            <a:off x="2862620" y="1801368"/>
            <a:ext cx="2021372"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2862620" y="1801368"/>
            <a:ext cx="2021372" cy="82296"/>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3027212" y="2029968"/>
            <a:ext cx="1692188" cy="1554480"/>
          </a:xfrm>
          <a:prstGeom prst="rect">
            <a:avLst/>
          </a:prstGeom>
          <a:noFill/>
        </p:spPr>
        <p:txBody>
          <a:bodyPr wrap="square" lIns="0" rIns="0" tIns="0" bIns="0" anchor="t">
            <a:spAutoFit/>
          </a:bodyPr>
          <a:lstStyle/>
          <a:p>
            <a:pPr algn="l">
              <a:spcBef>
                <a:spcPts val="0"/>
              </a:spcBef>
              <a:spcAft>
                <a:spcPts val="400"/>
              </a:spcAft>
            </a:pPr>
            <a:r>
              <a:rPr sz="2000" b="1" i="0">
                <a:solidFill>
                  <a:srgbClr val="B02A37"/>
                </a:solidFill>
                <a:latin typeface="Rockwell"/>
                <a:ea typeface="Rockwell"/>
                <a:cs typeface="Rockwell"/>
              </a:rPr>
              <a:t>2</a:t>
            </a:r>
          </a:p>
          <a:p>
            <a:pPr>
              <a:lnSpc>
                <a:spcPct val="110000"/>
              </a:lnSpc>
              <a:spcBef>
                <a:spcPts val="0"/>
              </a:spcBef>
              <a:spcAft>
                <a:spcPts val="600"/>
              </a:spcAft>
            </a:pPr>
            <a:r>
              <a:rPr sz="1250" b="1" i="0">
                <a:solidFill>
                  <a:srgbClr val="16181D"/>
                </a:solidFill>
                <a:latin typeface="Verdana"/>
                <a:ea typeface="Verdana"/>
                <a:cs typeface="Verdana"/>
              </a:rPr>
              <a:t>Alguien la descubre</a:t>
            </a:r>
          </a:p>
          <a:p>
            <a:pPr>
              <a:lnSpc>
                <a:spcPct val="115000"/>
              </a:lnSpc>
              <a:spcBef>
                <a:spcPts val="0"/>
              </a:spcBef>
              <a:spcAft>
                <a:spcPts val="100"/>
              </a:spcAft>
            </a:pPr>
            <a:r>
              <a:rPr sz="1050" b="0" i="0">
                <a:solidFill>
                  <a:srgbClr val="6B7280"/>
                </a:solidFill>
                <a:latin typeface="Verdana"/>
                <a:ea typeface="Verdana"/>
                <a:cs typeface="Verdana"/>
              </a:rPr>
              <a:t>Si es un atacante:</a:t>
            </a:r>
          </a:p>
          <a:p>
            <a:pPr>
              <a:lnSpc>
                <a:spcPct val="115000"/>
              </a:lnSpc>
              <a:spcBef>
                <a:spcPts val="0"/>
              </a:spcBef>
              <a:spcAft>
                <a:spcPts val="100"/>
              </a:spcAft>
            </a:pPr>
            <a:r>
              <a:rPr sz="1050" b="0" i="0">
                <a:solidFill>
                  <a:srgbClr val="6B7280"/>
                </a:solidFill>
                <a:latin typeface="Verdana"/>
                <a:ea typeface="Verdana"/>
                <a:cs typeface="Verdana"/>
              </a:rPr>
              <a:t>DÍA CERO. No hay parche.</a:t>
            </a:r>
          </a:p>
        </p:txBody>
      </p:sp>
      <p:sp>
        <p:nvSpPr>
          <p:cNvPr id="16" name="Right Arrow 15"/>
          <p:cNvSpPr/>
          <p:nvPr/>
        </p:nvSpPr>
        <p:spPr>
          <a:xfrm>
            <a:off x="4911425" y="2670048"/>
            <a:ext cx="146304" cy="91440"/>
          </a:xfrm>
          <a:prstGeom prst="rightArrow">
            <a:avLst/>
          </a:prstGeom>
          <a:solidFill>
            <a:srgbClr val="C7C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49169" y="1865376"/>
            <a:ext cx="2021372" cy="1874519"/>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ectangle 17"/>
          <p:cNvSpPr/>
          <p:nvPr/>
        </p:nvSpPr>
        <p:spPr>
          <a:xfrm>
            <a:off x="5085161" y="1801368"/>
            <a:ext cx="2021372"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ectangle 18"/>
          <p:cNvSpPr/>
          <p:nvPr/>
        </p:nvSpPr>
        <p:spPr>
          <a:xfrm>
            <a:off x="5085161" y="1801368"/>
            <a:ext cx="2021372" cy="82296"/>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5249753" y="2029968"/>
            <a:ext cx="1692188" cy="1554480"/>
          </a:xfrm>
          <a:prstGeom prst="rect">
            <a:avLst/>
          </a:prstGeom>
          <a:noFill/>
        </p:spPr>
        <p:txBody>
          <a:bodyPr wrap="square" lIns="0" rIns="0" tIns="0" bIns="0" anchor="t">
            <a:spAutoFit/>
          </a:bodyPr>
          <a:lstStyle/>
          <a:p>
            <a:pPr algn="l">
              <a:spcBef>
                <a:spcPts val="0"/>
              </a:spcBef>
              <a:spcAft>
                <a:spcPts val="400"/>
              </a:spcAft>
            </a:pPr>
            <a:r>
              <a:rPr sz="2000" b="1" i="0">
                <a:solidFill>
                  <a:srgbClr val="C9821B"/>
                </a:solidFill>
                <a:latin typeface="Rockwell"/>
                <a:ea typeface="Rockwell"/>
                <a:cs typeface="Rockwell"/>
              </a:rPr>
              <a:t>3</a:t>
            </a:r>
          </a:p>
          <a:p>
            <a:pPr>
              <a:lnSpc>
                <a:spcPct val="110000"/>
              </a:lnSpc>
              <a:spcBef>
                <a:spcPts val="0"/>
              </a:spcBef>
              <a:spcAft>
                <a:spcPts val="600"/>
              </a:spcAft>
            </a:pPr>
            <a:r>
              <a:rPr sz="1250" b="1" i="0">
                <a:solidFill>
                  <a:srgbClr val="16181D"/>
                </a:solidFill>
                <a:latin typeface="Verdana"/>
                <a:ea typeface="Verdana"/>
                <a:cs typeface="Verdana"/>
              </a:rPr>
              <a:t>Se publica el CVE</a:t>
            </a:r>
          </a:p>
          <a:p>
            <a:pPr>
              <a:lnSpc>
                <a:spcPct val="115000"/>
              </a:lnSpc>
              <a:spcBef>
                <a:spcPts val="0"/>
              </a:spcBef>
              <a:spcAft>
                <a:spcPts val="100"/>
              </a:spcAft>
            </a:pPr>
            <a:r>
              <a:rPr sz="1050" b="0" i="0">
                <a:solidFill>
                  <a:srgbClr val="6B7280"/>
                </a:solidFill>
                <a:latin typeface="Verdana"/>
                <a:ea typeface="Verdana"/>
                <a:cs typeface="Verdana"/>
              </a:rPr>
              <a:t>Ahora la conocen</a:t>
            </a:r>
          </a:p>
          <a:p>
            <a:pPr>
              <a:lnSpc>
                <a:spcPct val="115000"/>
              </a:lnSpc>
              <a:spcBef>
                <a:spcPts val="0"/>
              </a:spcBef>
              <a:spcAft>
                <a:spcPts val="100"/>
              </a:spcAft>
            </a:pPr>
            <a:r>
              <a:rPr sz="1050" b="0" i="0">
                <a:solidFill>
                  <a:srgbClr val="6B7280"/>
                </a:solidFill>
                <a:latin typeface="Verdana"/>
                <a:ea typeface="Verdana"/>
                <a:cs typeface="Verdana"/>
              </a:rPr>
              <a:t>los dos bandos.</a:t>
            </a:r>
          </a:p>
        </p:txBody>
      </p:sp>
      <p:sp>
        <p:nvSpPr>
          <p:cNvPr id="21" name="Right Arrow 20"/>
          <p:cNvSpPr/>
          <p:nvPr/>
        </p:nvSpPr>
        <p:spPr>
          <a:xfrm>
            <a:off x="7133965" y="2670048"/>
            <a:ext cx="146304" cy="91440"/>
          </a:xfrm>
          <a:prstGeom prst="rightArrow">
            <a:avLst/>
          </a:prstGeom>
          <a:solidFill>
            <a:srgbClr val="C7C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71709" y="1865376"/>
            <a:ext cx="2021372" cy="1874519"/>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7307701" y="1801368"/>
            <a:ext cx="2021372"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Rectangle 23"/>
          <p:cNvSpPr/>
          <p:nvPr/>
        </p:nvSpPr>
        <p:spPr>
          <a:xfrm>
            <a:off x="7307701" y="1801368"/>
            <a:ext cx="2021372" cy="82296"/>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TextBox 24"/>
          <p:cNvSpPr txBox="1"/>
          <p:nvPr/>
        </p:nvSpPr>
        <p:spPr>
          <a:xfrm>
            <a:off x="7472293" y="2029968"/>
            <a:ext cx="1692188" cy="1554480"/>
          </a:xfrm>
          <a:prstGeom prst="rect">
            <a:avLst/>
          </a:prstGeom>
          <a:noFill/>
        </p:spPr>
        <p:txBody>
          <a:bodyPr wrap="square" lIns="0" rIns="0" tIns="0" bIns="0" anchor="t">
            <a:spAutoFit/>
          </a:bodyPr>
          <a:lstStyle/>
          <a:p>
            <a:pPr algn="l">
              <a:spcBef>
                <a:spcPts val="0"/>
              </a:spcBef>
              <a:spcAft>
                <a:spcPts val="400"/>
              </a:spcAft>
            </a:pPr>
            <a:r>
              <a:rPr sz="2000" b="1" i="0">
                <a:solidFill>
                  <a:srgbClr val="5B34C7"/>
                </a:solidFill>
                <a:latin typeface="Rockwell"/>
                <a:ea typeface="Rockwell"/>
                <a:cs typeface="Rockwell"/>
              </a:rPr>
              <a:t>4</a:t>
            </a:r>
          </a:p>
          <a:p>
            <a:pPr>
              <a:lnSpc>
                <a:spcPct val="110000"/>
              </a:lnSpc>
              <a:spcBef>
                <a:spcPts val="0"/>
              </a:spcBef>
              <a:spcAft>
                <a:spcPts val="600"/>
              </a:spcAft>
            </a:pPr>
            <a:r>
              <a:rPr sz="1250" b="1" i="0">
                <a:solidFill>
                  <a:srgbClr val="16181D"/>
                </a:solidFill>
                <a:latin typeface="Verdana"/>
                <a:ea typeface="Verdana"/>
                <a:cs typeface="Verdana"/>
              </a:rPr>
              <a:t>Sale el parche</a:t>
            </a:r>
          </a:p>
          <a:p>
            <a:pPr>
              <a:lnSpc>
                <a:spcPct val="115000"/>
              </a:lnSpc>
              <a:spcBef>
                <a:spcPts val="0"/>
              </a:spcBef>
              <a:spcAft>
                <a:spcPts val="100"/>
              </a:spcAft>
            </a:pPr>
            <a:r>
              <a:rPr sz="1050" b="0" i="0">
                <a:solidFill>
                  <a:srgbClr val="6B7280"/>
                </a:solidFill>
                <a:latin typeface="Verdana"/>
                <a:ea typeface="Verdana"/>
                <a:cs typeface="Verdana"/>
              </a:rPr>
              <a:t>Existe el arreglo.</a:t>
            </a:r>
          </a:p>
          <a:p>
            <a:pPr>
              <a:lnSpc>
                <a:spcPct val="115000"/>
              </a:lnSpc>
              <a:spcBef>
                <a:spcPts val="0"/>
              </a:spcBef>
              <a:spcAft>
                <a:spcPts val="100"/>
              </a:spcAft>
            </a:pPr>
            <a:r>
              <a:rPr sz="1050" b="0" i="0">
                <a:solidFill>
                  <a:srgbClr val="6B7280"/>
                </a:solidFill>
                <a:latin typeface="Verdana"/>
                <a:ea typeface="Verdana"/>
                <a:cs typeface="Verdana"/>
              </a:rPr>
              <a:t>Todavía no sirve de nada.</a:t>
            </a:r>
          </a:p>
        </p:txBody>
      </p:sp>
      <p:sp>
        <p:nvSpPr>
          <p:cNvPr id="26" name="Right Arrow 25"/>
          <p:cNvSpPr/>
          <p:nvPr/>
        </p:nvSpPr>
        <p:spPr>
          <a:xfrm>
            <a:off x="9356506" y="2670048"/>
            <a:ext cx="146304" cy="91440"/>
          </a:xfrm>
          <a:prstGeom prst="rightArrow">
            <a:avLst/>
          </a:prstGeom>
          <a:solidFill>
            <a:srgbClr val="C7CC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94250" y="1865376"/>
            <a:ext cx="2021372" cy="1874519"/>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Rectangle 27"/>
          <p:cNvSpPr/>
          <p:nvPr/>
        </p:nvSpPr>
        <p:spPr>
          <a:xfrm>
            <a:off x="9530242" y="1801368"/>
            <a:ext cx="2021372" cy="1874519"/>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Rectangle 28"/>
          <p:cNvSpPr/>
          <p:nvPr/>
        </p:nvSpPr>
        <p:spPr>
          <a:xfrm>
            <a:off x="9530242" y="1801368"/>
            <a:ext cx="2021372" cy="82296"/>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9694834" y="2029968"/>
            <a:ext cx="1692188" cy="1554480"/>
          </a:xfrm>
          <a:prstGeom prst="rect">
            <a:avLst/>
          </a:prstGeom>
          <a:noFill/>
        </p:spPr>
        <p:txBody>
          <a:bodyPr wrap="square" lIns="0" rIns="0" tIns="0" bIns="0" anchor="t">
            <a:spAutoFit/>
          </a:bodyPr>
          <a:lstStyle/>
          <a:p>
            <a:pPr algn="l">
              <a:spcBef>
                <a:spcPts val="0"/>
              </a:spcBef>
              <a:spcAft>
                <a:spcPts val="400"/>
              </a:spcAft>
            </a:pPr>
            <a:r>
              <a:rPr sz="2000" b="1" i="0">
                <a:solidFill>
                  <a:srgbClr val="0E7C66"/>
                </a:solidFill>
                <a:latin typeface="Rockwell"/>
                <a:ea typeface="Rockwell"/>
                <a:cs typeface="Rockwell"/>
              </a:rPr>
              <a:t>5</a:t>
            </a:r>
          </a:p>
          <a:p>
            <a:pPr>
              <a:lnSpc>
                <a:spcPct val="110000"/>
              </a:lnSpc>
              <a:spcBef>
                <a:spcPts val="0"/>
              </a:spcBef>
              <a:spcAft>
                <a:spcPts val="600"/>
              </a:spcAft>
            </a:pPr>
            <a:r>
              <a:rPr sz="1250" b="1" i="0">
                <a:solidFill>
                  <a:srgbClr val="16181D"/>
                </a:solidFill>
                <a:latin typeface="Verdana"/>
                <a:ea typeface="Verdana"/>
                <a:cs typeface="Verdana"/>
              </a:rPr>
              <a:t>Alguien lo instala</a:t>
            </a:r>
          </a:p>
          <a:p>
            <a:pPr>
              <a:lnSpc>
                <a:spcPct val="115000"/>
              </a:lnSpc>
              <a:spcBef>
                <a:spcPts val="0"/>
              </a:spcBef>
              <a:spcAft>
                <a:spcPts val="100"/>
              </a:spcAft>
            </a:pPr>
            <a:r>
              <a:rPr sz="1050" b="0" i="0">
                <a:solidFill>
                  <a:srgbClr val="6B7280"/>
                </a:solidFill>
                <a:latin typeface="Verdana"/>
                <a:ea typeface="Verdana"/>
                <a:cs typeface="Verdana"/>
              </a:rPr>
              <a:t>Acá, y recién acá,</a:t>
            </a:r>
          </a:p>
          <a:p>
            <a:pPr>
              <a:lnSpc>
                <a:spcPct val="115000"/>
              </a:lnSpc>
              <a:spcBef>
                <a:spcPts val="0"/>
              </a:spcBef>
              <a:spcAft>
                <a:spcPts val="100"/>
              </a:spcAft>
            </a:pPr>
            <a:r>
              <a:rPr sz="1050" b="0" i="0">
                <a:solidFill>
                  <a:srgbClr val="6B7280"/>
                </a:solidFill>
                <a:latin typeface="Verdana"/>
                <a:ea typeface="Verdana"/>
                <a:cs typeface="Verdana"/>
              </a:rPr>
              <a:t>baja el riesgo.</a:t>
            </a:r>
          </a:p>
        </p:txBody>
      </p:sp>
      <p:sp>
        <p:nvSpPr>
          <p:cNvPr id="31" name="Rectangle 30"/>
          <p:cNvSpPr/>
          <p:nvPr/>
        </p:nvSpPr>
        <p:spPr>
          <a:xfrm>
            <a:off x="7673461" y="3840480"/>
            <a:ext cx="3420953" cy="25603"/>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TextBox 31"/>
          <p:cNvSpPr txBox="1"/>
          <p:nvPr/>
        </p:nvSpPr>
        <p:spPr>
          <a:xfrm>
            <a:off x="6393301" y="3968496"/>
            <a:ext cx="6072713" cy="548640"/>
          </a:xfrm>
          <a:prstGeom prst="rect">
            <a:avLst/>
          </a:prstGeom>
          <a:noFill/>
        </p:spPr>
        <p:txBody>
          <a:bodyPr wrap="square" lIns="0" rIns="0" tIns="0" bIns="0" anchor="t">
            <a:spAutoFit/>
          </a:bodyPr>
          <a:lstStyle/>
          <a:p>
            <a:pPr algn="ctr">
              <a:spcBef>
                <a:spcPts val="0"/>
              </a:spcBef>
              <a:spcAft>
                <a:spcPts val="0"/>
              </a:spcAft>
            </a:pPr>
            <a:r>
              <a:rPr sz="1300" b="1" i="0" spc="150">
                <a:solidFill>
                  <a:srgbClr val="B02A37"/>
                </a:solidFill>
                <a:latin typeface="Rockwell"/>
                <a:ea typeface="Rockwell"/>
                <a:cs typeface="Rockwell"/>
              </a:rPr>
              <a:t>VENTANA DE EXPOSICIÓN</a:t>
            </a:r>
          </a:p>
          <a:p>
            <a:pPr algn="ctr">
              <a:spcBef>
                <a:spcPts val="0"/>
              </a:spcBef>
              <a:spcAft>
                <a:spcPts val="0"/>
              </a:spcAft>
            </a:pPr>
            <a:r>
              <a:rPr sz="1150" b="0" i="0">
                <a:solidFill>
                  <a:srgbClr val="6B7280"/>
                </a:solidFill>
                <a:latin typeface="Verdana"/>
                <a:ea typeface="Verdana"/>
                <a:cs typeface="Verdana"/>
              </a:rPr>
              <a:t>la única parte que depende enteramente de vos</a:t>
            </a:r>
          </a:p>
        </p:txBody>
      </p:sp>
      <p:sp>
        <p:nvSpPr>
          <p:cNvPr id="33" name="Rectangle 32"/>
          <p:cNvSpPr/>
          <p:nvPr/>
        </p:nvSpPr>
        <p:spPr>
          <a:xfrm>
            <a:off x="640080" y="4910328"/>
            <a:ext cx="10911535" cy="713232"/>
          </a:xfrm>
          <a:prstGeom prst="rect">
            <a:avLst/>
          </a:prstGeom>
          <a:solidFill>
            <a:srgbClr val="E3F2EE"/>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TextBox 33"/>
          <p:cNvSpPr txBox="1"/>
          <p:nvPr/>
        </p:nvSpPr>
        <p:spPr>
          <a:xfrm>
            <a:off x="877824" y="5093208"/>
            <a:ext cx="10436047" cy="34747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Que el parche exista no baja el riesgo. </a:t>
            </a:r>
            <a:r>
              <a:rPr sz="1350" b="0" i="0">
                <a:solidFill>
                  <a:srgbClr val="16181D"/>
                </a:solidFill>
                <a:latin typeface="Verdana"/>
                <a:ea typeface="Verdana"/>
                <a:cs typeface="Verdana"/>
              </a:rPr>
              <a:t>El riesgo baja en el paso 5, cuando alguien lo instala. Todo lo anterior lo hacen otros.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PERSPECTIVA</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El día cero es la excepción</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17</a:t>
            </a:r>
          </a:p>
        </p:txBody>
      </p:sp>
      <p:sp>
        <p:nvSpPr>
          <p:cNvPr id="7" name="Rectangle 6"/>
          <p:cNvSpPr/>
          <p:nvPr/>
        </p:nvSpPr>
        <p:spPr>
          <a:xfrm>
            <a:off x="704088" y="1682496"/>
            <a:ext cx="5257800" cy="210312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18488"/>
            <a:ext cx="5257800" cy="2103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14400" y="1865376"/>
            <a:ext cx="4709160" cy="1737360"/>
          </a:xfrm>
          <a:prstGeom prst="rect">
            <a:avLst/>
          </a:prstGeom>
          <a:noFill/>
        </p:spPr>
        <p:txBody>
          <a:bodyPr wrap="square" lIns="0" rIns="0" tIns="0" bIns="0" anchor="t">
            <a:spAutoFit/>
          </a:bodyPr>
          <a:lstStyle/>
          <a:p>
            <a:pPr algn="l">
              <a:spcBef>
                <a:spcPts val="0"/>
              </a:spcBef>
              <a:spcAft>
                <a:spcPts val="800"/>
              </a:spcAft>
            </a:pPr>
            <a:r>
              <a:rPr sz="1700" b="1" i="0" spc="120">
                <a:solidFill>
                  <a:srgbClr val="B02A37"/>
                </a:solidFill>
                <a:latin typeface="Rockwell"/>
                <a:ea typeface="Rockwell"/>
                <a:cs typeface="Rockwell"/>
              </a:rPr>
              <a:t>DÍA CERO</a:t>
            </a:r>
          </a:p>
          <a:p>
            <a:pPr>
              <a:lnSpc>
                <a:spcPct val="120000"/>
              </a:lnSpc>
              <a:spcBef>
                <a:spcPts val="0"/>
              </a:spcBef>
              <a:spcAft>
                <a:spcPts val="600"/>
              </a:spcAft>
            </a:pPr>
            <a:r>
              <a:rPr sz="1300" b="0" i="0">
                <a:solidFill>
                  <a:srgbClr val="16181D"/>
                </a:solidFill>
                <a:latin typeface="Verdana"/>
                <a:ea typeface="Verdana"/>
                <a:cs typeface="Verdana"/>
              </a:rPr>
              <a:t>El atacante la conoce y el fabricante todavía no. Quien defiende tuvo cero días para prepararse. No hay parche.</a:t>
            </a:r>
          </a:p>
          <a:p>
            <a:pPr>
              <a:lnSpc>
                <a:spcPct val="120000"/>
              </a:lnSpc>
              <a:spcBef>
                <a:spcPts val="400"/>
              </a:spcBef>
              <a:spcAft>
                <a:spcPts val="0"/>
              </a:spcAft>
            </a:pPr>
            <a:r>
              <a:rPr sz="1300" b="1" i="0">
                <a:solidFill>
                  <a:srgbClr val="B02A37"/>
                </a:solidFill>
                <a:latin typeface="Verdana"/>
                <a:ea typeface="Verdana"/>
                <a:cs typeface="Verdana"/>
              </a:rPr>
              <a:t>Es caro, escaso y se usa contra objetivos que lo valen.</a:t>
            </a:r>
          </a:p>
        </p:txBody>
      </p:sp>
      <p:sp>
        <p:nvSpPr>
          <p:cNvPr id="10" name="Rectangle 9"/>
          <p:cNvSpPr/>
          <p:nvPr/>
        </p:nvSpPr>
        <p:spPr>
          <a:xfrm>
            <a:off x="6355080" y="1682496"/>
            <a:ext cx="5257800" cy="21031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6291072" y="1618488"/>
            <a:ext cx="5257800" cy="210312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565392" y="1865376"/>
            <a:ext cx="4709160" cy="1737360"/>
          </a:xfrm>
          <a:prstGeom prst="rect">
            <a:avLst/>
          </a:prstGeom>
          <a:noFill/>
        </p:spPr>
        <p:txBody>
          <a:bodyPr wrap="square" lIns="0" rIns="0" tIns="0" bIns="0" anchor="t">
            <a:spAutoFit/>
          </a:bodyPr>
          <a:lstStyle/>
          <a:p>
            <a:pPr algn="l">
              <a:spcBef>
                <a:spcPts val="0"/>
              </a:spcBef>
              <a:spcAft>
                <a:spcPts val="800"/>
              </a:spcAft>
            </a:pPr>
            <a:r>
              <a:rPr sz="1700" b="1" i="0" spc="120">
                <a:solidFill>
                  <a:srgbClr val="0E7C66"/>
                </a:solidFill>
                <a:latin typeface="Rockwell"/>
                <a:ea typeface="Rockwell"/>
                <a:cs typeface="Rockwell"/>
              </a:rPr>
              <a:t>LO QUE PASA DE VERDAD</a:t>
            </a:r>
          </a:p>
          <a:p>
            <a:pPr>
              <a:lnSpc>
                <a:spcPct val="120000"/>
              </a:lnSpc>
              <a:spcBef>
                <a:spcPts val="0"/>
              </a:spcBef>
              <a:spcAft>
                <a:spcPts val="600"/>
              </a:spcAft>
            </a:pPr>
            <a:r>
              <a:rPr sz="1300" b="0" i="0">
                <a:solidFill>
                  <a:srgbClr val="16181D"/>
                </a:solidFill>
                <a:latin typeface="Verdana"/>
                <a:ea typeface="Verdana"/>
                <a:cs typeface="Verdana"/>
              </a:rPr>
              <a:t>La enorme mayoría de los ataques usa fallas viejas, publicadas hace meses o años, con parche disponible.</a:t>
            </a:r>
          </a:p>
          <a:p>
            <a:pPr>
              <a:lnSpc>
                <a:spcPct val="120000"/>
              </a:lnSpc>
              <a:spcBef>
                <a:spcPts val="400"/>
              </a:spcBef>
              <a:spcAft>
                <a:spcPts val="0"/>
              </a:spcAft>
            </a:pPr>
            <a:r>
              <a:rPr sz="1300" b="1" i="0">
                <a:solidFill>
                  <a:srgbClr val="0E7C66"/>
                </a:solidFill>
                <a:latin typeface="Verdana"/>
                <a:ea typeface="Verdana"/>
                <a:cs typeface="Verdana"/>
              </a:rPr>
              <a:t>En sistemas que nadie actualizó.</a:t>
            </a:r>
          </a:p>
        </p:txBody>
      </p:sp>
      <p:sp>
        <p:nvSpPr>
          <p:cNvPr id="13" name="Rectangle 12"/>
          <p:cNvSpPr/>
          <p:nvPr/>
        </p:nvSpPr>
        <p:spPr>
          <a:xfrm>
            <a:off x="704088" y="4059936"/>
            <a:ext cx="10911535" cy="132588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640080" y="3995928"/>
            <a:ext cx="10911535" cy="1325880"/>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640080" y="3995928"/>
            <a:ext cx="10911535" cy="1325880"/>
          </a:xfrm>
          <a:prstGeom prst="rect">
            <a:avLst/>
          </a:prstGeom>
          <a:noFill/>
        </p:spPr>
        <p:txBody>
          <a:bodyPr wrap="square" lIns="0" rIns="0" tIns="0" bIns="0" anchor="ctr">
            <a:spAutoFit/>
          </a:bodyPr>
          <a:lstStyle/>
          <a:p>
            <a:pPr algn="ctr">
              <a:spcBef>
                <a:spcPts val="0"/>
              </a:spcBef>
              <a:spcAft>
                <a:spcPts val="800"/>
              </a:spcAft>
            </a:pPr>
            <a:r>
              <a:rPr sz="1900" b="1" i="0">
                <a:solidFill>
                  <a:srgbClr val="16181D"/>
                </a:solidFill>
                <a:latin typeface="Rockwell"/>
                <a:ea typeface="Rockwell"/>
                <a:cs typeface="Rockwell"/>
              </a:rPr>
              <a:t>Un día cero es caro y escaso.</a:t>
            </a:r>
          </a:p>
          <a:p>
            <a:pPr algn="ctr">
              <a:spcBef>
                <a:spcPts val="0"/>
              </a:spcBef>
              <a:spcAft>
                <a:spcPts val="0"/>
              </a:spcAft>
            </a:pPr>
            <a:r>
              <a:rPr sz="1900" b="1" i="0">
                <a:solidFill>
                  <a:srgbClr val="5B34C7"/>
                </a:solidFill>
                <a:latin typeface="Rockwell"/>
                <a:ea typeface="Rockwell"/>
                <a:cs typeface="Rockwell"/>
              </a:rPr>
              <a:t>Un servidor sin actualizar desde 2023 es gratis.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985455" y="457200"/>
            <a:ext cx="3657600" cy="4023360"/>
          </a:xfrm>
          <a:prstGeom prst="rect">
            <a:avLst/>
          </a:prstGeom>
          <a:noFill/>
        </p:spPr>
        <p:txBody>
          <a:bodyPr wrap="square" lIns="0" rIns="0" tIns="0" bIns="0" anchor="t">
            <a:spAutoFit/>
          </a:bodyPr>
          <a:lstStyle/>
          <a:p>
            <a:pPr algn="r">
              <a:spcBef>
                <a:spcPts val="0"/>
              </a:spcBef>
              <a:spcAft>
                <a:spcPts val="0"/>
              </a:spcAft>
            </a:pPr>
            <a:r>
              <a:rPr sz="19000" b="1" i="0">
                <a:solidFill>
                  <a:srgbClr val="4A27A8"/>
                </a:solidFill>
                <a:latin typeface="Rockwell"/>
                <a:ea typeface="Rockwell"/>
                <a:cs typeface="Rockwell"/>
              </a:rPr>
              <a:t>04</a:t>
            </a:r>
          </a:p>
        </p:txBody>
      </p:sp>
      <p:sp>
        <p:nvSpPr>
          <p:cNvPr id="5" name="TextBox 4"/>
          <p:cNvSpPr txBox="1"/>
          <p:nvPr/>
        </p:nvSpPr>
        <p:spPr>
          <a:xfrm>
            <a:off x="1143000" y="2606040"/>
            <a:ext cx="7680960" cy="2011680"/>
          </a:xfrm>
          <a:prstGeom prst="rect">
            <a:avLst/>
          </a:prstGeom>
          <a:noFill/>
        </p:spPr>
        <p:txBody>
          <a:bodyPr wrap="square" lIns="0" rIns="0" tIns="0" bIns="0" anchor="t">
            <a:spAutoFit/>
          </a:bodyPr>
          <a:lstStyle/>
          <a:p>
            <a:pPr algn="l">
              <a:spcBef>
                <a:spcPts val="0"/>
              </a:spcBef>
              <a:spcAft>
                <a:spcPts val="1000"/>
              </a:spcAft>
            </a:pPr>
            <a:r>
              <a:rPr sz="1150" b="1" i="0" spc="250">
                <a:solidFill>
                  <a:srgbClr val="C5B4F5"/>
                </a:solidFill>
                <a:latin typeface="Verdana"/>
                <a:ea typeface="Verdana"/>
                <a:cs typeface="Verdana"/>
              </a:rPr>
              <a:t>BLOQUE CUATRO</a:t>
            </a:r>
          </a:p>
          <a:p>
            <a:pPr>
              <a:lnSpc>
                <a:spcPct val="95000"/>
              </a:lnSpc>
              <a:spcBef>
                <a:spcPts val="0"/>
              </a:spcBef>
              <a:spcAft>
                <a:spcPts val="0"/>
              </a:spcAft>
            </a:pPr>
            <a:r>
              <a:rPr sz="4000" b="1" i="0">
                <a:solidFill>
                  <a:srgbClr val="FFFFFF"/>
                </a:solidFill>
                <a:latin typeface="Rockwell"/>
                <a:ea typeface="Rockwell"/>
                <a:cs typeface="Rockwell"/>
              </a:rPr>
              <a:t>Superficie de ataque</a:t>
            </a:r>
          </a:p>
          <a:p>
            <a:pPr>
              <a:lnSpc>
                <a:spcPct val="120000"/>
              </a:lnSpc>
              <a:spcBef>
                <a:spcPts val="1000"/>
              </a:spcBef>
              <a:spcAft>
                <a:spcPts val="0"/>
              </a:spcAft>
            </a:pPr>
            <a:r>
              <a:rPr sz="1400" b="0" i="0">
                <a:solidFill>
                  <a:srgbClr val="CFC4F2"/>
                </a:solidFill>
                <a:latin typeface="Verdana"/>
                <a:ea typeface="Verdana"/>
                <a:cs typeface="Verdana"/>
              </a:rPr>
              <a:t>Todos los puntos por los que alguien podría intentar entrar. Ahora a enumerarlos de verdad.</a:t>
            </a:r>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ENUMERACIÓN</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Los tres planos</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19</a:t>
            </a:r>
          </a:p>
        </p:txBody>
      </p:sp>
      <p:sp>
        <p:nvSpPr>
          <p:cNvPr id="7" name="Rectangle 6"/>
          <p:cNvSpPr/>
          <p:nvPr/>
        </p:nvSpPr>
        <p:spPr>
          <a:xfrm>
            <a:off x="704088" y="1682496"/>
            <a:ext cx="3454298" cy="20574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18488"/>
            <a:ext cx="3454298" cy="205740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ectangle 8"/>
          <p:cNvSpPr/>
          <p:nvPr/>
        </p:nvSpPr>
        <p:spPr>
          <a:xfrm>
            <a:off x="640080" y="1618488"/>
            <a:ext cx="3454298" cy="50292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640080" y="1618488"/>
            <a:ext cx="3454298" cy="502920"/>
          </a:xfrm>
          <a:prstGeom prst="rect">
            <a:avLst/>
          </a:prstGeom>
          <a:noFill/>
        </p:spPr>
        <p:txBody>
          <a:bodyPr wrap="square" lIns="0" rIns="0" tIns="0" bIns="0" anchor="ctr">
            <a:spAutoFit/>
          </a:bodyPr>
          <a:lstStyle/>
          <a:p>
            <a:pPr algn="ctr">
              <a:spcBef>
                <a:spcPts val="0"/>
              </a:spcBef>
              <a:spcAft>
                <a:spcPts val="0"/>
              </a:spcAft>
            </a:pPr>
            <a:r>
              <a:rPr sz="1600" b="1" i="0" spc="180">
                <a:solidFill>
                  <a:srgbClr val="FFFFFF"/>
                </a:solidFill>
                <a:latin typeface="Rockwell"/>
                <a:ea typeface="Rockwell"/>
                <a:cs typeface="Rockwell"/>
              </a:rPr>
              <a:t>RED</a:t>
            </a:r>
          </a:p>
        </p:txBody>
      </p:sp>
      <p:sp>
        <p:nvSpPr>
          <p:cNvPr id="11" name="TextBox 10"/>
          <p:cNvSpPr txBox="1"/>
          <p:nvPr/>
        </p:nvSpPr>
        <p:spPr>
          <a:xfrm>
            <a:off x="877824" y="2322576"/>
            <a:ext cx="2978810" cy="1645920"/>
          </a:xfrm>
          <a:prstGeom prst="rect">
            <a:avLst/>
          </a:prstGeom>
          <a:noFill/>
        </p:spPr>
        <p:txBody>
          <a:bodyPr wrap="square" lIns="0" rIns="0" tIns="0" bIns="0" anchor="t">
            <a:spAutoFit/>
          </a:bodyPr>
          <a:lstStyle/>
          <a:p>
            <a:pPr algn="l">
              <a:lnSpc>
                <a:spcPct val="120000"/>
              </a:lnSpc>
              <a:spcBef>
                <a:spcPts val="0"/>
              </a:spcBef>
              <a:spcAft>
                <a:spcPts val="1000"/>
              </a:spcAft>
            </a:pPr>
            <a:r>
              <a:rPr sz="1250" b="0" i="0">
                <a:solidFill>
                  <a:srgbClr val="16181D"/>
                </a:solidFill>
                <a:latin typeface="Verdana"/>
                <a:ea typeface="Verdana"/>
                <a:cs typeface="Verdana"/>
              </a:rPr>
              <a:t>Equipos, puertos abiertos, servicios escuchando, wifi.</a:t>
            </a:r>
          </a:p>
          <a:p>
            <a:pPr>
              <a:lnSpc>
                <a:spcPct val="115000"/>
              </a:lnSpc>
              <a:spcBef>
                <a:spcPts val="0"/>
              </a:spcBef>
              <a:spcAft>
                <a:spcPts val="100"/>
              </a:spcAft>
            </a:pPr>
            <a:r>
              <a:rPr sz="1200" b="1" i="1">
                <a:solidFill>
                  <a:srgbClr val="5B34C7"/>
                </a:solidFill>
                <a:latin typeface="Verdana"/>
                <a:ea typeface="Verdana"/>
                <a:cs typeface="Verdana"/>
              </a:rPr>
              <a:t>¿Qué está escuchando,</a:t>
            </a:r>
          </a:p>
          <a:p>
            <a:pPr>
              <a:lnSpc>
                <a:spcPct val="115000"/>
              </a:lnSpc>
              <a:spcBef>
                <a:spcPts val="0"/>
              </a:spcBef>
              <a:spcAft>
                <a:spcPts val="100"/>
              </a:spcAft>
            </a:pPr>
            <a:r>
              <a:rPr sz="1200" b="1" i="1">
                <a:solidFill>
                  <a:srgbClr val="5B34C7"/>
                </a:solidFill>
                <a:latin typeface="Verdana"/>
                <a:ea typeface="Verdana"/>
                <a:cs typeface="Verdana"/>
              </a:rPr>
              <a:t>y desde dónde se lo alcanza?</a:t>
            </a:r>
          </a:p>
        </p:txBody>
      </p:sp>
      <p:sp>
        <p:nvSpPr>
          <p:cNvPr id="12" name="Rectangle 11"/>
          <p:cNvSpPr/>
          <p:nvPr/>
        </p:nvSpPr>
        <p:spPr>
          <a:xfrm>
            <a:off x="4432706" y="1682496"/>
            <a:ext cx="3454298" cy="205740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Rectangle 12"/>
          <p:cNvSpPr/>
          <p:nvPr/>
        </p:nvSpPr>
        <p:spPr>
          <a:xfrm>
            <a:off x="4368698" y="1618488"/>
            <a:ext cx="3454298" cy="205740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4368698" y="1618488"/>
            <a:ext cx="3454298" cy="50292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4368698" y="1618488"/>
            <a:ext cx="3454298" cy="502920"/>
          </a:xfrm>
          <a:prstGeom prst="rect">
            <a:avLst/>
          </a:prstGeom>
          <a:noFill/>
        </p:spPr>
        <p:txBody>
          <a:bodyPr wrap="square" lIns="0" rIns="0" tIns="0" bIns="0" anchor="ctr">
            <a:spAutoFit/>
          </a:bodyPr>
          <a:lstStyle/>
          <a:p>
            <a:pPr algn="ctr">
              <a:spcBef>
                <a:spcPts val="0"/>
              </a:spcBef>
              <a:spcAft>
                <a:spcPts val="0"/>
              </a:spcAft>
            </a:pPr>
            <a:r>
              <a:rPr sz="1600" b="1" i="0" spc="180">
                <a:solidFill>
                  <a:srgbClr val="FFFFFF"/>
                </a:solidFill>
                <a:latin typeface="Rockwell"/>
                <a:ea typeface="Rockwell"/>
                <a:cs typeface="Rockwell"/>
              </a:rPr>
              <a:t>SOFTWARE</a:t>
            </a:r>
          </a:p>
        </p:txBody>
      </p:sp>
      <p:sp>
        <p:nvSpPr>
          <p:cNvPr id="16" name="TextBox 15"/>
          <p:cNvSpPr txBox="1"/>
          <p:nvPr/>
        </p:nvSpPr>
        <p:spPr>
          <a:xfrm>
            <a:off x="4606442" y="2322576"/>
            <a:ext cx="2978810" cy="1645920"/>
          </a:xfrm>
          <a:prstGeom prst="rect">
            <a:avLst/>
          </a:prstGeom>
          <a:noFill/>
        </p:spPr>
        <p:txBody>
          <a:bodyPr wrap="square" lIns="0" rIns="0" tIns="0" bIns="0" anchor="t">
            <a:spAutoFit/>
          </a:bodyPr>
          <a:lstStyle/>
          <a:p>
            <a:pPr algn="l">
              <a:lnSpc>
                <a:spcPct val="120000"/>
              </a:lnSpc>
              <a:spcBef>
                <a:spcPts val="0"/>
              </a:spcBef>
              <a:spcAft>
                <a:spcPts val="1000"/>
              </a:spcAft>
            </a:pPr>
            <a:r>
              <a:rPr sz="1250" b="0" i="0">
                <a:solidFill>
                  <a:srgbClr val="16181D"/>
                </a:solidFill>
                <a:latin typeface="Verdana"/>
                <a:ea typeface="Verdana"/>
                <a:cs typeface="Verdana"/>
              </a:rPr>
              <a:t>Sistemas operativos, aplicaciones, versiones, extensiones.</a:t>
            </a:r>
          </a:p>
          <a:p>
            <a:pPr>
              <a:lnSpc>
                <a:spcPct val="115000"/>
              </a:lnSpc>
              <a:spcBef>
                <a:spcPts val="0"/>
              </a:spcBef>
              <a:spcAft>
                <a:spcPts val="100"/>
              </a:spcAft>
            </a:pPr>
            <a:r>
              <a:rPr sz="1200" b="1" i="1">
                <a:solidFill>
                  <a:srgbClr val="0E7C66"/>
                </a:solidFill>
                <a:latin typeface="Verdana"/>
                <a:ea typeface="Verdana"/>
                <a:cs typeface="Verdana"/>
              </a:rPr>
              <a:t>¿Qué está instalado</a:t>
            </a:r>
          </a:p>
          <a:p>
            <a:pPr>
              <a:lnSpc>
                <a:spcPct val="115000"/>
              </a:lnSpc>
              <a:spcBef>
                <a:spcPts val="0"/>
              </a:spcBef>
              <a:spcAft>
                <a:spcPts val="100"/>
              </a:spcAft>
            </a:pPr>
            <a:r>
              <a:rPr sz="1200" b="1" i="1">
                <a:solidFill>
                  <a:srgbClr val="0E7C66"/>
                </a:solidFill>
                <a:latin typeface="Verdana"/>
                <a:ea typeface="Verdana"/>
                <a:cs typeface="Verdana"/>
              </a:rPr>
              <a:t>y en qué versión exacta?</a:t>
            </a:r>
          </a:p>
        </p:txBody>
      </p:sp>
      <p:sp>
        <p:nvSpPr>
          <p:cNvPr id="17" name="Rectangle 16"/>
          <p:cNvSpPr/>
          <p:nvPr/>
        </p:nvSpPr>
        <p:spPr>
          <a:xfrm>
            <a:off x="8161324" y="1682496"/>
            <a:ext cx="3454298" cy="205740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ectangle 17"/>
          <p:cNvSpPr/>
          <p:nvPr/>
        </p:nvSpPr>
        <p:spPr>
          <a:xfrm>
            <a:off x="8097316" y="1618488"/>
            <a:ext cx="3454298" cy="205740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ectangle 18"/>
          <p:cNvSpPr/>
          <p:nvPr/>
        </p:nvSpPr>
        <p:spPr>
          <a:xfrm>
            <a:off x="8097316" y="1618488"/>
            <a:ext cx="3454298" cy="50292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8097316" y="1618488"/>
            <a:ext cx="3454298" cy="502920"/>
          </a:xfrm>
          <a:prstGeom prst="rect">
            <a:avLst/>
          </a:prstGeom>
          <a:noFill/>
        </p:spPr>
        <p:txBody>
          <a:bodyPr wrap="square" lIns="0" rIns="0" tIns="0" bIns="0" anchor="ctr">
            <a:spAutoFit/>
          </a:bodyPr>
          <a:lstStyle/>
          <a:p>
            <a:pPr algn="ctr">
              <a:spcBef>
                <a:spcPts val="0"/>
              </a:spcBef>
              <a:spcAft>
                <a:spcPts val="0"/>
              </a:spcAft>
            </a:pPr>
            <a:r>
              <a:rPr sz="1600" b="1" i="0" spc="180">
                <a:solidFill>
                  <a:srgbClr val="FFFFFF"/>
                </a:solidFill>
                <a:latin typeface="Rockwell"/>
                <a:ea typeface="Rockwell"/>
                <a:cs typeface="Rockwell"/>
              </a:rPr>
              <a:t>PERSONAS</a:t>
            </a:r>
          </a:p>
        </p:txBody>
      </p:sp>
      <p:sp>
        <p:nvSpPr>
          <p:cNvPr id="21" name="TextBox 20"/>
          <p:cNvSpPr txBox="1"/>
          <p:nvPr/>
        </p:nvSpPr>
        <p:spPr>
          <a:xfrm>
            <a:off x="8335060" y="2322576"/>
            <a:ext cx="2978810" cy="1645920"/>
          </a:xfrm>
          <a:prstGeom prst="rect">
            <a:avLst/>
          </a:prstGeom>
          <a:noFill/>
        </p:spPr>
        <p:txBody>
          <a:bodyPr wrap="square" lIns="0" rIns="0" tIns="0" bIns="0" anchor="t">
            <a:spAutoFit/>
          </a:bodyPr>
          <a:lstStyle/>
          <a:p>
            <a:pPr algn="l">
              <a:lnSpc>
                <a:spcPct val="120000"/>
              </a:lnSpc>
              <a:spcBef>
                <a:spcPts val="0"/>
              </a:spcBef>
              <a:spcAft>
                <a:spcPts val="1000"/>
              </a:spcAft>
            </a:pPr>
            <a:r>
              <a:rPr sz="1250" b="0" i="0">
                <a:solidFill>
                  <a:srgbClr val="16181D"/>
                </a:solidFill>
                <a:latin typeface="Verdana"/>
                <a:ea typeface="Verdana"/>
                <a:cs typeface="Verdana"/>
              </a:rPr>
              <a:t>Cuentas, permisos, accesos de terceros y proveedores.</a:t>
            </a:r>
          </a:p>
          <a:p>
            <a:pPr>
              <a:lnSpc>
                <a:spcPct val="115000"/>
              </a:lnSpc>
              <a:spcBef>
                <a:spcPts val="0"/>
              </a:spcBef>
              <a:spcAft>
                <a:spcPts val="100"/>
              </a:spcAft>
            </a:pPr>
            <a:r>
              <a:rPr sz="1200" b="1" i="1">
                <a:solidFill>
                  <a:srgbClr val="C9821B"/>
                </a:solidFill>
                <a:latin typeface="Verdana"/>
                <a:ea typeface="Verdana"/>
                <a:cs typeface="Verdana"/>
              </a:rPr>
              <a:t>¿Quién puede entrar,</a:t>
            </a:r>
          </a:p>
          <a:p>
            <a:pPr>
              <a:lnSpc>
                <a:spcPct val="115000"/>
              </a:lnSpc>
              <a:spcBef>
                <a:spcPts val="0"/>
              </a:spcBef>
              <a:spcAft>
                <a:spcPts val="100"/>
              </a:spcAft>
            </a:pPr>
            <a:r>
              <a:rPr sz="1200" b="1" i="1">
                <a:solidFill>
                  <a:srgbClr val="C9821B"/>
                </a:solidFill>
                <a:latin typeface="Verdana"/>
                <a:ea typeface="Verdana"/>
                <a:cs typeface="Verdana"/>
              </a:rPr>
              <a:t>y quién ya no debería?</a:t>
            </a:r>
          </a:p>
        </p:txBody>
      </p:sp>
      <p:sp>
        <p:nvSpPr>
          <p:cNvPr id="22" name="Rectangle 21"/>
          <p:cNvSpPr/>
          <p:nvPr/>
        </p:nvSpPr>
        <p:spPr>
          <a:xfrm>
            <a:off x="704088" y="4014216"/>
            <a:ext cx="10911535" cy="105156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640080" y="3950208"/>
            <a:ext cx="10911535" cy="1051560"/>
          </a:xfrm>
          <a:prstGeom prst="rect">
            <a:avLst/>
          </a:prstGeom>
          <a:solidFill>
            <a:srgbClr val="FDF2DE"/>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877824" y="4133088"/>
            <a:ext cx="10436047" cy="685799"/>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C9821B"/>
                </a:solidFill>
                <a:latin typeface="Verdana"/>
                <a:ea typeface="Verdana"/>
                <a:cs typeface="Verdana"/>
              </a:rPr>
              <a:t>El plano que más se olvida es el tercero.</a:t>
            </a:r>
          </a:p>
          <a:p>
            <a:pPr>
              <a:lnSpc>
                <a:spcPct val="115000"/>
              </a:lnSpc>
              <a:spcBef>
                <a:spcPts val="0"/>
              </a:spcBef>
              <a:spcAft>
                <a:spcPts val="300"/>
              </a:spcAft>
            </a:pPr>
            <a:r>
              <a:rPr sz="1350" b="0" i="0">
                <a:solidFill>
                  <a:srgbClr val="16181D"/>
                </a:solidFill>
                <a:latin typeface="Verdana"/>
                <a:ea typeface="Verdana"/>
                <a:cs typeface="Verdana"/>
              </a:rPr>
              <a:t>Una cuenta activa de alguien que ya no está es una puerta abierta, y ningún escáner de red la va a marcar en rojo.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PLANO DE RED</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Cerrado, abierto, y abierto con versión vieja</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20</a:t>
            </a:r>
          </a:p>
        </p:txBody>
      </p:sp>
      <p:sp>
        <p:nvSpPr>
          <p:cNvPr id="7" name="Rectangle 6"/>
          <p:cNvSpPr/>
          <p:nvPr/>
        </p:nvSpPr>
        <p:spPr>
          <a:xfrm>
            <a:off x="704088" y="1773936"/>
            <a:ext cx="1091153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709928"/>
            <a:ext cx="10911535"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ectangle 8"/>
          <p:cNvSpPr/>
          <p:nvPr/>
        </p:nvSpPr>
        <p:spPr>
          <a:xfrm>
            <a:off x="640080" y="1709928"/>
            <a:ext cx="146304"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1051560" y="1892808"/>
            <a:ext cx="3566160" cy="731520"/>
          </a:xfrm>
          <a:prstGeom prst="rect">
            <a:avLst/>
          </a:prstGeom>
          <a:noFill/>
        </p:spPr>
        <p:txBody>
          <a:bodyPr wrap="square" lIns="0" rIns="0" tIns="0" bIns="0" anchor="ctr">
            <a:spAutoFit/>
          </a:bodyPr>
          <a:lstStyle/>
          <a:p>
            <a:pPr algn="l">
              <a:spcBef>
                <a:spcPts val="0"/>
              </a:spcBef>
              <a:spcAft>
                <a:spcPts val="0"/>
              </a:spcAft>
            </a:pPr>
            <a:r>
              <a:rPr sz="1450" b="1" i="0" spc="100">
                <a:solidFill>
                  <a:srgbClr val="0E7C66"/>
                </a:solidFill>
                <a:latin typeface="Rockwell"/>
                <a:ea typeface="Rockwell"/>
                <a:cs typeface="Rockwell"/>
              </a:rPr>
              <a:t>CERRADO</a:t>
            </a:r>
          </a:p>
        </p:txBody>
      </p:sp>
      <p:sp>
        <p:nvSpPr>
          <p:cNvPr id="11" name="TextBox 10"/>
          <p:cNvSpPr txBox="1"/>
          <p:nvPr/>
        </p:nvSpPr>
        <p:spPr>
          <a:xfrm>
            <a:off x="4709160" y="1911096"/>
            <a:ext cx="6522415" cy="685800"/>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No hay nadie del otro lado.</a:t>
            </a:r>
          </a:p>
          <a:p>
            <a:pPr>
              <a:lnSpc>
                <a:spcPct val="115000"/>
              </a:lnSpc>
              <a:spcBef>
                <a:spcPts val="0"/>
              </a:spcBef>
              <a:spcAft>
                <a:spcPts val="0"/>
              </a:spcAft>
            </a:pPr>
            <a:r>
              <a:rPr sz="1250" b="0" i="0">
                <a:solidFill>
                  <a:srgbClr val="6B7280"/>
                </a:solidFill>
                <a:latin typeface="Verdana"/>
                <a:ea typeface="Verdana"/>
                <a:cs typeface="Verdana"/>
              </a:rPr>
              <a:t>No es un punto de entrada.</a:t>
            </a:r>
          </a:p>
        </p:txBody>
      </p:sp>
      <p:sp>
        <p:nvSpPr>
          <p:cNvPr id="12" name="Rectangle 11"/>
          <p:cNvSpPr/>
          <p:nvPr/>
        </p:nvSpPr>
        <p:spPr>
          <a:xfrm>
            <a:off x="704088" y="2980944"/>
            <a:ext cx="10911535" cy="105156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Rectangle 12"/>
          <p:cNvSpPr/>
          <p:nvPr/>
        </p:nvSpPr>
        <p:spPr>
          <a:xfrm>
            <a:off x="640080" y="2916936"/>
            <a:ext cx="10911535"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640080" y="2916936"/>
            <a:ext cx="146304" cy="105156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1051560" y="3099816"/>
            <a:ext cx="3566160" cy="731520"/>
          </a:xfrm>
          <a:prstGeom prst="rect">
            <a:avLst/>
          </a:prstGeom>
          <a:noFill/>
        </p:spPr>
        <p:txBody>
          <a:bodyPr wrap="square" lIns="0" rIns="0" tIns="0" bIns="0" anchor="ctr">
            <a:spAutoFit/>
          </a:bodyPr>
          <a:lstStyle/>
          <a:p>
            <a:pPr algn="l">
              <a:spcBef>
                <a:spcPts val="0"/>
              </a:spcBef>
              <a:spcAft>
                <a:spcPts val="0"/>
              </a:spcAft>
            </a:pPr>
            <a:r>
              <a:rPr sz="1450" b="1" i="0" spc="100">
                <a:solidFill>
                  <a:srgbClr val="C9821B"/>
                </a:solidFill>
                <a:latin typeface="Rockwell"/>
                <a:ea typeface="Rockwell"/>
                <a:cs typeface="Rockwell"/>
              </a:rPr>
              <a:t>ABIERTO</a:t>
            </a:r>
          </a:p>
        </p:txBody>
      </p:sp>
      <p:sp>
        <p:nvSpPr>
          <p:cNvPr id="16" name="TextBox 15"/>
          <p:cNvSpPr txBox="1"/>
          <p:nvPr/>
        </p:nvSpPr>
        <p:spPr>
          <a:xfrm>
            <a:off x="4709160" y="3118104"/>
            <a:ext cx="6522415" cy="685800"/>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Hay un servicio escuchando.</a:t>
            </a:r>
          </a:p>
          <a:p>
            <a:pPr>
              <a:lnSpc>
                <a:spcPct val="115000"/>
              </a:lnSpc>
              <a:spcBef>
                <a:spcPts val="0"/>
              </a:spcBef>
              <a:spcAft>
                <a:spcPts val="0"/>
              </a:spcAft>
            </a:pPr>
            <a:r>
              <a:rPr sz="1250" b="0" i="0">
                <a:solidFill>
                  <a:srgbClr val="6B7280"/>
                </a:solidFill>
                <a:latin typeface="Verdana"/>
                <a:ea typeface="Verdana"/>
                <a:cs typeface="Verdana"/>
              </a:rPr>
              <a:t>Es una puerta con alguien atendiendo.</a:t>
            </a:r>
          </a:p>
        </p:txBody>
      </p:sp>
      <p:sp>
        <p:nvSpPr>
          <p:cNvPr id="17" name="Rectangle 16"/>
          <p:cNvSpPr/>
          <p:nvPr/>
        </p:nvSpPr>
        <p:spPr>
          <a:xfrm>
            <a:off x="704088" y="4187952"/>
            <a:ext cx="10911535"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Rectangle 17"/>
          <p:cNvSpPr/>
          <p:nvPr/>
        </p:nvSpPr>
        <p:spPr>
          <a:xfrm>
            <a:off x="640080" y="4123944"/>
            <a:ext cx="10911535"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ectangle 18"/>
          <p:cNvSpPr/>
          <p:nvPr/>
        </p:nvSpPr>
        <p:spPr>
          <a:xfrm>
            <a:off x="640080" y="4123944"/>
            <a:ext cx="146304"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1051560" y="4306824"/>
            <a:ext cx="3566160" cy="731520"/>
          </a:xfrm>
          <a:prstGeom prst="rect">
            <a:avLst/>
          </a:prstGeom>
          <a:noFill/>
        </p:spPr>
        <p:txBody>
          <a:bodyPr wrap="square" lIns="0" rIns="0" tIns="0" bIns="0" anchor="ctr">
            <a:spAutoFit/>
          </a:bodyPr>
          <a:lstStyle/>
          <a:p>
            <a:pPr algn="l">
              <a:spcBef>
                <a:spcPts val="0"/>
              </a:spcBef>
              <a:spcAft>
                <a:spcPts val="0"/>
              </a:spcAft>
            </a:pPr>
            <a:r>
              <a:rPr sz="1450" b="1" i="0" spc="100">
                <a:solidFill>
                  <a:srgbClr val="B02A37"/>
                </a:solidFill>
                <a:latin typeface="Rockwell"/>
                <a:ea typeface="Rockwell"/>
                <a:cs typeface="Rockwell"/>
              </a:rPr>
              <a:t>ABIERTO + VERSIÓN VIEJA</a:t>
            </a:r>
          </a:p>
        </p:txBody>
      </p:sp>
      <p:sp>
        <p:nvSpPr>
          <p:cNvPr id="21" name="TextBox 20"/>
          <p:cNvSpPr txBox="1"/>
          <p:nvPr/>
        </p:nvSpPr>
        <p:spPr>
          <a:xfrm>
            <a:off x="4709160" y="4325112"/>
            <a:ext cx="6522415" cy="685800"/>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Quien atiende tiene una falla conocida.</a:t>
            </a:r>
          </a:p>
          <a:p>
            <a:pPr>
              <a:lnSpc>
                <a:spcPct val="115000"/>
              </a:lnSpc>
              <a:spcBef>
                <a:spcPts val="0"/>
              </a:spcBef>
              <a:spcAft>
                <a:spcPts val="0"/>
              </a:spcAft>
            </a:pPr>
            <a:r>
              <a:rPr sz="1250" b="0" i="0">
                <a:solidFill>
                  <a:srgbClr val="6B7280"/>
                </a:solidFill>
                <a:latin typeface="Verdana"/>
                <a:ea typeface="Verdana"/>
                <a:cs typeface="Verdana"/>
              </a:rPr>
              <a:t>Con su CVE y su parche esperando.</a:t>
            </a:r>
          </a:p>
        </p:txBody>
      </p:sp>
      <p:sp>
        <p:nvSpPr>
          <p:cNvPr id="22" name="Rectangle 21"/>
          <p:cNvSpPr/>
          <p:nvPr/>
        </p:nvSpPr>
        <p:spPr>
          <a:xfrm>
            <a:off x="640080" y="5349240"/>
            <a:ext cx="10911535" cy="777240"/>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877824" y="5532120"/>
            <a:ext cx="10436047" cy="411479"/>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Un equipo en red no tiene una puerta: tiene miles, numeradas. Casi todas están cerradas. Las pocas abiertas son las que interesan.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PLANO DE RED</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Los que hay que reconocer</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21</a:t>
            </a:r>
          </a:p>
        </p:txBody>
      </p:sp>
      <p:sp>
        <p:nvSpPr>
          <p:cNvPr id="7" name="Rectangle 6"/>
          <p:cNvSpPr/>
          <p:nvPr/>
        </p:nvSpPr>
        <p:spPr>
          <a:xfrm>
            <a:off x="640080" y="1572768"/>
            <a:ext cx="10911535" cy="34747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49808" y="1572768"/>
            <a:ext cx="1253907"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PUERTO</a:t>
            </a:r>
          </a:p>
        </p:txBody>
      </p:sp>
      <p:sp>
        <p:nvSpPr>
          <p:cNvPr id="9" name="TextBox 8"/>
          <p:cNvSpPr txBox="1"/>
          <p:nvPr/>
        </p:nvSpPr>
        <p:spPr>
          <a:xfrm>
            <a:off x="2168307" y="1572768"/>
            <a:ext cx="1035676"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SERVICIO</a:t>
            </a:r>
          </a:p>
        </p:txBody>
      </p:sp>
      <p:sp>
        <p:nvSpPr>
          <p:cNvPr id="10" name="TextBox 9"/>
          <p:cNvSpPr txBox="1"/>
          <p:nvPr/>
        </p:nvSpPr>
        <p:spPr>
          <a:xfrm>
            <a:off x="3368576" y="1572768"/>
            <a:ext cx="2672407"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QUÉ HACE</a:t>
            </a:r>
          </a:p>
        </p:txBody>
      </p:sp>
      <p:sp>
        <p:nvSpPr>
          <p:cNvPr id="11" name="TextBox 10"/>
          <p:cNvSpPr txBox="1"/>
          <p:nvPr/>
        </p:nvSpPr>
        <p:spPr>
          <a:xfrm>
            <a:off x="6205575" y="1572768"/>
            <a:ext cx="5291175"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A QUÉ PRESTARLE ATENCIÓN</a:t>
            </a:r>
          </a:p>
        </p:txBody>
      </p:sp>
      <p:sp>
        <p:nvSpPr>
          <p:cNvPr id="12" name="Rectangle 11"/>
          <p:cNvSpPr/>
          <p:nvPr/>
        </p:nvSpPr>
        <p:spPr>
          <a:xfrm>
            <a:off x="640080" y="1920240"/>
            <a:ext cx="10911535" cy="384048"/>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749808" y="1920240"/>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B02A37"/>
                </a:solidFill>
                <a:latin typeface="Courier New"/>
                <a:ea typeface="Courier New"/>
                <a:cs typeface="Courier New"/>
              </a:rPr>
              <a:t>21/tcp</a:t>
            </a:r>
          </a:p>
        </p:txBody>
      </p:sp>
      <p:sp>
        <p:nvSpPr>
          <p:cNvPr id="14" name="TextBox 13"/>
          <p:cNvSpPr txBox="1"/>
          <p:nvPr/>
        </p:nvSpPr>
        <p:spPr>
          <a:xfrm>
            <a:off x="2168307" y="1920240"/>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FTP</a:t>
            </a:r>
          </a:p>
        </p:txBody>
      </p:sp>
      <p:sp>
        <p:nvSpPr>
          <p:cNvPr id="15" name="TextBox 14"/>
          <p:cNvSpPr txBox="1"/>
          <p:nvPr/>
        </p:nvSpPr>
        <p:spPr>
          <a:xfrm>
            <a:off x="3368576" y="1920240"/>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Transferencia de archivos</a:t>
            </a:r>
          </a:p>
        </p:txBody>
      </p:sp>
      <p:sp>
        <p:nvSpPr>
          <p:cNvPr id="16" name="TextBox 15"/>
          <p:cNvSpPr txBox="1"/>
          <p:nvPr/>
        </p:nvSpPr>
        <p:spPr>
          <a:xfrm>
            <a:off x="6205575" y="1920240"/>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B02A37"/>
                </a:solidFill>
                <a:latin typeface="Verdana"/>
                <a:ea typeface="Verdana"/>
                <a:cs typeface="Verdana"/>
              </a:rPr>
              <a:t>Manda usuario y contraseña en texto claro.</a:t>
            </a:r>
          </a:p>
        </p:txBody>
      </p:sp>
      <p:sp>
        <p:nvSpPr>
          <p:cNvPr id="17" name="Rectangle 16"/>
          <p:cNvSpPr/>
          <p:nvPr/>
        </p:nvSpPr>
        <p:spPr>
          <a:xfrm>
            <a:off x="640080" y="2304288"/>
            <a:ext cx="10911535" cy="384048"/>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749808" y="2304288"/>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0E7C66"/>
                </a:solidFill>
                <a:latin typeface="Courier New"/>
                <a:ea typeface="Courier New"/>
                <a:cs typeface="Courier New"/>
              </a:rPr>
              <a:t>22/tcp</a:t>
            </a:r>
          </a:p>
        </p:txBody>
      </p:sp>
      <p:sp>
        <p:nvSpPr>
          <p:cNvPr id="19" name="TextBox 18"/>
          <p:cNvSpPr txBox="1"/>
          <p:nvPr/>
        </p:nvSpPr>
        <p:spPr>
          <a:xfrm>
            <a:off x="2168307" y="2304288"/>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SSH</a:t>
            </a:r>
          </a:p>
        </p:txBody>
      </p:sp>
      <p:sp>
        <p:nvSpPr>
          <p:cNvPr id="20" name="TextBox 19"/>
          <p:cNvSpPr txBox="1"/>
          <p:nvPr/>
        </p:nvSpPr>
        <p:spPr>
          <a:xfrm>
            <a:off x="3368576" y="2304288"/>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Consola remota, cifrada</a:t>
            </a:r>
          </a:p>
        </p:txBody>
      </p:sp>
      <p:sp>
        <p:nvSpPr>
          <p:cNvPr id="21" name="TextBox 20"/>
          <p:cNvSpPr txBox="1"/>
          <p:nvPr/>
        </p:nvSpPr>
        <p:spPr>
          <a:xfrm>
            <a:off x="6205575" y="2304288"/>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El cifrado está bien; el problema suele ser la contraseña.</a:t>
            </a:r>
          </a:p>
        </p:txBody>
      </p:sp>
      <p:sp>
        <p:nvSpPr>
          <p:cNvPr id="22" name="Rectangle 21"/>
          <p:cNvSpPr/>
          <p:nvPr/>
        </p:nvSpPr>
        <p:spPr>
          <a:xfrm>
            <a:off x="640080" y="2688336"/>
            <a:ext cx="10911535" cy="384048"/>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749808" y="2688336"/>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B02A37"/>
                </a:solidFill>
                <a:latin typeface="Courier New"/>
                <a:ea typeface="Courier New"/>
                <a:cs typeface="Courier New"/>
              </a:rPr>
              <a:t>23/tcp</a:t>
            </a:r>
          </a:p>
        </p:txBody>
      </p:sp>
      <p:sp>
        <p:nvSpPr>
          <p:cNvPr id="24" name="TextBox 23"/>
          <p:cNvSpPr txBox="1"/>
          <p:nvPr/>
        </p:nvSpPr>
        <p:spPr>
          <a:xfrm>
            <a:off x="2168307" y="2688336"/>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Telnet</a:t>
            </a:r>
          </a:p>
        </p:txBody>
      </p:sp>
      <p:sp>
        <p:nvSpPr>
          <p:cNvPr id="25" name="TextBox 24"/>
          <p:cNvSpPr txBox="1"/>
          <p:nvPr/>
        </p:nvSpPr>
        <p:spPr>
          <a:xfrm>
            <a:off x="3368576" y="2688336"/>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Consola remota, sin cifrar</a:t>
            </a:r>
          </a:p>
        </p:txBody>
      </p:sp>
      <p:sp>
        <p:nvSpPr>
          <p:cNvPr id="26" name="TextBox 25"/>
          <p:cNvSpPr txBox="1"/>
          <p:nvPr/>
        </p:nvSpPr>
        <p:spPr>
          <a:xfrm>
            <a:off x="6205575" y="2688336"/>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B02A37"/>
                </a:solidFill>
                <a:latin typeface="Verdana"/>
                <a:ea typeface="Verdana"/>
                <a:cs typeface="Verdana"/>
              </a:rPr>
              <a:t>No debería estar abierto nunca.</a:t>
            </a:r>
          </a:p>
        </p:txBody>
      </p:sp>
      <p:sp>
        <p:nvSpPr>
          <p:cNvPr id="27" name="Rectangle 26"/>
          <p:cNvSpPr/>
          <p:nvPr/>
        </p:nvSpPr>
        <p:spPr>
          <a:xfrm>
            <a:off x="640080" y="3072384"/>
            <a:ext cx="10911535" cy="384048"/>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749808" y="3072384"/>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C9821B"/>
                </a:solidFill>
                <a:latin typeface="Courier New"/>
                <a:ea typeface="Courier New"/>
                <a:cs typeface="Courier New"/>
              </a:rPr>
              <a:t>25/tcp</a:t>
            </a:r>
          </a:p>
        </p:txBody>
      </p:sp>
      <p:sp>
        <p:nvSpPr>
          <p:cNvPr id="29" name="TextBox 28"/>
          <p:cNvSpPr txBox="1"/>
          <p:nvPr/>
        </p:nvSpPr>
        <p:spPr>
          <a:xfrm>
            <a:off x="2168307" y="3072384"/>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SMTP</a:t>
            </a:r>
          </a:p>
        </p:txBody>
      </p:sp>
      <p:sp>
        <p:nvSpPr>
          <p:cNvPr id="30" name="TextBox 29"/>
          <p:cNvSpPr txBox="1"/>
          <p:nvPr/>
        </p:nvSpPr>
        <p:spPr>
          <a:xfrm>
            <a:off x="3368576" y="3072384"/>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Envío de correo</a:t>
            </a:r>
          </a:p>
        </p:txBody>
      </p:sp>
      <p:sp>
        <p:nvSpPr>
          <p:cNvPr id="31" name="TextBox 30"/>
          <p:cNvSpPr txBox="1"/>
          <p:nvPr/>
        </p:nvSpPr>
        <p:spPr>
          <a:xfrm>
            <a:off x="6205575" y="3072384"/>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Mal configurado, sirve para mandar spam a nombre tuyo.</a:t>
            </a:r>
          </a:p>
        </p:txBody>
      </p:sp>
      <p:sp>
        <p:nvSpPr>
          <p:cNvPr id="32" name="Rectangle 31"/>
          <p:cNvSpPr/>
          <p:nvPr/>
        </p:nvSpPr>
        <p:spPr>
          <a:xfrm>
            <a:off x="640080" y="3456432"/>
            <a:ext cx="10911535" cy="384048"/>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749808" y="3456432"/>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C9821B"/>
                </a:solidFill>
                <a:latin typeface="Courier New"/>
                <a:ea typeface="Courier New"/>
                <a:cs typeface="Courier New"/>
              </a:rPr>
              <a:t>80/tcp</a:t>
            </a:r>
          </a:p>
        </p:txBody>
      </p:sp>
      <p:sp>
        <p:nvSpPr>
          <p:cNvPr id="34" name="TextBox 33"/>
          <p:cNvSpPr txBox="1"/>
          <p:nvPr/>
        </p:nvSpPr>
        <p:spPr>
          <a:xfrm>
            <a:off x="2168307" y="3456432"/>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HTTP</a:t>
            </a:r>
          </a:p>
        </p:txBody>
      </p:sp>
      <p:sp>
        <p:nvSpPr>
          <p:cNvPr id="35" name="TextBox 34"/>
          <p:cNvSpPr txBox="1"/>
          <p:nvPr/>
        </p:nvSpPr>
        <p:spPr>
          <a:xfrm>
            <a:off x="3368576" y="3456432"/>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Web sin cifrar</a:t>
            </a:r>
          </a:p>
        </p:txBody>
      </p:sp>
      <p:sp>
        <p:nvSpPr>
          <p:cNvPr id="36" name="TextBox 35"/>
          <p:cNvSpPr txBox="1"/>
          <p:nvPr/>
        </p:nvSpPr>
        <p:spPr>
          <a:xfrm>
            <a:off x="6205575" y="3456432"/>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Todo viaja legible.</a:t>
            </a:r>
          </a:p>
        </p:txBody>
      </p:sp>
      <p:sp>
        <p:nvSpPr>
          <p:cNvPr id="37" name="Rectangle 36"/>
          <p:cNvSpPr/>
          <p:nvPr/>
        </p:nvSpPr>
        <p:spPr>
          <a:xfrm>
            <a:off x="640080" y="3840480"/>
            <a:ext cx="10911535" cy="384048"/>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TextBox 37"/>
          <p:cNvSpPr txBox="1"/>
          <p:nvPr/>
        </p:nvSpPr>
        <p:spPr>
          <a:xfrm>
            <a:off x="749808" y="3840480"/>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0E7C66"/>
                </a:solidFill>
                <a:latin typeface="Courier New"/>
                <a:ea typeface="Courier New"/>
                <a:cs typeface="Courier New"/>
              </a:rPr>
              <a:t>443/tcp</a:t>
            </a:r>
          </a:p>
        </p:txBody>
      </p:sp>
      <p:sp>
        <p:nvSpPr>
          <p:cNvPr id="39" name="TextBox 38"/>
          <p:cNvSpPr txBox="1"/>
          <p:nvPr/>
        </p:nvSpPr>
        <p:spPr>
          <a:xfrm>
            <a:off x="2168307" y="3840480"/>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HTTPS</a:t>
            </a:r>
          </a:p>
        </p:txBody>
      </p:sp>
      <p:sp>
        <p:nvSpPr>
          <p:cNvPr id="40" name="TextBox 39"/>
          <p:cNvSpPr txBox="1"/>
          <p:nvPr/>
        </p:nvSpPr>
        <p:spPr>
          <a:xfrm>
            <a:off x="3368576" y="3840480"/>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Web cifrada</a:t>
            </a:r>
          </a:p>
        </p:txBody>
      </p:sp>
      <p:sp>
        <p:nvSpPr>
          <p:cNvPr id="41" name="TextBox 40"/>
          <p:cNvSpPr txBox="1"/>
          <p:nvPr/>
        </p:nvSpPr>
        <p:spPr>
          <a:xfrm>
            <a:off x="6205575" y="3840480"/>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Lo correcto hoy.</a:t>
            </a:r>
          </a:p>
        </p:txBody>
      </p:sp>
      <p:sp>
        <p:nvSpPr>
          <p:cNvPr id="42" name="Rectangle 41"/>
          <p:cNvSpPr/>
          <p:nvPr/>
        </p:nvSpPr>
        <p:spPr>
          <a:xfrm>
            <a:off x="640080" y="4224528"/>
            <a:ext cx="10911535" cy="384048"/>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TextBox 42"/>
          <p:cNvSpPr txBox="1"/>
          <p:nvPr/>
        </p:nvSpPr>
        <p:spPr>
          <a:xfrm>
            <a:off x="749808" y="4224528"/>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B02A37"/>
                </a:solidFill>
                <a:latin typeface="Courier New"/>
                <a:ea typeface="Courier New"/>
                <a:cs typeface="Courier New"/>
              </a:rPr>
              <a:t>3306/tcp</a:t>
            </a:r>
          </a:p>
        </p:txBody>
      </p:sp>
      <p:sp>
        <p:nvSpPr>
          <p:cNvPr id="44" name="TextBox 43"/>
          <p:cNvSpPr txBox="1"/>
          <p:nvPr/>
        </p:nvSpPr>
        <p:spPr>
          <a:xfrm>
            <a:off x="2168307" y="4224528"/>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MySQL</a:t>
            </a:r>
          </a:p>
        </p:txBody>
      </p:sp>
      <p:sp>
        <p:nvSpPr>
          <p:cNvPr id="45" name="TextBox 44"/>
          <p:cNvSpPr txBox="1"/>
          <p:nvPr/>
        </p:nvSpPr>
        <p:spPr>
          <a:xfrm>
            <a:off x="3368576" y="4224528"/>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Base de datos</a:t>
            </a:r>
          </a:p>
        </p:txBody>
      </p:sp>
      <p:sp>
        <p:nvSpPr>
          <p:cNvPr id="46" name="TextBox 45"/>
          <p:cNvSpPr txBox="1"/>
          <p:nvPr/>
        </p:nvSpPr>
        <p:spPr>
          <a:xfrm>
            <a:off x="6205575" y="4224528"/>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B02A37"/>
                </a:solidFill>
                <a:latin typeface="Verdana"/>
                <a:ea typeface="Verdana"/>
                <a:cs typeface="Verdana"/>
              </a:rPr>
              <a:t>Nunca debería verse desde internet.</a:t>
            </a:r>
          </a:p>
        </p:txBody>
      </p:sp>
      <p:sp>
        <p:nvSpPr>
          <p:cNvPr id="47" name="Rectangle 46"/>
          <p:cNvSpPr/>
          <p:nvPr/>
        </p:nvSpPr>
        <p:spPr>
          <a:xfrm>
            <a:off x="640080" y="4608576"/>
            <a:ext cx="10911535" cy="384048"/>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8" name="TextBox 47"/>
          <p:cNvSpPr txBox="1"/>
          <p:nvPr/>
        </p:nvSpPr>
        <p:spPr>
          <a:xfrm>
            <a:off x="749808" y="4608576"/>
            <a:ext cx="12539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1" i="0">
                <a:solidFill>
                  <a:srgbClr val="B02A37"/>
                </a:solidFill>
                <a:latin typeface="Courier New"/>
                <a:ea typeface="Courier New"/>
                <a:cs typeface="Courier New"/>
              </a:rPr>
              <a:t>3389/tcp</a:t>
            </a:r>
          </a:p>
        </p:txBody>
      </p:sp>
      <p:sp>
        <p:nvSpPr>
          <p:cNvPr id="49" name="TextBox 48"/>
          <p:cNvSpPr txBox="1"/>
          <p:nvPr/>
        </p:nvSpPr>
        <p:spPr>
          <a:xfrm>
            <a:off x="2168307" y="4608576"/>
            <a:ext cx="1035676"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RDP</a:t>
            </a:r>
          </a:p>
        </p:txBody>
      </p:sp>
      <p:sp>
        <p:nvSpPr>
          <p:cNvPr id="50" name="TextBox 49"/>
          <p:cNvSpPr txBox="1"/>
          <p:nvPr/>
        </p:nvSpPr>
        <p:spPr>
          <a:xfrm>
            <a:off x="3368576" y="4608576"/>
            <a:ext cx="2672407"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Escritorio remoto</a:t>
            </a:r>
          </a:p>
        </p:txBody>
      </p:sp>
      <p:sp>
        <p:nvSpPr>
          <p:cNvPr id="51" name="TextBox 50"/>
          <p:cNvSpPr txBox="1"/>
          <p:nvPr/>
        </p:nvSpPr>
        <p:spPr>
          <a:xfrm>
            <a:off x="6205575" y="4608576"/>
            <a:ext cx="5291175" cy="384048"/>
          </a:xfrm>
          <a:prstGeom prst="rect">
            <a:avLst/>
          </a:prstGeom>
          <a:noFill/>
        </p:spPr>
        <p:txBody>
          <a:bodyPr wrap="square" lIns="0" rIns="0" tIns="0" bIns="0" anchor="ctr">
            <a:spAutoFit/>
          </a:bodyPr>
          <a:lstStyle/>
          <a:p>
            <a:pPr algn="l">
              <a:lnSpc>
                <a:spcPct val="105000"/>
              </a:lnSpc>
              <a:spcBef>
                <a:spcPts val="0"/>
              </a:spcBef>
              <a:spcAft>
                <a:spcPts val="0"/>
              </a:spcAft>
            </a:pPr>
            <a:r>
              <a:rPr sz="1150" b="0" i="0">
                <a:solidFill>
                  <a:srgbClr val="16181D"/>
                </a:solidFill>
                <a:latin typeface="Verdana"/>
                <a:ea typeface="Verdana"/>
                <a:cs typeface="Verdana"/>
              </a:rPr>
              <a:t>Blanco clásico de fuerza bruta contra contraseñas.</a:t>
            </a:r>
          </a:p>
        </p:txBody>
      </p:sp>
      <p:sp>
        <p:nvSpPr>
          <p:cNvPr id="52" name="Rectangle 51"/>
          <p:cNvSpPr/>
          <p:nvPr/>
        </p:nvSpPr>
        <p:spPr>
          <a:xfrm>
            <a:off x="640080" y="5065776"/>
            <a:ext cx="10911535" cy="640080"/>
          </a:xfrm>
          <a:prstGeom prst="rect">
            <a:avLst/>
          </a:prstGeom>
          <a:solidFill>
            <a:srgbClr val="E3F2EE"/>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3" name="TextBox 52"/>
          <p:cNvSpPr txBox="1"/>
          <p:nvPr/>
        </p:nvSpPr>
        <p:spPr>
          <a:xfrm>
            <a:off x="877824" y="5248656"/>
            <a:ext cx="10436047" cy="274319"/>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21, 23 y 80 tienen el mismo problema —no cifran— y los tres tienen reemplazo directo: 22, 22 y 443.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PROCEDIMIENTO</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Enumerar, en este orden</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22</a:t>
            </a:r>
          </a:p>
        </p:txBody>
      </p:sp>
      <p:sp>
        <p:nvSpPr>
          <p:cNvPr id="7" name="Rectangle 6"/>
          <p:cNvSpPr/>
          <p:nvPr/>
        </p:nvSpPr>
        <p:spPr>
          <a:xfrm>
            <a:off x="704088" y="1709928"/>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45920"/>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77824" y="1792224"/>
            <a:ext cx="731520" cy="512064"/>
          </a:xfrm>
          <a:prstGeom prst="rect">
            <a:avLst/>
          </a:prstGeom>
          <a:noFill/>
        </p:spPr>
        <p:txBody>
          <a:bodyPr wrap="square" lIns="0" rIns="0" tIns="0" bIns="0" anchor="ctr">
            <a:spAutoFit/>
          </a:bodyPr>
          <a:lstStyle/>
          <a:p>
            <a:pPr algn="l">
              <a:spcBef>
                <a:spcPts val="0"/>
              </a:spcBef>
              <a:spcAft>
                <a:spcPts val="0"/>
              </a:spcAft>
            </a:pPr>
            <a:r>
              <a:rPr sz="2400" b="1" i="0">
                <a:solidFill>
                  <a:srgbClr val="5B34C7"/>
                </a:solidFill>
                <a:latin typeface="Rockwell"/>
                <a:ea typeface="Rockwell"/>
                <a:cs typeface="Rockwell"/>
              </a:rPr>
              <a:t>1</a:t>
            </a:r>
          </a:p>
        </p:txBody>
      </p:sp>
      <p:sp>
        <p:nvSpPr>
          <p:cNvPr id="10" name="TextBox 9"/>
          <p:cNvSpPr txBox="1"/>
          <p:nvPr/>
        </p:nvSpPr>
        <p:spPr>
          <a:xfrm>
            <a:off x="1691639" y="1792224"/>
            <a:ext cx="2926080" cy="512064"/>
          </a:xfrm>
          <a:prstGeom prst="rect">
            <a:avLst/>
          </a:prstGeom>
          <a:noFill/>
        </p:spPr>
        <p:txBody>
          <a:bodyPr wrap="square" lIns="0" rIns="0" tIns="0" bIns="0" anchor="ctr">
            <a:spAutoFit/>
          </a:bodyPr>
          <a:lstStyle/>
          <a:p>
            <a:pPr algn="l">
              <a:spcBef>
                <a:spcPts val="0"/>
              </a:spcBef>
              <a:spcAft>
                <a:spcPts val="0"/>
              </a:spcAft>
            </a:pPr>
            <a:r>
              <a:rPr sz="1400" b="1" i="0" spc="100">
                <a:solidFill>
                  <a:srgbClr val="16181D"/>
                </a:solidFill>
                <a:latin typeface="Rockwell"/>
                <a:ea typeface="Rockwell"/>
                <a:cs typeface="Rockwell"/>
              </a:rPr>
              <a:t>INVENTARIO</a:t>
            </a:r>
          </a:p>
        </p:txBody>
      </p:sp>
      <p:sp>
        <p:nvSpPr>
          <p:cNvPr id="11" name="TextBox 10"/>
          <p:cNvSpPr txBox="1"/>
          <p:nvPr/>
        </p:nvSpPr>
        <p:spPr>
          <a:xfrm>
            <a:off x="4709160" y="1792224"/>
            <a:ext cx="2834640" cy="512064"/>
          </a:xfrm>
          <a:prstGeom prst="rect">
            <a:avLst/>
          </a:prstGeom>
          <a:noFill/>
        </p:spPr>
        <p:txBody>
          <a:bodyPr wrap="square" lIns="0" rIns="0" tIns="0" bIns="0" anchor="ctr">
            <a:spAutoFit/>
          </a:bodyPr>
          <a:lstStyle/>
          <a:p>
            <a:pPr algn="l">
              <a:spcBef>
                <a:spcPts val="0"/>
              </a:spcBef>
              <a:spcAft>
                <a:spcPts val="0"/>
              </a:spcAft>
            </a:pPr>
            <a:r>
              <a:rPr sz="1250" b="1" i="0">
                <a:solidFill>
                  <a:srgbClr val="5B34C7"/>
                </a:solidFill>
                <a:latin typeface="Verdana"/>
                <a:ea typeface="Verdana"/>
                <a:cs typeface="Verdana"/>
              </a:rPr>
              <a:t>¿Qué equipos hay?</a:t>
            </a:r>
          </a:p>
        </p:txBody>
      </p:sp>
      <p:sp>
        <p:nvSpPr>
          <p:cNvPr id="12" name="TextBox 11"/>
          <p:cNvSpPr txBox="1"/>
          <p:nvPr/>
        </p:nvSpPr>
        <p:spPr>
          <a:xfrm>
            <a:off x="7680960" y="1792224"/>
            <a:ext cx="3596335" cy="512064"/>
          </a:xfrm>
          <a:prstGeom prst="rect">
            <a:avLst/>
          </a:prstGeom>
          <a:noFill/>
        </p:spPr>
        <p:txBody>
          <a:bodyPr wrap="square" lIns="0" rIns="0" tIns="0" bIns="0" anchor="ctr">
            <a:spAutoFit/>
          </a:bodyPr>
          <a:lstStyle/>
          <a:p>
            <a:pPr algn="l">
              <a:spcBef>
                <a:spcPts val="0"/>
              </a:spcBef>
              <a:spcAft>
                <a:spcPts val="0"/>
              </a:spcAft>
            </a:pPr>
            <a:r>
              <a:rPr sz="1200" b="0" i="0">
                <a:solidFill>
                  <a:srgbClr val="6B7280"/>
                </a:solidFill>
                <a:latin typeface="Verdana"/>
                <a:ea typeface="Verdana"/>
                <a:cs typeface="Verdana"/>
              </a:rPr>
              <a:t>No se puede proteger lo que no se sabe que existe.</a:t>
            </a:r>
          </a:p>
        </p:txBody>
      </p:sp>
      <p:sp>
        <p:nvSpPr>
          <p:cNvPr id="13" name="Rectangle 12"/>
          <p:cNvSpPr/>
          <p:nvPr/>
        </p:nvSpPr>
        <p:spPr>
          <a:xfrm>
            <a:off x="704088" y="2624327"/>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640080" y="2560320"/>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877824" y="2706624"/>
            <a:ext cx="731520" cy="512064"/>
          </a:xfrm>
          <a:prstGeom prst="rect">
            <a:avLst/>
          </a:prstGeom>
          <a:noFill/>
        </p:spPr>
        <p:txBody>
          <a:bodyPr wrap="square" lIns="0" rIns="0" tIns="0" bIns="0" anchor="ctr">
            <a:spAutoFit/>
          </a:bodyPr>
          <a:lstStyle/>
          <a:p>
            <a:pPr algn="l">
              <a:spcBef>
                <a:spcPts val="0"/>
              </a:spcBef>
              <a:spcAft>
                <a:spcPts val="0"/>
              </a:spcAft>
            </a:pPr>
            <a:r>
              <a:rPr sz="2400" b="1" i="0">
                <a:solidFill>
                  <a:srgbClr val="5B34C7"/>
                </a:solidFill>
                <a:latin typeface="Rockwell"/>
                <a:ea typeface="Rockwell"/>
                <a:cs typeface="Rockwell"/>
              </a:rPr>
              <a:t>2</a:t>
            </a:r>
          </a:p>
        </p:txBody>
      </p:sp>
      <p:sp>
        <p:nvSpPr>
          <p:cNvPr id="16" name="TextBox 15"/>
          <p:cNvSpPr txBox="1"/>
          <p:nvPr/>
        </p:nvSpPr>
        <p:spPr>
          <a:xfrm>
            <a:off x="1691639" y="2706624"/>
            <a:ext cx="2926080" cy="512064"/>
          </a:xfrm>
          <a:prstGeom prst="rect">
            <a:avLst/>
          </a:prstGeom>
          <a:noFill/>
        </p:spPr>
        <p:txBody>
          <a:bodyPr wrap="square" lIns="0" rIns="0" tIns="0" bIns="0" anchor="ctr">
            <a:spAutoFit/>
          </a:bodyPr>
          <a:lstStyle/>
          <a:p>
            <a:pPr algn="l">
              <a:spcBef>
                <a:spcPts val="0"/>
              </a:spcBef>
              <a:spcAft>
                <a:spcPts val="0"/>
              </a:spcAft>
            </a:pPr>
            <a:r>
              <a:rPr sz="1400" b="1" i="0" spc="100">
                <a:solidFill>
                  <a:srgbClr val="16181D"/>
                </a:solidFill>
                <a:latin typeface="Rockwell"/>
                <a:ea typeface="Rockwell"/>
                <a:cs typeface="Rockwell"/>
              </a:rPr>
              <a:t>SERVICIOS</a:t>
            </a:r>
          </a:p>
        </p:txBody>
      </p:sp>
      <p:sp>
        <p:nvSpPr>
          <p:cNvPr id="17" name="TextBox 16"/>
          <p:cNvSpPr txBox="1"/>
          <p:nvPr/>
        </p:nvSpPr>
        <p:spPr>
          <a:xfrm>
            <a:off x="4709160" y="2706624"/>
            <a:ext cx="2834640" cy="512064"/>
          </a:xfrm>
          <a:prstGeom prst="rect">
            <a:avLst/>
          </a:prstGeom>
          <a:noFill/>
        </p:spPr>
        <p:txBody>
          <a:bodyPr wrap="square" lIns="0" rIns="0" tIns="0" bIns="0" anchor="ctr">
            <a:spAutoFit/>
          </a:bodyPr>
          <a:lstStyle/>
          <a:p>
            <a:pPr algn="l">
              <a:spcBef>
                <a:spcPts val="0"/>
              </a:spcBef>
              <a:spcAft>
                <a:spcPts val="0"/>
              </a:spcAft>
            </a:pPr>
            <a:r>
              <a:rPr sz="1250" b="1" i="0">
                <a:solidFill>
                  <a:srgbClr val="5B34C7"/>
                </a:solidFill>
                <a:latin typeface="Verdana"/>
                <a:ea typeface="Verdana"/>
                <a:cs typeface="Verdana"/>
              </a:rPr>
              <a:t>¿Qué escucha en cada uno?</a:t>
            </a:r>
          </a:p>
        </p:txBody>
      </p:sp>
      <p:sp>
        <p:nvSpPr>
          <p:cNvPr id="18" name="TextBox 17"/>
          <p:cNvSpPr txBox="1"/>
          <p:nvPr/>
        </p:nvSpPr>
        <p:spPr>
          <a:xfrm>
            <a:off x="7680960" y="2706624"/>
            <a:ext cx="3596335" cy="512064"/>
          </a:xfrm>
          <a:prstGeom prst="rect">
            <a:avLst/>
          </a:prstGeom>
          <a:noFill/>
        </p:spPr>
        <p:txBody>
          <a:bodyPr wrap="square" lIns="0" rIns="0" tIns="0" bIns="0" anchor="ctr">
            <a:spAutoFit/>
          </a:bodyPr>
          <a:lstStyle/>
          <a:p>
            <a:pPr algn="l">
              <a:spcBef>
                <a:spcPts val="0"/>
              </a:spcBef>
              <a:spcAft>
                <a:spcPts val="0"/>
              </a:spcAft>
            </a:pPr>
            <a:r>
              <a:rPr sz="1200" b="0" i="0">
                <a:solidFill>
                  <a:srgbClr val="6B7280"/>
                </a:solidFill>
                <a:latin typeface="Verdana"/>
                <a:ea typeface="Verdana"/>
                <a:cs typeface="Verdana"/>
              </a:rPr>
              <a:t>Puertos abiertos y qué hay del otro lado.</a:t>
            </a:r>
          </a:p>
        </p:txBody>
      </p:sp>
      <p:sp>
        <p:nvSpPr>
          <p:cNvPr id="19" name="Rectangle 18"/>
          <p:cNvSpPr/>
          <p:nvPr/>
        </p:nvSpPr>
        <p:spPr>
          <a:xfrm>
            <a:off x="704088" y="3538727"/>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3474720"/>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77824" y="3621024"/>
            <a:ext cx="731520" cy="512064"/>
          </a:xfrm>
          <a:prstGeom prst="rect">
            <a:avLst/>
          </a:prstGeom>
          <a:noFill/>
        </p:spPr>
        <p:txBody>
          <a:bodyPr wrap="square" lIns="0" rIns="0" tIns="0" bIns="0" anchor="ctr">
            <a:spAutoFit/>
          </a:bodyPr>
          <a:lstStyle/>
          <a:p>
            <a:pPr algn="l">
              <a:spcBef>
                <a:spcPts val="0"/>
              </a:spcBef>
              <a:spcAft>
                <a:spcPts val="0"/>
              </a:spcAft>
            </a:pPr>
            <a:r>
              <a:rPr sz="2400" b="1" i="0">
                <a:solidFill>
                  <a:srgbClr val="5B34C7"/>
                </a:solidFill>
                <a:latin typeface="Rockwell"/>
                <a:ea typeface="Rockwell"/>
                <a:cs typeface="Rockwell"/>
              </a:rPr>
              <a:t>3</a:t>
            </a:r>
          </a:p>
        </p:txBody>
      </p:sp>
      <p:sp>
        <p:nvSpPr>
          <p:cNvPr id="22" name="TextBox 21"/>
          <p:cNvSpPr txBox="1"/>
          <p:nvPr/>
        </p:nvSpPr>
        <p:spPr>
          <a:xfrm>
            <a:off x="1691639" y="3621024"/>
            <a:ext cx="2926080" cy="512064"/>
          </a:xfrm>
          <a:prstGeom prst="rect">
            <a:avLst/>
          </a:prstGeom>
          <a:noFill/>
        </p:spPr>
        <p:txBody>
          <a:bodyPr wrap="square" lIns="0" rIns="0" tIns="0" bIns="0" anchor="ctr">
            <a:spAutoFit/>
          </a:bodyPr>
          <a:lstStyle/>
          <a:p>
            <a:pPr algn="l">
              <a:spcBef>
                <a:spcPts val="0"/>
              </a:spcBef>
              <a:spcAft>
                <a:spcPts val="0"/>
              </a:spcAft>
            </a:pPr>
            <a:r>
              <a:rPr sz="1400" b="1" i="0" spc="100">
                <a:solidFill>
                  <a:srgbClr val="16181D"/>
                </a:solidFill>
                <a:latin typeface="Rockwell"/>
                <a:ea typeface="Rockwell"/>
                <a:cs typeface="Rockwell"/>
              </a:rPr>
              <a:t>VERSIONES</a:t>
            </a:r>
          </a:p>
        </p:txBody>
      </p:sp>
      <p:sp>
        <p:nvSpPr>
          <p:cNvPr id="23" name="TextBox 22"/>
          <p:cNvSpPr txBox="1"/>
          <p:nvPr/>
        </p:nvSpPr>
        <p:spPr>
          <a:xfrm>
            <a:off x="4709160" y="3621024"/>
            <a:ext cx="2834640" cy="512064"/>
          </a:xfrm>
          <a:prstGeom prst="rect">
            <a:avLst/>
          </a:prstGeom>
          <a:noFill/>
        </p:spPr>
        <p:txBody>
          <a:bodyPr wrap="square" lIns="0" rIns="0" tIns="0" bIns="0" anchor="ctr">
            <a:spAutoFit/>
          </a:bodyPr>
          <a:lstStyle/>
          <a:p>
            <a:pPr algn="l">
              <a:spcBef>
                <a:spcPts val="0"/>
              </a:spcBef>
              <a:spcAft>
                <a:spcPts val="0"/>
              </a:spcAft>
            </a:pPr>
            <a:r>
              <a:rPr sz="1250" b="1" i="0">
                <a:solidFill>
                  <a:srgbClr val="5B34C7"/>
                </a:solidFill>
                <a:latin typeface="Verdana"/>
                <a:ea typeface="Verdana"/>
                <a:cs typeface="Verdana"/>
              </a:rPr>
              <a:t>¿Qué versión exacta?</a:t>
            </a:r>
          </a:p>
        </p:txBody>
      </p:sp>
      <p:sp>
        <p:nvSpPr>
          <p:cNvPr id="24" name="TextBox 23"/>
          <p:cNvSpPr txBox="1"/>
          <p:nvPr/>
        </p:nvSpPr>
        <p:spPr>
          <a:xfrm>
            <a:off x="7680960" y="3621024"/>
            <a:ext cx="3596335" cy="512064"/>
          </a:xfrm>
          <a:prstGeom prst="rect">
            <a:avLst/>
          </a:prstGeom>
          <a:noFill/>
        </p:spPr>
        <p:txBody>
          <a:bodyPr wrap="square" lIns="0" rIns="0" tIns="0" bIns="0" anchor="ctr">
            <a:spAutoFit/>
          </a:bodyPr>
          <a:lstStyle/>
          <a:p>
            <a:pPr algn="l">
              <a:spcBef>
                <a:spcPts val="0"/>
              </a:spcBef>
              <a:spcAft>
                <a:spcPts val="0"/>
              </a:spcAft>
            </a:pPr>
            <a:r>
              <a:rPr sz="1200" b="0" i="0">
                <a:solidFill>
                  <a:srgbClr val="6B7280"/>
                </a:solidFill>
                <a:latin typeface="Verdana"/>
                <a:ea typeface="Verdana"/>
                <a:cs typeface="Verdana"/>
              </a:rPr>
              <a:t>Sin la versión no hay diagnóstico posible.</a:t>
            </a:r>
          </a:p>
        </p:txBody>
      </p:sp>
      <p:sp>
        <p:nvSpPr>
          <p:cNvPr id="25" name="Rectangle 24"/>
          <p:cNvSpPr/>
          <p:nvPr/>
        </p:nvSpPr>
        <p:spPr>
          <a:xfrm>
            <a:off x="704088" y="4453128"/>
            <a:ext cx="10911535" cy="80467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Rectangle 25"/>
          <p:cNvSpPr/>
          <p:nvPr/>
        </p:nvSpPr>
        <p:spPr>
          <a:xfrm>
            <a:off x="640080" y="4389120"/>
            <a:ext cx="10911535" cy="80467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TextBox 26"/>
          <p:cNvSpPr txBox="1"/>
          <p:nvPr/>
        </p:nvSpPr>
        <p:spPr>
          <a:xfrm>
            <a:off x="877824" y="4535424"/>
            <a:ext cx="731520" cy="512064"/>
          </a:xfrm>
          <a:prstGeom prst="rect">
            <a:avLst/>
          </a:prstGeom>
          <a:noFill/>
        </p:spPr>
        <p:txBody>
          <a:bodyPr wrap="square" lIns="0" rIns="0" tIns="0" bIns="0" anchor="ctr">
            <a:spAutoFit/>
          </a:bodyPr>
          <a:lstStyle/>
          <a:p>
            <a:pPr algn="l">
              <a:spcBef>
                <a:spcPts val="0"/>
              </a:spcBef>
              <a:spcAft>
                <a:spcPts val="0"/>
              </a:spcAft>
            </a:pPr>
            <a:r>
              <a:rPr sz="2400" b="1" i="0">
                <a:solidFill>
                  <a:srgbClr val="5B34C7"/>
                </a:solidFill>
                <a:latin typeface="Rockwell"/>
                <a:ea typeface="Rockwell"/>
                <a:cs typeface="Rockwell"/>
              </a:rPr>
              <a:t>4</a:t>
            </a:r>
          </a:p>
        </p:txBody>
      </p:sp>
      <p:sp>
        <p:nvSpPr>
          <p:cNvPr id="28" name="TextBox 27"/>
          <p:cNvSpPr txBox="1"/>
          <p:nvPr/>
        </p:nvSpPr>
        <p:spPr>
          <a:xfrm>
            <a:off x="1691639" y="4535424"/>
            <a:ext cx="2926080" cy="512064"/>
          </a:xfrm>
          <a:prstGeom prst="rect">
            <a:avLst/>
          </a:prstGeom>
          <a:noFill/>
        </p:spPr>
        <p:txBody>
          <a:bodyPr wrap="square" lIns="0" rIns="0" tIns="0" bIns="0" anchor="ctr">
            <a:spAutoFit/>
          </a:bodyPr>
          <a:lstStyle/>
          <a:p>
            <a:pPr algn="l">
              <a:spcBef>
                <a:spcPts val="0"/>
              </a:spcBef>
              <a:spcAft>
                <a:spcPts val="0"/>
              </a:spcAft>
            </a:pPr>
            <a:r>
              <a:rPr sz="1400" b="1" i="0" spc="100">
                <a:solidFill>
                  <a:srgbClr val="16181D"/>
                </a:solidFill>
                <a:latin typeface="Rockwell"/>
                <a:ea typeface="Rockwell"/>
                <a:cs typeface="Rockwell"/>
              </a:rPr>
              <a:t>VULNERABILIDADES</a:t>
            </a:r>
          </a:p>
        </p:txBody>
      </p:sp>
      <p:sp>
        <p:nvSpPr>
          <p:cNvPr id="29" name="TextBox 28"/>
          <p:cNvSpPr txBox="1"/>
          <p:nvPr/>
        </p:nvSpPr>
        <p:spPr>
          <a:xfrm>
            <a:off x="4709160" y="4535424"/>
            <a:ext cx="2834640" cy="512064"/>
          </a:xfrm>
          <a:prstGeom prst="rect">
            <a:avLst/>
          </a:prstGeom>
          <a:noFill/>
        </p:spPr>
        <p:txBody>
          <a:bodyPr wrap="square" lIns="0" rIns="0" tIns="0" bIns="0" anchor="ctr">
            <a:spAutoFit/>
          </a:bodyPr>
          <a:lstStyle/>
          <a:p>
            <a:pPr algn="l">
              <a:spcBef>
                <a:spcPts val="0"/>
              </a:spcBef>
              <a:spcAft>
                <a:spcPts val="0"/>
              </a:spcAft>
            </a:pPr>
            <a:r>
              <a:rPr sz="1250" b="1" i="0">
                <a:solidFill>
                  <a:srgbClr val="5B34C7"/>
                </a:solidFill>
                <a:latin typeface="Verdana"/>
                <a:ea typeface="Verdana"/>
                <a:cs typeface="Verdana"/>
              </a:rPr>
              <a:t>¿Qué CVE le corresponden?</a:t>
            </a:r>
          </a:p>
        </p:txBody>
      </p:sp>
      <p:sp>
        <p:nvSpPr>
          <p:cNvPr id="30" name="TextBox 29"/>
          <p:cNvSpPr txBox="1"/>
          <p:nvPr/>
        </p:nvSpPr>
        <p:spPr>
          <a:xfrm>
            <a:off x="7680960" y="4535424"/>
            <a:ext cx="3596335" cy="512064"/>
          </a:xfrm>
          <a:prstGeom prst="rect">
            <a:avLst/>
          </a:prstGeom>
          <a:noFill/>
        </p:spPr>
        <p:txBody>
          <a:bodyPr wrap="square" lIns="0" rIns="0" tIns="0" bIns="0" anchor="ctr">
            <a:spAutoFit/>
          </a:bodyPr>
          <a:lstStyle/>
          <a:p>
            <a:pPr algn="l">
              <a:spcBef>
                <a:spcPts val="0"/>
              </a:spcBef>
              <a:spcAft>
                <a:spcPts val="0"/>
              </a:spcAft>
            </a:pPr>
            <a:r>
              <a:rPr sz="1200" b="0" i="0">
                <a:solidFill>
                  <a:srgbClr val="6B7280"/>
                </a:solidFill>
                <a:latin typeface="Verdana"/>
                <a:ea typeface="Verdana"/>
                <a:cs typeface="Verdana"/>
              </a:rPr>
              <a:t>Buscar esas versiones en la NVD.</a:t>
            </a:r>
          </a:p>
        </p:txBody>
      </p:sp>
      <p:sp>
        <p:nvSpPr>
          <p:cNvPr id="31" name="Rectangle 30"/>
          <p:cNvSpPr/>
          <p:nvPr/>
        </p:nvSpPr>
        <p:spPr>
          <a:xfrm>
            <a:off x="704088" y="5422392"/>
            <a:ext cx="10911535" cy="71323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Rectangle 31"/>
          <p:cNvSpPr/>
          <p:nvPr/>
        </p:nvSpPr>
        <p:spPr>
          <a:xfrm>
            <a:off x="640080" y="5358383"/>
            <a:ext cx="10911535" cy="713232"/>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877824" y="5541264"/>
            <a:ext cx="10436047" cy="34747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Recién después se prioriza, </a:t>
            </a:r>
            <a:r>
              <a:rPr sz="1350" b="0" i="0">
                <a:solidFill>
                  <a:srgbClr val="16181D"/>
                </a:solidFill>
                <a:latin typeface="Verdana"/>
                <a:ea typeface="Verdana"/>
                <a:cs typeface="Verdana"/>
              </a:rPr>
              <a:t>con el criterio del bloque dos: gravedad por contexto, no gravedad a secas.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PROCEDIMIENTO</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Reducir es sacar, no agregar</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23</a:t>
            </a:r>
          </a:p>
        </p:txBody>
      </p:sp>
      <p:sp>
        <p:nvSpPr>
          <p:cNvPr id="7" name="Rectangle 6"/>
          <p:cNvSpPr/>
          <p:nvPr/>
        </p:nvSpPr>
        <p:spPr>
          <a:xfrm>
            <a:off x="704088" y="1682496"/>
            <a:ext cx="5257800" cy="87782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18488"/>
            <a:ext cx="5257800" cy="877824"/>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77824" y="1764792"/>
            <a:ext cx="4782312" cy="603504"/>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Cerrar los puertos que no se usan</a:t>
            </a:r>
          </a:p>
          <a:p>
            <a:pPr>
              <a:lnSpc>
                <a:spcPct val="115000"/>
              </a:lnSpc>
              <a:spcBef>
                <a:spcPts val="0"/>
              </a:spcBef>
              <a:spcAft>
                <a:spcPts val="0"/>
              </a:spcAft>
            </a:pPr>
            <a:r>
              <a:rPr sz="1150" b="0" i="0">
                <a:solidFill>
                  <a:srgbClr val="0E7C66"/>
                </a:solidFill>
                <a:latin typeface="Verdana"/>
                <a:ea typeface="Verdana"/>
                <a:cs typeface="Verdana"/>
              </a:rPr>
              <a:t>elimina →  Puertas que no hacían falta.</a:t>
            </a:r>
          </a:p>
        </p:txBody>
      </p:sp>
      <p:sp>
        <p:nvSpPr>
          <p:cNvPr id="10" name="Rectangle 9"/>
          <p:cNvSpPr/>
          <p:nvPr/>
        </p:nvSpPr>
        <p:spPr>
          <a:xfrm>
            <a:off x="6355080" y="1682496"/>
            <a:ext cx="5257800" cy="87782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6291072" y="1618488"/>
            <a:ext cx="5257800" cy="877824"/>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528816" y="1764792"/>
            <a:ext cx="4782312" cy="603504"/>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Desinstalar el software que no se usa</a:t>
            </a:r>
          </a:p>
          <a:p>
            <a:pPr>
              <a:lnSpc>
                <a:spcPct val="115000"/>
              </a:lnSpc>
              <a:spcBef>
                <a:spcPts val="0"/>
              </a:spcBef>
              <a:spcAft>
                <a:spcPts val="0"/>
              </a:spcAft>
            </a:pPr>
            <a:r>
              <a:rPr sz="1150" b="0" i="0">
                <a:solidFill>
                  <a:srgbClr val="0E7C66"/>
                </a:solidFill>
                <a:latin typeface="Verdana"/>
                <a:ea typeface="Verdana"/>
                <a:cs typeface="Verdana"/>
              </a:rPr>
              <a:t>elimina →  Todas sus fallas futuras, de una.</a:t>
            </a:r>
          </a:p>
        </p:txBody>
      </p:sp>
      <p:sp>
        <p:nvSpPr>
          <p:cNvPr id="13" name="Rectangle 12"/>
          <p:cNvSpPr/>
          <p:nvPr/>
        </p:nvSpPr>
        <p:spPr>
          <a:xfrm>
            <a:off x="704088" y="2706624"/>
            <a:ext cx="5257800" cy="87782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640080" y="2642616"/>
            <a:ext cx="5257800" cy="877824"/>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877824" y="2788920"/>
            <a:ext cx="4782312" cy="603504"/>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Actualizar lo que sí se usa</a:t>
            </a:r>
          </a:p>
          <a:p>
            <a:pPr>
              <a:lnSpc>
                <a:spcPct val="115000"/>
              </a:lnSpc>
              <a:spcBef>
                <a:spcPts val="0"/>
              </a:spcBef>
              <a:spcAft>
                <a:spcPts val="0"/>
              </a:spcAft>
            </a:pPr>
            <a:r>
              <a:rPr sz="1150" b="0" i="0">
                <a:solidFill>
                  <a:srgbClr val="0E7C66"/>
                </a:solidFill>
                <a:latin typeface="Verdana"/>
                <a:ea typeface="Verdana"/>
                <a:cs typeface="Verdana"/>
              </a:rPr>
              <a:t>elimina →  La ventana de exposición.</a:t>
            </a:r>
          </a:p>
        </p:txBody>
      </p:sp>
      <p:sp>
        <p:nvSpPr>
          <p:cNvPr id="16" name="Rectangle 15"/>
          <p:cNvSpPr/>
          <p:nvPr/>
        </p:nvSpPr>
        <p:spPr>
          <a:xfrm>
            <a:off x="6355080" y="2706624"/>
            <a:ext cx="5257800" cy="87782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ectangle 16"/>
          <p:cNvSpPr/>
          <p:nvPr/>
        </p:nvSpPr>
        <p:spPr>
          <a:xfrm>
            <a:off x="6291072" y="2642616"/>
            <a:ext cx="5257800" cy="877824"/>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6528816" y="2788920"/>
            <a:ext cx="4782312" cy="603504"/>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Cambiar credenciales de fábrica</a:t>
            </a:r>
          </a:p>
          <a:p>
            <a:pPr>
              <a:lnSpc>
                <a:spcPct val="115000"/>
              </a:lnSpc>
              <a:spcBef>
                <a:spcPts val="0"/>
              </a:spcBef>
              <a:spcAft>
                <a:spcPts val="0"/>
              </a:spcAft>
            </a:pPr>
            <a:r>
              <a:rPr sz="1150" b="0" i="0">
                <a:solidFill>
                  <a:srgbClr val="0E7C66"/>
                </a:solidFill>
                <a:latin typeface="Verdana"/>
                <a:ea typeface="Verdana"/>
                <a:cs typeface="Verdana"/>
              </a:rPr>
              <a:t>elimina →  La entrada más fácil que existe.</a:t>
            </a:r>
          </a:p>
        </p:txBody>
      </p:sp>
      <p:sp>
        <p:nvSpPr>
          <p:cNvPr id="19" name="Rectangle 18"/>
          <p:cNvSpPr/>
          <p:nvPr/>
        </p:nvSpPr>
        <p:spPr>
          <a:xfrm>
            <a:off x="704088" y="3730752"/>
            <a:ext cx="5257800" cy="87782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3666744"/>
            <a:ext cx="5257800" cy="877824"/>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77824" y="3813048"/>
            <a:ext cx="4782312" cy="603504"/>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Separar la red en partes</a:t>
            </a:r>
          </a:p>
          <a:p>
            <a:pPr>
              <a:lnSpc>
                <a:spcPct val="115000"/>
              </a:lnSpc>
              <a:spcBef>
                <a:spcPts val="0"/>
              </a:spcBef>
              <a:spcAft>
                <a:spcPts val="0"/>
              </a:spcAft>
            </a:pPr>
            <a:r>
              <a:rPr sz="1150" b="0" i="0">
                <a:solidFill>
                  <a:srgbClr val="0E7C66"/>
                </a:solidFill>
                <a:latin typeface="Verdana"/>
                <a:ea typeface="Verdana"/>
                <a:cs typeface="Verdana"/>
              </a:rPr>
              <a:t>elimina →  Que entrar en un equipo no sea entrar en todos.</a:t>
            </a:r>
          </a:p>
        </p:txBody>
      </p:sp>
      <p:sp>
        <p:nvSpPr>
          <p:cNvPr id="22" name="Rectangle 21"/>
          <p:cNvSpPr/>
          <p:nvPr/>
        </p:nvSpPr>
        <p:spPr>
          <a:xfrm>
            <a:off x="6355080" y="3730752"/>
            <a:ext cx="5257800" cy="877824"/>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Rectangle 22"/>
          <p:cNvSpPr/>
          <p:nvPr/>
        </p:nvSpPr>
        <p:spPr>
          <a:xfrm>
            <a:off x="6291072" y="3666744"/>
            <a:ext cx="5257800" cy="877824"/>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TextBox 23"/>
          <p:cNvSpPr txBox="1"/>
          <p:nvPr/>
        </p:nvSpPr>
        <p:spPr>
          <a:xfrm>
            <a:off x="6528816" y="3813048"/>
            <a:ext cx="4782312" cy="603504"/>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Dar de baja cuentas que sobran</a:t>
            </a:r>
          </a:p>
          <a:p>
            <a:pPr>
              <a:lnSpc>
                <a:spcPct val="115000"/>
              </a:lnSpc>
              <a:spcBef>
                <a:spcPts val="0"/>
              </a:spcBef>
              <a:spcAft>
                <a:spcPts val="0"/>
              </a:spcAft>
            </a:pPr>
            <a:r>
              <a:rPr sz="1150" b="0" i="0">
                <a:solidFill>
                  <a:srgbClr val="0E7C66"/>
                </a:solidFill>
                <a:latin typeface="Verdana"/>
                <a:ea typeface="Verdana"/>
                <a:cs typeface="Verdana"/>
              </a:rPr>
              <a:t>elimina →  Accesos sin dueño.</a:t>
            </a:r>
          </a:p>
        </p:txBody>
      </p:sp>
      <p:sp>
        <p:nvSpPr>
          <p:cNvPr id="25" name="TextBox 24"/>
          <p:cNvSpPr txBox="1"/>
          <p:nvPr/>
        </p:nvSpPr>
        <p:spPr>
          <a:xfrm>
            <a:off x="640080" y="4773168"/>
            <a:ext cx="10911535" cy="457200"/>
          </a:xfrm>
          <a:prstGeom prst="rect">
            <a:avLst/>
          </a:prstGeom>
          <a:noFill/>
        </p:spPr>
        <p:txBody>
          <a:bodyPr wrap="square" lIns="0" rIns="0" tIns="0" bIns="0" anchor="t">
            <a:spAutoFit/>
          </a:bodyPr>
          <a:lstStyle/>
          <a:p>
            <a:pPr algn="ctr">
              <a:spcBef>
                <a:spcPts val="0"/>
              </a:spcBef>
              <a:spcAft>
                <a:spcPts val="0"/>
              </a:spcAft>
            </a:pPr>
            <a:r>
              <a:rPr sz="1600" b="1" i="0">
                <a:solidFill>
                  <a:srgbClr val="5B34C7"/>
                </a:solidFill>
                <a:latin typeface="Rockwell"/>
                <a:ea typeface="Rockwell"/>
                <a:cs typeface="Rockwell"/>
              </a:rPr>
              <a:t>Ninguna de las seis requiere comprar nada.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12191695" cy="68580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Rectangle 3"/>
          <p:cNvSpPr/>
          <p:nvPr/>
        </p:nvSpPr>
        <p:spPr>
          <a:xfrm>
            <a:off x="822960" y="822960"/>
            <a:ext cx="10545775" cy="5212080"/>
          </a:xfrm>
          <a:prstGeom prst="rect">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TextBox 4"/>
          <p:cNvSpPr txBox="1"/>
          <p:nvPr/>
        </p:nvSpPr>
        <p:spPr>
          <a:xfrm>
            <a:off x="1463040" y="1691640"/>
            <a:ext cx="9265615" cy="365760"/>
          </a:xfrm>
          <a:prstGeom prst="rect">
            <a:avLst/>
          </a:prstGeom>
          <a:noFill/>
        </p:spPr>
        <p:txBody>
          <a:bodyPr wrap="square" lIns="0" rIns="0" tIns="0" bIns="0" anchor="t">
            <a:spAutoFit/>
          </a:bodyPr>
          <a:lstStyle/>
          <a:p>
            <a:pPr algn="l">
              <a:spcBef>
                <a:spcPts val="0"/>
              </a:spcBef>
              <a:spcAft>
                <a:spcPts val="0"/>
              </a:spcAft>
            </a:pPr>
            <a:r>
              <a:rPr sz="1200" b="1" i="0" spc="250">
                <a:solidFill>
                  <a:srgbClr val="F5C6CA"/>
                </a:solidFill>
                <a:latin typeface="Verdana"/>
                <a:ea typeface="Verdana"/>
                <a:cs typeface="Verdana"/>
              </a:rPr>
              <a:t>ANTES DE SEGUIR</a:t>
            </a:r>
          </a:p>
        </p:txBody>
      </p:sp>
      <p:sp>
        <p:nvSpPr>
          <p:cNvPr id="6" name="TextBox 5"/>
          <p:cNvSpPr txBox="1"/>
          <p:nvPr/>
        </p:nvSpPr>
        <p:spPr>
          <a:xfrm>
            <a:off x="1463040" y="2103120"/>
            <a:ext cx="9265615" cy="2926080"/>
          </a:xfrm>
          <a:prstGeom prst="rect">
            <a:avLst/>
          </a:prstGeom>
          <a:noFill/>
        </p:spPr>
        <p:txBody>
          <a:bodyPr wrap="square" lIns="0" rIns="0" tIns="0" bIns="0" anchor="t">
            <a:spAutoFit/>
          </a:bodyPr>
          <a:lstStyle/>
          <a:p>
            <a:pPr algn="l">
              <a:lnSpc>
                <a:spcPct val="100000"/>
              </a:lnSpc>
              <a:spcBef>
                <a:spcPts val="0"/>
              </a:spcBef>
              <a:spcAft>
                <a:spcPts val="1600"/>
              </a:spcAft>
            </a:pPr>
            <a:r>
              <a:rPr sz="3400" b="1" i="0">
                <a:solidFill>
                  <a:srgbClr val="FFFFFF"/>
                </a:solidFill>
                <a:latin typeface="Rockwell"/>
                <a:ea typeface="Rockwell"/>
                <a:cs typeface="Rockwell"/>
              </a:rPr>
              <a:t>Escanear un sistema ajeno
sin autorización es delito.</a:t>
            </a:r>
          </a:p>
          <a:p>
            <a:pPr>
              <a:lnSpc>
                <a:spcPct val="125000"/>
              </a:lnSpc>
              <a:spcBef>
                <a:spcPts val="0"/>
              </a:spcBef>
              <a:spcAft>
                <a:spcPts val="1000"/>
              </a:spcAft>
            </a:pPr>
            <a:r>
              <a:rPr sz="1600" b="0" i="0">
                <a:solidFill>
                  <a:srgbClr val="FFFFFF"/>
                </a:solidFill>
                <a:latin typeface="Verdana"/>
                <a:ea typeface="Verdana"/>
                <a:cs typeface="Verdana"/>
              </a:rPr>
              <a:t>Aunque no rompas ni te lleves nada. Ley N.º 20.327, art. 297 BIS del Código Penal.</a:t>
            </a:r>
          </a:p>
          <a:p>
            <a:pPr>
              <a:lnSpc>
                <a:spcPct val="125000"/>
              </a:lnSpc>
              <a:spcBef>
                <a:spcPts val="0"/>
              </a:spcBef>
              <a:spcAft>
                <a:spcPts val="0"/>
              </a:spcAft>
            </a:pPr>
            <a:r>
              <a:rPr sz="1400" b="0" i="0">
                <a:solidFill>
                  <a:srgbClr val="F7D5D8"/>
                </a:solidFill>
                <a:latin typeface="Verdana"/>
                <a:ea typeface="Verdana"/>
                <a:cs typeface="Verdana"/>
              </a:rPr>
              <a:t>No existe la excusa de «estaba probando». Todo lo que se escanea en este curso es un entorno preparado para eso y con autorización escrita. Está en el acuerdo que firmamos.</a:t>
            </a:r>
          </a:p>
        </p:txBody>
      </p:sp>
      <p:sp>
        <p:nvSpPr>
          <p:cNvPr id="7" name="TextBox 6"/>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1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TextBox 3"/>
          <p:cNvSpPr txBox="1"/>
          <p:nvPr/>
        </p:nvSpPr>
        <p:spPr>
          <a:xfrm>
            <a:off x="7985455" y="457200"/>
            <a:ext cx="3657600" cy="4023360"/>
          </a:xfrm>
          <a:prstGeom prst="rect">
            <a:avLst/>
          </a:prstGeom>
          <a:noFill/>
        </p:spPr>
        <p:txBody>
          <a:bodyPr wrap="square" lIns="0" rIns="0" tIns="0" bIns="0" anchor="t">
            <a:spAutoFit/>
          </a:bodyPr>
          <a:lstStyle/>
          <a:p>
            <a:pPr algn="r">
              <a:spcBef>
                <a:spcPts val="0"/>
              </a:spcBef>
              <a:spcAft>
                <a:spcPts val="0"/>
              </a:spcAft>
            </a:pPr>
            <a:r>
              <a:rPr sz="19000" b="1" i="0">
                <a:solidFill>
                  <a:srgbClr val="4A27A8"/>
                </a:solidFill>
                <a:latin typeface="Rockwell"/>
                <a:ea typeface="Rockwell"/>
                <a:cs typeface="Rockwell"/>
              </a:rPr>
              <a:t>05</a:t>
            </a:r>
          </a:p>
        </p:txBody>
      </p:sp>
      <p:sp>
        <p:nvSpPr>
          <p:cNvPr id="5" name="TextBox 4"/>
          <p:cNvSpPr txBox="1"/>
          <p:nvPr/>
        </p:nvSpPr>
        <p:spPr>
          <a:xfrm>
            <a:off x="1143000" y="2606040"/>
            <a:ext cx="7680960" cy="2011680"/>
          </a:xfrm>
          <a:prstGeom prst="rect">
            <a:avLst/>
          </a:prstGeom>
          <a:noFill/>
        </p:spPr>
        <p:txBody>
          <a:bodyPr wrap="square" lIns="0" rIns="0" tIns="0" bIns="0" anchor="t">
            <a:spAutoFit/>
          </a:bodyPr>
          <a:lstStyle/>
          <a:p>
            <a:pPr algn="l">
              <a:spcBef>
                <a:spcPts val="0"/>
              </a:spcBef>
              <a:spcAft>
                <a:spcPts val="1000"/>
              </a:spcAft>
            </a:pPr>
            <a:r>
              <a:rPr sz="1150" b="1" i="0" spc="250">
                <a:solidFill>
                  <a:srgbClr val="C5B4F5"/>
                </a:solidFill>
                <a:latin typeface="Verdana"/>
                <a:ea typeface="Verdana"/>
                <a:cs typeface="Verdana"/>
              </a:rPr>
              <a:t>BLOQUE CINCO</a:t>
            </a:r>
          </a:p>
          <a:p>
            <a:pPr>
              <a:lnSpc>
                <a:spcPct val="95000"/>
              </a:lnSpc>
              <a:spcBef>
                <a:spcPts val="0"/>
              </a:spcBef>
              <a:spcAft>
                <a:spcPts val="0"/>
              </a:spcAft>
            </a:pPr>
            <a:r>
              <a:rPr sz="4000" b="1" i="0">
                <a:solidFill>
                  <a:srgbClr val="FFFFFF"/>
                </a:solidFill>
                <a:latin typeface="Rockwell"/>
                <a:ea typeface="Rockwell"/>
                <a:cs typeface="Rockwell"/>
              </a:rPr>
              <a:t>La contraseña
como vulnerabilidad</a:t>
            </a:r>
          </a:p>
          <a:p>
            <a:pPr>
              <a:lnSpc>
                <a:spcPct val="120000"/>
              </a:lnSpc>
              <a:spcBef>
                <a:spcPts val="1000"/>
              </a:spcBef>
              <a:spcAft>
                <a:spcPts val="0"/>
              </a:spcAft>
            </a:pPr>
            <a:r>
              <a:rPr sz="1400" b="0" i="0">
                <a:solidFill>
                  <a:srgbClr val="CFC4F2"/>
                </a:solidFill>
                <a:latin typeface="Verdana"/>
                <a:ea typeface="Verdana"/>
                <a:cs typeface="Verdana"/>
              </a:rPr>
              <a:t>No es un descuido del usuario: es una debilidad del sistema, y se enumera igual que un puerto.</a:t>
            </a:r>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ALMACENAMIENTO</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El sistema no guarda tu contraseña</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26</a:t>
            </a:r>
          </a:p>
        </p:txBody>
      </p:sp>
      <p:sp>
        <p:nvSpPr>
          <p:cNvPr id="7" name="Rectangle 6"/>
          <p:cNvSpPr/>
          <p:nvPr/>
        </p:nvSpPr>
        <p:spPr>
          <a:xfrm>
            <a:off x="704088" y="1728216"/>
            <a:ext cx="10911535" cy="169164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64208"/>
            <a:ext cx="10911535" cy="169164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Rectangle 8"/>
          <p:cNvSpPr/>
          <p:nvPr/>
        </p:nvSpPr>
        <p:spPr>
          <a:xfrm>
            <a:off x="1143000" y="2029968"/>
            <a:ext cx="1920240" cy="420624"/>
          </a:xfrm>
          <a:prstGeom prst="rect">
            <a:avLst/>
          </a:prstGeom>
          <a:solidFill>
            <a:srgbClr val="FFFFFF"/>
          </a:solidFill>
          <a:ln w="12700">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i="0">
                <a:solidFill>
                  <a:srgbClr val="16181D"/>
                </a:solidFill>
                <a:latin typeface="Courier New"/>
                <a:ea typeface="Courier New"/>
                <a:cs typeface="Courier New"/>
              </a:rPr>
              <a:t>"montevideo"</a:t>
            </a:r>
          </a:p>
        </p:txBody>
      </p:sp>
      <p:sp>
        <p:nvSpPr>
          <p:cNvPr id="10" name="Right Arrow 9"/>
          <p:cNvSpPr/>
          <p:nvPr/>
        </p:nvSpPr>
        <p:spPr>
          <a:xfrm>
            <a:off x="3246120" y="2139696"/>
            <a:ext cx="914400" cy="201168"/>
          </a:xfrm>
          <a:prstGeom prst="rightArrow">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029968"/>
            <a:ext cx="1737360" cy="420624"/>
          </a:xfrm>
          <a:prstGeom prst="rect">
            <a:avLst/>
          </a:prstGeom>
          <a:solidFill>
            <a:srgbClr val="E3F2EE"/>
          </a:solidFill>
          <a:ln w="1270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200" b="1" i="0">
                <a:solidFill>
                  <a:srgbClr val="0E7C66"/>
                </a:solidFill>
                <a:latin typeface="Verdana"/>
                <a:ea typeface="Verdana"/>
                <a:cs typeface="Verdana"/>
              </a:rPr>
              <a:t>función de hash</a:t>
            </a:r>
          </a:p>
        </p:txBody>
      </p:sp>
      <p:sp>
        <p:nvSpPr>
          <p:cNvPr id="12" name="Right Arrow 11"/>
          <p:cNvSpPr/>
          <p:nvPr/>
        </p:nvSpPr>
        <p:spPr>
          <a:xfrm>
            <a:off x="6263640" y="2139696"/>
            <a:ext cx="914400" cy="201168"/>
          </a:xfrm>
          <a:prstGeom prst="rightArrow">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19" y="2029968"/>
            <a:ext cx="1828800" cy="420624"/>
          </a:xfrm>
          <a:prstGeom prst="rect">
            <a:avLst/>
          </a:prstGeom>
          <a:solidFill>
            <a:srgbClr val="ECE6FB"/>
          </a:solidFill>
          <a:ln w="12700">
            <a:solidFill>
              <a:srgbClr val="5B34C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i="0">
                <a:solidFill>
                  <a:srgbClr val="5B34C7"/>
                </a:solidFill>
                <a:latin typeface="Courier New"/>
                <a:ea typeface="Courier New"/>
                <a:cs typeface="Courier New"/>
              </a:rPr>
              <a:t>8f2a…c71b</a:t>
            </a:r>
          </a:p>
        </p:txBody>
      </p:sp>
      <p:sp>
        <p:nvSpPr>
          <p:cNvPr id="14" name="TextBox 13"/>
          <p:cNvSpPr txBox="1"/>
          <p:nvPr/>
        </p:nvSpPr>
        <p:spPr>
          <a:xfrm>
            <a:off x="9418319" y="2048256"/>
            <a:ext cx="1737360" cy="402336"/>
          </a:xfrm>
          <a:prstGeom prst="rect">
            <a:avLst/>
          </a:prstGeom>
          <a:noFill/>
        </p:spPr>
        <p:txBody>
          <a:bodyPr wrap="square" lIns="0" rIns="0" tIns="0" bIns="0" anchor="ctr">
            <a:spAutoFit/>
          </a:bodyPr>
          <a:lstStyle/>
          <a:p>
            <a:pPr algn="l">
              <a:spcBef>
                <a:spcPts val="0"/>
              </a:spcBef>
              <a:spcAft>
                <a:spcPts val="0"/>
              </a:spcAft>
            </a:pPr>
            <a:r>
              <a:rPr sz="1300" b="1" i="0">
                <a:solidFill>
                  <a:srgbClr val="0E7C66"/>
                </a:solidFill>
                <a:latin typeface="Verdana"/>
                <a:ea typeface="Verdana"/>
                <a:cs typeface="Verdana"/>
              </a:rPr>
              <a:t>fácil</a:t>
            </a:r>
          </a:p>
        </p:txBody>
      </p:sp>
      <p:sp>
        <p:nvSpPr>
          <p:cNvPr id="15" name="Rectangle 14"/>
          <p:cNvSpPr/>
          <p:nvPr/>
        </p:nvSpPr>
        <p:spPr>
          <a:xfrm>
            <a:off x="3246120" y="2779776"/>
            <a:ext cx="5760720" cy="45720"/>
          </a:xfrm>
          <a:prstGeom prst="rect">
            <a:avLst/>
          </a:prstGeom>
          <a:solidFill>
            <a:srgbClr val="C7CC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5577840" y="2596896"/>
            <a:ext cx="1097280" cy="402336"/>
          </a:xfrm>
          <a:prstGeom prst="rect">
            <a:avLst/>
          </a:prstGeom>
          <a:noFill/>
        </p:spPr>
        <p:txBody>
          <a:bodyPr wrap="square" lIns="0" rIns="0" tIns="0" bIns="0" anchor="t">
            <a:spAutoFit/>
          </a:bodyPr>
          <a:lstStyle/>
          <a:p>
            <a:pPr algn="ctr">
              <a:spcBef>
                <a:spcPts val="0"/>
              </a:spcBef>
              <a:spcAft>
                <a:spcPts val="0"/>
              </a:spcAft>
            </a:pPr>
            <a:r>
              <a:rPr sz="2000" b="1" i="0">
                <a:solidFill>
                  <a:srgbClr val="B02A37"/>
                </a:solidFill>
                <a:latin typeface="Verdana"/>
                <a:ea typeface="Verdana"/>
                <a:cs typeface="Verdana"/>
              </a:rPr>
              <a:t>✗</a:t>
            </a:r>
          </a:p>
        </p:txBody>
      </p:sp>
      <p:sp>
        <p:nvSpPr>
          <p:cNvPr id="17" name="TextBox 16"/>
          <p:cNvSpPr txBox="1"/>
          <p:nvPr/>
        </p:nvSpPr>
        <p:spPr>
          <a:xfrm>
            <a:off x="9418319" y="2624328"/>
            <a:ext cx="1828800" cy="402336"/>
          </a:xfrm>
          <a:prstGeom prst="rect">
            <a:avLst/>
          </a:prstGeom>
          <a:noFill/>
        </p:spPr>
        <p:txBody>
          <a:bodyPr wrap="square" lIns="0" rIns="0" tIns="0" bIns="0" anchor="t">
            <a:spAutoFit/>
          </a:bodyPr>
          <a:lstStyle/>
          <a:p>
            <a:pPr algn="l">
              <a:spcBef>
                <a:spcPts val="0"/>
              </a:spcBef>
              <a:spcAft>
                <a:spcPts val="0"/>
              </a:spcAft>
            </a:pPr>
            <a:r>
              <a:rPr sz="1300" b="1" i="0">
                <a:solidFill>
                  <a:srgbClr val="B02A37"/>
                </a:solidFill>
                <a:latin typeface="Verdana"/>
                <a:ea typeface="Verdana"/>
                <a:cs typeface="Verdana"/>
              </a:rPr>
              <a:t>inviable</a:t>
            </a:r>
          </a:p>
        </p:txBody>
      </p:sp>
      <p:sp>
        <p:nvSpPr>
          <p:cNvPr id="18" name="Rectangle 17"/>
          <p:cNvSpPr/>
          <p:nvPr/>
        </p:nvSpPr>
        <p:spPr>
          <a:xfrm>
            <a:off x="704088" y="3694176"/>
            <a:ext cx="5257800" cy="169164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Rectangle 18"/>
          <p:cNvSpPr/>
          <p:nvPr/>
        </p:nvSpPr>
        <p:spPr>
          <a:xfrm>
            <a:off x="640080" y="3630168"/>
            <a:ext cx="5257800" cy="169164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877824" y="3813048"/>
            <a:ext cx="4782312" cy="1325880"/>
          </a:xfrm>
          <a:prstGeom prst="rect">
            <a:avLst/>
          </a:prstGeom>
          <a:noFill/>
        </p:spPr>
        <p:txBody>
          <a:bodyPr wrap="square" lIns="0" rIns="0" tIns="0" bIns="0" anchor="t">
            <a:spAutoFit/>
          </a:bodyPr>
          <a:lstStyle/>
          <a:p>
            <a:pPr algn="l">
              <a:spcBef>
                <a:spcPts val="0"/>
              </a:spcBef>
              <a:spcAft>
                <a:spcPts val="600"/>
              </a:spcAft>
            </a:pPr>
            <a:r>
              <a:rPr sz="1450" b="1" i="0">
                <a:solidFill>
                  <a:srgbClr val="5B34C7"/>
                </a:solidFill>
                <a:latin typeface="Rockwell"/>
                <a:ea typeface="Rockwell"/>
                <a:cs typeface="Rockwell"/>
              </a:rPr>
              <a:t>Qué guarda entonces</a:t>
            </a:r>
          </a:p>
          <a:p>
            <a:pPr>
              <a:lnSpc>
                <a:spcPct val="118000"/>
              </a:lnSpc>
              <a:spcBef>
                <a:spcPts val="0"/>
              </a:spcBef>
              <a:spcAft>
                <a:spcPts val="300"/>
              </a:spcAft>
            </a:pPr>
            <a:r>
              <a:rPr sz="1250" b="0" i="0">
                <a:solidFill>
                  <a:srgbClr val="16181D"/>
                </a:solidFill>
                <a:latin typeface="Verdana"/>
                <a:ea typeface="Verdana"/>
                <a:cs typeface="Verdana"/>
              </a:rPr>
              <a:t>El hash: el resultado de pasar la contraseña por una función de un solo sentido. Al iniciar sesión calcula el hash de lo que escribís y lo compara con el guardado. Nunca necesita la original.</a:t>
            </a:r>
          </a:p>
        </p:txBody>
      </p:sp>
      <p:sp>
        <p:nvSpPr>
          <p:cNvPr id="21" name="Rectangle 20"/>
          <p:cNvSpPr/>
          <p:nvPr/>
        </p:nvSpPr>
        <p:spPr>
          <a:xfrm>
            <a:off x="6355080" y="3694176"/>
            <a:ext cx="5257800" cy="169164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Rectangle 21"/>
          <p:cNvSpPr/>
          <p:nvPr/>
        </p:nvSpPr>
        <p:spPr>
          <a:xfrm>
            <a:off x="6291072" y="3630168"/>
            <a:ext cx="5257800" cy="169164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6528816" y="3813048"/>
            <a:ext cx="4782312" cy="1325880"/>
          </a:xfrm>
          <a:prstGeom prst="rect">
            <a:avLst/>
          </a:prstGeom>
          <a:noFill/>
        </p:spPr>
        <p:txBody>
          <a:bodyPr wrap="square" lIns="0" rIns="0" tIns="0" bIns="0" anchor="t">
            <a:spAutoFit/>
          </a:bodyPr>
          <a:lstStyle/>
          <a:p>
            <a:pPr algn="l">
              <a:spcBef>
                <a:spcPts val="0"/>
              </a:spcBef>
              <a:spcAft>
                <a:spcPts val="600"/>
              </a:spcAft>
            </a:pPr>
            <a:r>
              <a:rPr sz="1450" b="1" i="0">
                <a:solidFill>
                  <a:srgbClr val="0E7C66"/>
                </a:solidFill>
                <a:latin typeface="Rockwell"/>
                <a:ea typeface="Rockwell"/>
                <a:cs typeface="Rockwell"/>
              </a:rPr>
              <a:t>Y la sal (salt)</a:t>
            </a:r>
          </a:p>
          <a:p>
            <a:pPr>
              <a:lnSpc>
                <a:spcPct val="118000"/>
              </a:lnSpc>
              <a:spcBef>
                <a:spcPts val="0"/>
              </a:spcBef>
              <a:spcAft>
                <a:spcPts val="300"/>
              </a:spcAft>
            </a:pPr>
            <a:r>
              <a:rPr sz="1250" b="0" i="0">
                <a:solidFill>
                  <a:srgbClr val="16181D"/>
                </a:solidFill>
                <a:latin typeface="Verdana"/>
                <a:ea typeface="Verdana"/>
                <a:cs typeface="Verdana"/>
              </a:rPr>
              <a:t>Un valor al azar que se agrega a cada contraseña antes de calcular el hash. Así dos usuarios con la misma contraseña no tienen el mismo hash, y no sirven las tablas precalculadas.</a:t>
            </a:r>
          </a:p>
        </p:txBody>
      </p:sp>
      <p:sp>
        <p:nvSpPr>
          <p:cNvPr id="24" name="TextBox 23"/>
          <p:cNvSpPr txBox="1"/>
          <p:nvPr/>
        </p:nvSpPr>
        <p:spPr>
          <a:xfrm>
            <a:off x="640080" y="5458968"/>
            <a:ext cx="10911535" cy="365760"/>
          </a:xfrm>
          <a:prstGeom prst="rect">
            <a:avLst/>
          </a:prstGeom>
          <a:noFill/>
        </p:spPr>
        <p:txBody>
          <a:bodyPr wrap="square" lIns="0" rIns="0" tIns="0" bIns="0" anchor="t">
            <a:spAutoFit/>
          </a:bodyPr>
          <a:lstStyle/>
          <a:p>
            <a:pPr algn="ctr">
              <a:spcBef>
                <a:spcPts val="0"/>
              </a:spcBef>
              <a:spcAft>
                <a:spcPts val="0"/>
              </a:spcAft>
            </a:pPr>
            <a:r>
              <a:rPr sz="1500" b="1" i="0">
                <a:solidFill>
                  <a:srgbClr val="B02A37"/>
                </a:solidFill>
                <a:latin typeface="Rockwell"/>
                <a:ea typeface="Rockwell"/>
                <a:cs typeface="Rockwell"/>
              </a:rPr>
              <a:t>Si un sitio te manda tu contraseña por correo, la está guardando mal.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ATAQUE</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El orden en que prueba un atacante</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27</a:t>
            </a:r>
          </a:p>
        </p:txBody>
      </p:sp>
      <p:sp>
        <p:nvSpPr>
          <p:cNvPr id="7" name="Rectangle 6"/>
          <p:cNvSpPr/>
          <p:nvPr/>
        </p:nvSpPr>
        <p:spPr>
          <a:xfrm>
            <a:off x="704088" y="1728216"/>
            <a:ext cx="10911535" cy="91440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64208"/>
            <a:ext cx="10911535" cy="91440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96112" y="1865376"/>
            <a:ext cx="640080" cy="512064"/>
          </a:xfrm>
          <a:prstGeom prst="rect">
            <a:avLst/>
          </a:prstGeom>
          <a:noFill/>
        </p:spPr>
        <p:txBody>
          <a:bodyPr wrap="square" lIns="0" rIns="0" tIns="0" bIns="0" anchor="ctr">
            <a:spAutoFit/>
          </a:bodyPr>
          <a:lstStyle/>
          <a:p>
            <a:pPr algn="l">
              <a:spcBef>
                <a:spcPts val="0"/>
              </a:spcBef>
              <a:spcAft>
                <a:spcPts val="0"/>
              </a:spcAft>
            </a:pPr>
            <a:r>
              <a:rPr sz="2400" b="1" i="0">
                <a:solidFill>
                  <a:srgbClr val="B02A37"/>
                </a:solidFill>
                <a:latin typeface="Rockwell"/>
                <a:ea typeface="Rockwell"/>
                <a:cs typeface="Rockwell"/>
              </a:rPr>
              <a:t>1</a:t>
            </a:r>
          </a:p>
        </p:txBody>
      </p:sp>
      <p:sp>
        <p:nvSpPr>
          <p:cNvPr id="10" name="TextBox 9"/>
          <p:cNvSpPr txBox="1"/>
          <p:nvPr/>
        </p:nvSpPr>
        <p:spPr>
          <a:xfrm>
            <a:off x="1645920" y="1847088"/>
            <a:ext cx="9631375" cy="594360"/>
          </a:xfrm>
          <a:prstGeom prst="rect">
            <a:avLst/>
          </a:prstGeom>
          <a:noFill/>
        </p:spPr>
        <p:txBody>
          <a:bodyPr wrap="square" lIns="0" rIns="0" tIns="0" bIns="0" anchor="t">
            <a:spAutoFit/>
          </a:bodyPr>
          <a:lstStyle/>
          <a:p>
            <a:pPr algn="l">
              <a:spcBef>
                <a:spcPts val="0"/>
              </a:spcBef>
              <a:spcAft>
                <a:spcPts val="300"/>
              </a:spcAft>
            </a:pPr>
            <a:r>
              <a:rPr sz="1400" b="1" i="0">
                <a:solidFill>
                  <a:srgbClr val="16181D"/>
                </a:solidFill>
                <a:latin typeface="Rockwell"/>
                <a:ea typeface="Rockwell"/>
                <a:cs typeface="Rockwell"/>
              </a:rPr>
              <a:t>Listas ya filtradas</a:t>
            </a:r>
          </a:p>
          <a:p>
            <a:pPr>
              <a:lnSpc>
                <a:spcPct val="115000"/>
              </a:lnSpc>
              <a:spcBef>
                <a:spcPts val="0"/>
              </a:spcBef>
              <a:spcAft>
                <a:spcPts val="0"/>
              </a:spcAft>
            </a:pPr>
            <a:r>
              <a:rPr sz="1200" b="0" i="0">
                <a:solidFill>
                  <a:srgbClr val="6B7280"/>
                </a:solidFill>
                <a:latin typeface="Verdana"/>
                <a:ea typeface="Verdana"/>
                <a:cs typeface="Verdana"/>
              </a:rPr>
              <a:t>Contraseñas que aparecieron en brechas de otros sitios. Es lo primero y lo más productivo.</a:t>
            </a:r>
          </a:p>
        </p:txBody>
      </p:sp>
      <p:sp>
        <p:nvSpPr>
          <p:cNvPr id="11" name="Rectangle 10"/>
          <p:cNvSpPr/>
          <p:nvPr/>
        </p:nvSpPr>
        <p:spPr>
          <a:xfrm>
            <a:off x="704088" y="2770632"/>
            <a:ext cx="10911535" cy="91440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40080" y="2706624"/>
            <a:ext cx="10911535" cy="91440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96112" y="2907792"/>
            <a:ext cx="640080" cy="512064"/>
          </a:xfrm>
          <a:prstGeom prst="rect">
            <a:avLst/>
          </a:prstGeom>
          <a:noFill/>
        </p:spPr>
        <p:txBody>
          <a:bodyPr wrap="square" lIns="0" rIns="0" tIns="0" bIns="0" anchor="ctr">
            <a:spAutoFit/>
          </a:bodyPr>
          <a:lstStyle/>
          <a:p>
            <a:pPr algn="l">
              <a:spcBef>
                <a:spcPts val="0"/>
              </a:spcBef>
              <a:spcAft>
                <a:spcPts val="0"/>
              </a:spcAft>
            </a:pPr>
            <a:r>
              <a:rPr sz="2400" b="1" i="0">
                <a:solidFill>
                  <a:srgbClr val="C9821B"/>
                </a:solidFill>
                <a:latin typeface="Rockwell"/>
                <a:ea typeface="Rockwell"/>
                <a:cs typeface="Rockwell"/>
              </a:rPr>
              <a:t>2</a:t>
            </a:r>
          </a:p>
        </p:txBody>
      </p:sp>
      <p:sp>
        <p:nvSpPr>
          <p:cNvPr id="14" name="TextBox 13"/>
          <p:cNvSpPr txBox="1"/>
          <p:nvPr/>
        </p:nvSpPr>
        <p:spPr>
          <a:xfrm>
            <a:off x="1645920" y="2889504"/>
            <a:ext cx="9631375" cy="594360"/>
          </a:xfrm>
          <a:prstGeom prst="rect">
            <a:avLst/>
          </a:prstGeom>
          <a:noFill/>
        </p:spPr>
        <p:txBody>
          <a:bodyPr wrap="square" lIns="0" rIns="0" tIns="0" bIns="0" anchor="t">
            <a:spAutoFit/>
          </a:bodyPr>
          <a:lstStyle/>
          <a:p>
            <a:pPr algn="l">
              <a:spcBef>
                <a:spcPts val="0"/>
              </a:spcBef>
              <a:spcAft>
                <a:spcPts val="300"/>
              </a:spcAft>
            </a:pPr>
            <a:r>
              <a:rPr sz="1400" b="1" i="0">
                <a:solidFill>
                  <a:srgbClr val="16181D"/>
                </a:solidFill>
                <a:latin typeface="Rockwell"/>
                <a:ea typeface="Rockwell"/>
                <a:cs typeface="Rockwell"/>
              </a:rPr>
              <a:t>Diccionarios con reglas</a:t>
            </a:r>
          </a:p>
          <a:p>
            <a:pPr>
              <a:lnSpc>
                <a:spcPct val="115000"/>
              </a:lnSpc>
              <a:spcBef>
                <a:spcPts val="0"/>
              </a:spcBef>
              <a:spcAft>
                <a:spcPts val="0"/>
              </a:spcAft>
            </a:pPr>
            <a:r>
              <a:rPr sz="1200" b="0" i="0">
                <a:solidFill>
                  <a:srgbClr val="6B7280"/>
                </a:solidFill>
                <a:latin typeface="Verdana"/>
                <a:ea typeface="Verdana"/>
                <a:cs typeface="Verdana"/>
              </a:rPr>
              <a:t>Palabras comunes más las sustituciones previsibles: a→@, e→3, o→0, agregar 123 o ! al final, mayúscula inicial.</a:t>
            </a:r>
          </a:p>
        </p:txBody>
      </p:sp>
      <p:sp>
        <p:nvSpPr>
          <p:cNvPr id="15" name="Rectangle 14"/>
          <p:cNvSpPr/>
          <p:nvPr/>
        </p:nvSpPr>
        <p:spPr>
          <a:xfrm>
            <a:off x="704088" y="3813048"/>
            <a:ext cx="10911535" cy="914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ectangle 15"/>
          <p:cNvSpPr/>
          <p:nvPr/>
        </p:nvSpPr>
        <p:spPr>
          <a:xfrm>
            <a:off x="640080" y="3749039"/>
            <a:ext cx="10911535" cy="91440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896112" y="3950207"/>
            <a:ext cx="640080" cy="512064"/>
          </a:xfrm>
          <a:prstGeom prst="rect">
            <a:avLst/>
          </a:prstGeom>
          <a:noFill/>
        </p:spPr>
        <p:txBody>
          <a:bodyPr wrap="square" lIns="0" rIns="0" tIns="0" bIns="0" anchor="ctr">
            <a:spAutoFit/>
          </a:bodyPr>
          <a:lstStyle/>
          <a:p>
            <a:pPr algn="l">
              <a:spcBef>
                <a:spcPts val="0"/>
              </a:spcBef>
              <a:spcAft>
                <a:spcPts val="0"/>
              </a:spcAft>
            </a:pPr>
            <a:r>
              <a:rPr sz="2400" b="1" i="0">
                <a:solidFill>
                  <a:srgbClr val="6B7280"/>
                </a:solidFill>
                <a:latin typeface="Rockwell"/>
                <a:ea typeface="Rockwell"/>
                <a:cs typeface="Rockwell"/>
              </a:rPr>
              <a:t>3</a:t>
            </a:r>
          </a:p>
        </p:txBody>
      </p:sp>
      <p:sp>
        <p:nvSpPr>
          <p:cNvPr id="18" name="TextBox 17"/>
          <p:cNvSpPr txBox="1"/>
          <p:nvPr/>
        </p:nvSpPr>
        <p:spPr>
          <a:xfrm>
            <a:off x="1645920" y="3931920"/>
            <a:ext cx="9631375" cy="594360"/>
          </a:xfrm>
          <a:prstGeom prst="rect">
            <a:avLst/>
          </a:prstGeom>
          <a:noFill/>
        </p:spPr>
        <p:txBody>
          <a:bodyPr wrap="square" lIns="0" rIns="0" tIns="0" bIns="0" anchor="t">
            <a:spAutoFit/>
          </a:bodyPr>
          <a:lstStyle/>
          <a:p>
            <a:pPr algn="l">
              <a:spcBef>
                <a:spcPts val="0"/>
              </a:spcBef>
              <a:spcAft>
                <a:spcPts val="300"/>
              </a:spcAft>
            </a:pPr>
            <a:r>
              <a:rPr sz="1400" b="1" i="0">
                <a:solidFill>
                  <a:srgbClr val="16181D"/>
                </a:solidFill>
                <a:latin typeface="Rockwell"/>
                <a:ea typeface="Rockwell"/>
                <a:cs typeface="Rockwell"/>
              </a:rPr>
              <a:t>Fuerza bruta</a:t>
            </a:r>
          </a:p>
          <a:p>
            <a:pPr>
              <a:lnSpc>
                <a:spcPct val="115000"/>
              </a:lnSpc>
              <a:spcBef>
                <a:spcPts val="0"/>
              </a:spcBef>
              <a:spcAft>
                <a:spcPts val="0"/>
              </a:spcAft>
            </a:pPr>
            <a:r>
              <a:rPr sz="1200" b="0" i="0">
                <a:solidFill>
                  <a:srgbClr val="6B7280"/>
                </a:solidFill>
                <a:latin typeface="Verdana"/>
                <a:ea typeface="Verdana"/>
                <a:cs typeface="Verdana"/>
              </a:rPr>
              <a:t>Todas las combinaciones. Es el último recurso porque es el más caro.</a:t>
            </a:r>
          </a:p>
        </p:txBody>
      </p:sp>
      <p:sp>
        <p:nvSpPr>
          <p:cNvPr id="19" name="Rectangle 18"/>
          <p:cNvSpPr/>
          <p:nvPr/>
        </p:nvSpPr>
        <p:spPr>
          <a:xfrm>
            <a:off x="704088" y="4910327"/>
            <a:ext cx="10911535" cy="96012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4846319"/>
            <a:ext cx="10911535" cy="960120"/>
          </a:xfrm>
          <a:prstGeom prst="rect">
            <a:avLst/>
          </a:prstGeom>
          <a:solidFill>
            <a:srgbClr val="FAE8EA"/>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914400" y="5010912"/>
            <a:ext cx="10362895" cy="685800"/>
          </a:xfrm>
          <a:prstGeom prst="rect">
            <a:avLst/>
          </a:prstGeom>
          <a:noFill/>
        </p:spPr>
        <p:txBody>
          <a:bodyPr wrap="square" lIns="0" rIns="0" tIns="0" bIns="0" anchor="t">
            <a:spAutoFit/>
          </a:bodyPr>
          <a:lstStyle/>
          <a:p>
            <a:pPr algn="l">
              <a:lnSpc>
                <a:spcPct val="120000"/>
              </a:lnSpc>
              <a:spcBef>
                <a:spcPts val="0"/>
              </a:spcBef>
              <a:spcAft>
                <a:spcPts val="300"/>
              </a:spcAft>
            </a:pPr>
            <a:r>
              <a:rPr sz="1500" b="1" i="0">
                <a:solidFill>
                  <a:srgbClr val="B02A37"/>
                </a:solidFill>
                <a:latin typeface="Rockwell"/>
                <a:ea typeface="Rockwell"/>
                <a:cs typeface="Rockwell"/>
              </a:rPr>
              <a:t>S3gur!d@ no es una contraseña difícil.</a:t>
            </a:r>
          </a:p>
          <a:p>
            <a:pPr>
              <a:lnSpc>
                <a:spcPct val="120000"/>
              </a:lnSpc>
              <a:spcBef>
                <a:spcPts val="0"/>
              </a:spcBef>
              <a:spcAft>
                <a:spcPts val="0"/>
              </a:spcAft>
            </a:pPr>
            <a:r>
              <a:rPr sz="1250" b="0" i="0">
                <a:solidFill>
                  <a:srgbClr val="16181D"/>
                </a:solidFill>
                <a:latin typeface="Verdana"/>
                <a:ea typeface="Verdana"/>
                <a:cs typeface="Verdana"/>
              </a:rPr>
              <a:t>Es «seguridad» con las cuatro sustituciones más previsibles del mundo. Cae en el paso 2, en segundos. Complicarla así no la hace fuerte: la hace incómoda.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ARITMÉTICA</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Por qué el largo le gana a la complejidad</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28</a:t>
            </a:r>
          </a:p>
        </p:txBody>
      </p:sp>
      <p:sp>
        <p:nvSpPr>
          <p:cNvPr id="7" name="Rectangle 6"/>
          <p:cNvSpPr/>
          <p:nvPr/>
        </p:nvSpPr>
        <p:spPr>
          <a:xfrm>
            <a:off x="640080" y="1801368"/>
            <a:ext cx="10911535" cy="34747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49808" y="1801368"/>
            <a:ext cx="3108868"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CONTRASEÑA</a:t>
            </a:r>
          </a:p>
        </p:txBody>
      </p:sp>
      <p:sp>
        <p:nvSpPr>
          <p:cNvPr id="9" name="TextBox 8"/>
          <p:cNvSpPr txBox="1"/>
          <p:nvPr/>
        </p:nvSpPr>
        <p:spPr>
          <a:xfrm>
            <a:off x="4023268" y="1801368"/>
            <a:ext cx="2235945"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CÓMO ESTÁ ARMADA</a:t>
            </a:r>
          </a:p>
        </p:txBody>
      </p:sp>
      <p:sp>
        <p:nvSpPr>
          <p:cNvPr id="10" name="TextBox 9"/>
          <p:cNvSpPr txBox="1"/>
          <p:nvPr/>
        </p:nvSpPr>
        <p:spPr>
          <a:xfrm>
            <a:off x="6423806" y="1801368"/>
            <a:ext cx="2672407"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COMBINACIONES</a:t>
            </a:r>
          </a:p>
        </p:txBody>
      </p:sp>
      <p:sp>
        <p:nvSpPr>
          <p:cNvPr id="11" name="TextBox 10"/>
          <p:cNvSpPr txBox="1"/>
          <p:nvPr/>
        </p:nvSpPr>
        <p:spPr>
          <a:xfrm>
            <a:off x="9260805" y="1801368"/>
            <a:ext cx="2235945"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TIEMPO</a:t>
            </a:r>
          </a:p>
        </p:txBody>
      </p:sp>
      <p:sp>
        <p:nvSpPr>
          <p:cNvPr id="12" name="Rectangle 11"/>
          <p:cNvSpPr/>
          <p:nvPr/>
        </p:nvSpPr>
        <p:spPr>
          <a:xfrm>
            <a:off x="640080" y="2148840"/>
            <a:ext cx="10911535" cy="457200"/>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749808" y="2148840"/>
            <a:ext cx="3108868"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16181D"/>
                </a:solidFill>
                <a:latin typeface="Courier New"/>
                <a:ea typeface="Courier New"/>
                <a:cs typeface="Courier New"/>
              </a:rPr>
              <a:t>montevid</a:t>
            </a:r>
          </a:p>
        </p:txBody>
      </p:sp>
      <p:sp>
        <p:nvSpPr>
          <p:cNvPr id="14" name="TextBox 13"/>
          <p:cNvSpPr txBox="1"/>
          <p:nvPr/>
        </p:nvSpPr>
        <p:spPr>
          <a:xfrm>
            <a:off x="4023268" y="21488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8 minúsculas</a:t>
            </a:r>
          </a:p>
        </p:txBody>
      </p:sp>
      <p:sp>
        <p:nvSpPr>
          <p:cNvPr id="15" name="TextBox 14"/>
          <p:cNvSpPr txBox="1"/>
          <p:nvPr/>
        </p:nvSpPr>
        <p:spPr>
          <a:xfrm>
            <a:off x="6423806" y="2148840"/>
            <a:ext cx="2672407"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Courier New"/>
                <a:ea typeface="Courier New"/>
                <a:cs typeface="Courier New"/>
              </a:rPr>
              <a:t>26⁸ ≈ 2,1 × 10¹¹</a:t>
            </a:r>
          </a:p>
        </p:txBody>
      </p:sp>
      <p:sp>
        <p:nvSpPr>
          <p:cNvPr id="16" name="TextBox 15"/>
          <p:cNvSpPr txBox="1"/>
          <p:nvPr/>
        </p:nvSpPr>
        <p:spPr>
          <a:xfrm>
            <a:off x="9260805" y="21488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21 segundos</a:t>
            </a:r>
          </a:p>
        </p:txBody>
      </p:sp>
      <p:sp>
        <p:nvSpPr>
          <p:cNvPr id="17" name="Rectangle 16"/>
          <p:cNvSpPr/>
          <p:nvPr/>
        </p:nvSpPr>
        <p:spPr>
          <a:xfrm>
            <a:off x="640080" y="2606040"/>
            <a:ext cx="10911535" cy="457200"/>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749808" y="2606040"/>
            <a:ext cx="3108868"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16181D"/>
                </a:solidFill>
                <a:latin typeface="Courier New"/>
                <a:ea typeface="Courier New"/>
                <a:cs typeface="Courier New"/>
              </a:rPr>
              <a:t>Segurid1</a:t>
            </a:r>
          </a:p>
        </p:txBody>
      </p:sp>
      <p:sp>
        <p:nvSpPr>
          <p:cNvPr id="19" name="TextBox 18"/>
          <p:cNvSpPr txBox="1"/>
          <p:nvPr/>
        </p:nvSpPr>
        <p:spPr>
          <a:xfrm>
            <a:off x="4023268" y="26060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8 alfanuméricas</a:t>
            </a:r>
          </a:p>
        </p:txBody>
      </p:sp>
      <p:sp>
        <p:nvSpPr>
          <p:cNvPr id="20" name="TextBox 19"/>
          <p:cNvSpPr txBox="1"/>
          <p:nvPr/>
        </p:nvSpPr>
        <p:spPr>
          <a:xfrm>
            <a:off x="6423806" y="2606040"/>
            <a:ext cx="2672407"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Courier New"/>
                <a:ea typeface="Courier New"/>
                <a:cs typeface="Courier New"/>
              </a:rPr>
              <a:t>62⁸ ≈ 2,2 × 10¹⁴</a:t>
            </a:r>
          </a:p>
        </p:txBody>
      </p:sp>
      <p:sp>
        <p:nvSpPr>
          <p:cNvPr id="21" name="TextBox 20"/>
          <p:cNvSpPr txBox="1"/>
          <p:nvPr/>
        </p:nvSpPr>
        <p:spPr>
          <a:xfrm>
            <a:off x="9260805" y="26060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6 horas</a:t>
            </a:r>
          </a:p>
        </p:txBody>
      </p:sp>
      <p:sp>
        <p:nvSpPr>
          <p:cNvPr id="22" name="Rectangle 21"/>
          <p:cNvSpPr/>
          <p:nvPr/>
        </p:nvSpPr>
        <p:spPr>
          <a:xfrm>
            <a:off x="640080" y="3063240"/>
            <a:ext cx="10911535" cy="457200"/>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749808" y="3063240"/>
            <a:ext cx="3108868"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16181D"/>
                </a:solidFill>
                <a:latin typeface="Courier New"/>
                <a:ea typeface="Courier New"/>
                <a:cs typeface="Courier New"/>
              </a:rPr>
              <a:t>S3gur!d@</a:t>
            </a:r>
          </a:p>
        </p:txBody>
      </p:sp>
      <p:sp>
        <p:nvSpPr>
          <p:cNvPr id="24" name="TextBox 23"/>
          <p:cNvSpPr txBox="1"/>
          <p:nvPr/>
        </p:nvSpPr>
        <p:spPr>
          <a:xfrm>
            <a:off x="4023268" y="30632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8 con símbolos</a:t>
            </a:r>
          </a:p>
        </p:txBody>
      </p:sp>
      <p:sp>
        <p:nvSpPr>
          <p:cNvPr id="25" name="TextBox 24"/>
          <p:cNvSpPr txBox="1"/>
          <p:nvPr/>
        </p:nvSpPr>
        <p:spPr>
          <a:xfrm>
            <a:off x="6423806" y="3063240"/>
            <a:ext cx="2672407"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Courier New"/>
                <a:ea typeface="Courier New"/>
                <a:cs typeface="Courier New"/>
              </a:rPr>
              <a:t>95⁸ ≈ 6,6 × 10¹⁵</a:t>
            </a:r>
          </a:p>
        </p:txBody>
      </p:sp>
      <p:sp>
        <p:nvSpPr>
          <p:cNvPr id="26" name="TextBox 25"/>
          <p:cNvSpPr txBox="1"/>
          <p:nvPr/>
        </p:nvSpPr>
        <p:spPr>
          <a:xfrm>
            <a:off x="9260805" y="30632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C9821B"/>
                </a:solidFill>
                <a:latin typeface="Verdana"/>
                <a:ea typeface="Verdana"/>
                <a:cs typeface="Verdana"/>
              </a:rPr>
              <a:t>8 días</a:t>
            </a:r>
          </a:p>
        </p:txBody>
      </p:sp>
      <p:sp>
        <p:nvSpPr>
          <p:cNvPr id="27" name="Rectangle 26"/>
          <p:cNvSpPr/>
          <p:nvPr/>
        </p:nvSpPr>
        <p:spPr>
          <a:xfrm>
            <a:off x="640080" y="3520440"/>
            <a:ext cx="10911535" cy="457200"/>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TextBox 27"/>
          <p:cNvSpPr txBox="1"/>
          <p:nvPr/>
        </p:nvSpPr>
        <p:spPr>
          <a:xfrm>
            <a:off x="749808" y="3520440"/>
            <a:ext cx="3108868"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16181D"/>
                </a:solidFill>
                <a:latin typeface="Courier New"/>
                <a:ea typeface="Courier New"/>
                <a:cs typeface="Courier New"/>
              </a:rPr>
              <a:t>caballoverde</a:t>
            </a:r>
          </a:p>
        </p:txBody>
      </p:sp>
      <p:sp>
        <p:nvSpPr>
          <p:cNvPr id="29" name="TextBox 28"/>
          <p:cNvSpPr txBox="1"/>
          <p:nvPr/>
        </p:nvSpPr>
        <p:spPr>
          <a:xfrm>
            <a:off x="4023268" y="35204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12 minúsculas</a:t>
            </a:r>
          </a:p>
        </p:txBody>
      </p:sp>
      <p:sp>
        <p:nvSpPr>
          <p:cNvPr id="30" name="TextBox 29"/>
          <p:cNvSpPr txBox="1"/>
          <p:nvPr/>
        </p:nvSpPr>
        <p:spPr>
          <a:xfrm>
            <a:off x="6423806" y="3520440"/>
            <a:ext cx="2672407"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Courier New"/>
                <a:ea typeface="Courier New"/>
                <a:cs typeface="Courier New"/>
              </a:rPr>
              <a:t>26¹² ≈ 9,5 × 10¹⁶</a:t>
            </a:r>
          </a:p>
        </p:txBody>
      </p:sp>
      <p:sp>
        <p:nvSpPr>
          <p:cNvPr id="31" name="TextBox 30"/>
          <p:cNvSpPr txBox="1"/>
          <p:nvPr/>
        </p:nvSpPr>
        <p:spPr>
          <a:xfrm>
            <a:off x="9260805" y="3520440"/>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Verdana"/>
                <a:ea typeface="Verdana"/>
                <a:cs typeface="Verdana"/>
              </a:rPr>
              <a:t>110 días</a:t>
            </a:r>
          </a:p>
        </p:txBody>
      </p:sp>
      <p:sp>
        <p:nvSpPr>
          <p:cNvPr id="32" name="Rectangle 31"/>
          <p:cNvSpPr/>
          <p:nvPr/>
        </p:nvSpPr>
        <p:spPr>
          <a:xfrm>
            <a:off x="640080" y="3977639"/>
            <a:ext cx="10911535" cy="457200"/>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749808" y="3977639"/>
            <a:ext cx="3108868" cy="457200"/>
          </a:xfrm>
          <a:prstGeom prst="rect">
            <a:avLst/>
          </a:prstGeom>
          <a:noFill/>
        </p:spPr>
        <p:txBody>
          <a:bodyPr wrap="square" lIns="0" rIns="0" tIns="0" bIns="0" anchor="ctr">
            <a:spAutoFit/>
          </a:bodyPr>
          <a:lstStyle/>
          <a:p>
            <a:pPr algn="l">
              <a:lnSpc>
                <a:spcPct val="105000"/>
              </a:lnSpc>
              <a:spcBef>
                <a:spcPts val="0"/>
              </a:spcBef>
              <a:spcAft>
                <a:spcPts val="0"/>
              </a:spcAft>
            </a:pPr>
            <a:r>
              <a:rPr sz="1000" b="1" i="0">
                <a:solidFill>
                  <a:srgbClr val="16181D"/>
                </a:solidFill>
                <a:latin typeface="Courier New"/>
                <a:ea typeface="Courier New"/>
                <a:cs typeface="Courier New"/>
              </a:rPr>
              <a:t>tren lampara queso arena bicho</a:t>
            </a:r>
          </a:p>
        </p:txBody>
      </p:sp>
      <p:sp>
        <p:nvSpPr>
          <p:cNvPr id="34" name="TextBox 33"/>
          <p:cNvSpPr txBox="1"/>
          <p:nvPr/>
        </p:nvSpPr>
        <p:spPr>
          <a:xfrm>
            <a:off x="4023268" y="3977639"/>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5 palabras al azar</a:t>
            </a:r>
          </a:p>
        </p:txBody>
      </p:sp>
      <p:sp>
        <p:nvSpPr>
          <p:cNvPr id="35" name="TextBox 34"/>
          <p:cNvSpPr txBox="1"/>
          <p:nvPr/>
        </p:nvSpPr>
        <p:spPr>
          <a:xfrm>
            <a:off x="6423806" y="3977639"/>
            <a:ext cx="2672407"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Courier New"/>
                <a:ea typeface="Courier New"/>
                <a:cs typeface="Courier New"/>
              </a:rPr>
              <a:t>7776⁵ ≈ 2,8 × 10¹⁹</a:t>
            </a:r>
          </a:p>
        </p:txBody>
      </p:sp>
      <p:sp>
        <p:nvSpPr>
          <p:cNvPr id="36" name="TextBox 35"/>
          <p:cNvSpPr txBox="1"/>
          <p:nvPr/>
        </p:nvSpPr>
        <p:spPr>
          <a:xfrm>
            <a:off x="9260805" y="3977639"/>
            <a:ext cx="2235945" cy="457200"/>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Verdana"/>
                <a:ea typeface="Verdana"/>
                <a:cs typeface="Verdana"/>
              </a:rPr>
              <a:t>90 años</a:t>
            </a:r>
          </a:p>
        </p:txBody>
      </p:sp>
      <p:sp>
        <p:nvSpPr>
          <p:cNvPr id="37" name="TextBox 36"/>
          <p:cNvSpPr txBox="1"/>
          <p:nvPr/>
        </p:nvSpPr>
        <p:spPr>
          <a:xfrm>
            <a:off x="640080" y="1499616"/>
            <a:ext cx="10911535" cy="274320"/>
          </a:xfrm>
          <a:prstGeom prst="rect">
            <a:avLst/>
          </a:prstGeom>
          <a:noFill/>
        </p:spPr>
        <p:txBody>
          <a:bodyPr wrap="square" lIns="0" rIns="0" tIns="0" bIns="0" anchor="t">
            <a:spAutoFit/>
          </a:bodyPr>
          <a:lstStyle/>
          <a:p>
            <a:pPr algn="l">
              <a:spcBef>
                <a:spcPts val="0"/>
              </a:spcBef>
              <a:spcAft>
                <a:spcPts val="0"/>
              </a:spcAft>
            </a:pPr>
            <a:r>
              <a:rPr sz="1100" b="0" i="1">
                <a:solidFill>
                  <a:srgbClr val="6B7280"/>
                </a:solidFill>
                <a:latin typeface="Verdana"/>
                <a:ea typeface="Verdana"/>
                <a:cs typeface="Verdana"/>
              </a:rPr>
              <a:t>Suponiendo un atacante que prueba 10.000 millones de candidatos por segundo, contra un hash rápido y trabajando offline.</a:t>
            </a:r>
          </a:p>
        </p:txBody>
      </p:sp>
      <p:sp>
        <p:nvSpPr>
          <p:cNvPr id="38" name="Rectangle 37"/>
          <p:cNvSpPr/>
          <p:nvPr/>
        </p:nvSpPr>
        <p:spPr>
          <a:xfrm>
            <a:off x="704088" y="4672584"/>
            <a:ext cx="10911535" cy="1078992"/>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Rectangle 38"/>
          <p:cNvSpPr/>
          <p:nvPr/>
        </p:nvSpPr>
        <p:spPr>
          <a:xfrm>
            <a:off x="640080" y="4608576"/>
            <a:ext cx="10911535" cy="1078992"/>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TextBox 39"/>
          <p:cNvSpPr txBox="1"/>
          <p:nvPr/>
        </p:nvSpPr>
        <p:spPr>
          <a:xfrm>
            <a:off x="640080" y="4608576"/>
            <a:ext cx="10911535" cy="1078992"/>
          </a:xfrm>
          <a:prstGeom prst="rect">
            <a:avLst/>
          </a:prstGeom>
          <a:noFill/>
        </p:spPr>
        <p:txBody>
          <a:bodyPr wrap="square" lIns="0" rIns="0" tIns="0" bIns="0" anchor="ctr">
            <a:spAutoFit/>
          </a:bodyPr>
          <a:lstStyle/>
          <a:p>
            <a:pPr algn="ctr">
              <a:spcBef>
                <a:spcPts val="0"/>
              </a:spcBef>
              <a:spcAft>
                <a:spcPts val="600"/>
              </a:spcAft>
            </a:pPr>
            <a:r>
              <a:rPr sz="1600" b="1" i="0">
                <a:solidFill>
                  <a:srgbClr val="16181D"/>
                </a:solidFill>
                <a:latin typeface="Rockwell"/>
                <a:ea typeface="Rockwell"/>
                <a:cs typeface="Rockwell"/>
              </a:rPr>
              <a:t>Doce letras minúsculas aguantan catorce veces más que ocho caracteres con símbolos.</a:t>
            </a:r>
          </a:p>
          <a:p>
            <a:pPr algn="ctr">
              <a:spcBef>
                <a:spcPts val="0"/>
              </a:spcBef>
              <a:spcAft>
                <a:spcPts val="0"/>
              </a:spcAft>
            </a:pPr>
            <a:r>
              <a:rPr sz="1350" b="1" i="0">
                <a:solidFill>
                  <a:srgbClr val="5B34C7"/>
                </a:solidFill>
                <a:latin typeface="Verdana"/>
                <a:ea typeface="Verdana"/>
                <a:cs typeface="Verdana"/>
              </a:rPr>
              <a:t>Cada carácter que agregás multiplica. Cada símbolo raro apenas suma.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LETRA CHICA</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Dos advertencias sobre esa tabla</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29</a:t>
            </a:r>
          </a:p>
        </p:txBody>
      </p:sp>
      <p:sp>
        <p:nvSpPr>
          <p:cNvPr id="7" name="Rectangle 6"/>
          <p:cNvSpPr/>
          <p:nvPr/>
        </p:nvSpPr>
        <p:spPr>
          <a:xfrm>
            <a:off x="704088" y="1728216"/>
            <a:ext cx="5257800" cy="2240280"/>
          </a:xfrm>
          <a:prstGeom prst="rect">
            <a:avLst/>
          </a:prstGeom>
          <a:solidFill>
            <a:srgbClr val="C982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64208"/>
            <a:ext cx="5257800" cy="224028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77824" y="1847088"/>
            <a:ext cx="4782312" cy="1874520"/>
          </a:xfrm>
          <a:prstGeom prst="rect">
            <a:avLst/>
          </a:prstGeom>
          <a:noFill/>
        </p:spPr>
        <p:txBody>
          <a:bodyPr wrap="square" lIns="0" rIns="0" tIns="0" bIns="0" anchor="t">
            <a:spAutoFit/>
          </a:bodyPr>
          <a:lstStyle/>
          <a:p>
            <a:pPr algn="l">
              <a:spcBef>
                <a:spcPts val="0"/>
              </a:spcBef>
              <a:spcAft>
                <a:spcPts val="600"/>
              </a:spcAft>
            </a:pPr>
            <a:r>
              <a:rPr sz="1500" b="1" i="0">
                <a:solidFill>
                  <a:srgbClr val="C9821B"/>
                </a:solidFill>
                <a:latin typeface="Rockwell"/>
                <a:ea typeface="Rockwell"/>
                <a:cs typeface="Rockwell"/>
              </a:rPr>
              <a:t>1 · Solo vale si es al azar</a:t>
            </a:r>
          </a:p>
          <a:p>
            <a:pPr>
              <a:lnSpc>
                <a:spcPct val="118000"/>
              </a:lnSpc>
              <a:spcBef>
                <a:spcPts val="0"/>
              </a:spcBef>
              <a:spcAft>
                <a:spcPts val="300"/>
              </a:spcAft>
            </a:pPr>
            <a:r>
              <a:rPr sz="1250" b="0" i="0">
                <a:solidFill>
                  <a:srgbClr val="16181D"/>
                </a:solidFill>
                <a:latin typeface="Verdana"/>
                <a:ea typeface="Verdana"/>
                <a:cs typeface="Verdana"/>
              </a:rPr>
              <a:t>Los tiempos son el techo, no la garantía. S3gur!d@ nunca llega a sus 6,6 × 10¹⁵ combinaciones porque no es aleatoria: cae en el paso 2 del ataque, en segundos. La cuenta mide el espacio posible, no el camino que recorre el atacante.</a:t>
            </a:r>
          </a:p>
        </p:txBody>
      </p:sp>
      <p:sp>
        <p:nvSpPr>
          <p:cNvPr id="10" name="Rectangle 9"/>
          <p:cNvSpPr/>
          <p:nvPr/>
        </p:nvSpPr>
        <p:spPr>
          <a:xfrm>
            <a:off x="6355080" y="1728216"/>
            <a:ext cx="5257800" cy="224028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6291072" y="1664208"/>
            <a:ext cx="5257800" cy="224028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528816" y="1847088"/>
            <a:ext cx="4782312" cy="1874520"/>
          </a:xfrm>
          <a:prstGeom prst="rect">
            <a:avLst/>
          </a:prstGeom>
          <a:noFill/>
        </p:spPr>
        <p:txBody>
          <a:bodyPr wrap="square" lIns="0" rIns="0" tIns="0" bIns="0" anchor="t">
            <a:spAutoFit/>
          </a:bodyPr>
          <a:lstStyle/>
          <a:p>
            <a:pPr algn="l">
              <a:spcBef>
                <a:spcPts val="0"/>
              </a:spcBef>
              <a:spcAft>
                <a:spcPts val="600"/>
              </a:spcAft>
            </a:pPr>
            <a:r>
              <a:rPr sz="1500" b="1" i="0">
                <a:solidFill>
                  <a:srgbClr val="0E7C66"/>
                </a:solidFill>
                <a:latin typeface="Rockwell"/>
                <a:ea typeface="Rockwell"/>
                <a:cs typeface="Rockwell"/>
              </a:rPr>
              <a:t>2 · Solo vale para un hash rápido</a:t>
            </a:r>
          </a:p>
          <a:p>
            <a:pPr>
              <a:lnSpc>
                <a:spcPct val="118000"/>
              </a:lnSpc>
              <a:spcBef>
                <a:spcPts val="0"/>
              </a:spcBef>
              <a:spcAft>
                <a:spcPts val="300"/>
              </a:spcAft>
            </a:pPr>
            <a:r>
              <a:rPr sz="1250" b="0" i="0">
                <a:solidFill>
                  <a:srgbClr val="16181D"/>
                </a:solidFill>
                <a:latin typeface="Verdana"/>
                <a:ea typeface="Verdana"/>
                <a:cs typeface="Verdana"/>
              </a:rPr>
              <a:t>Los sistemas serios usan funciones lentas a propósito (bcrypt, Argon2), diseñadas para que cada intento cueste. Con ellas los mismos números se vuelven años. La velocidad del ataque depende tanto de cómo guardó el sistema como de qué eligió el usuario.</a:t>
            </a:r>
          </a:p>
        </p:txBody>
      </p:sp>
      <p:sp>
        <p:nvSpPr>
          <p:cNvPr id="13" name="Rectangle 12"/>
          <p:cNvSpPr/>
          <p:nvPr/>
        </p:nvSpPr>
        <p:spPr>
          <a:xfrm>
            <a:off x="704088" y="4197096"/>
            <a:ext cx="10911535" cy="118872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640080" y="4133087"/>
            <a:ext cx="10911535" cy="1188720"/>
          </a:xfrm>
          <a:prstGeom prst="rect">
            <a:avLst/>
          </a:prstGeom>
          <a:solidFill>
            <a:srgbClr val="FAE8EA"/>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640080" y="4133087"/>
            <a:ext cx="10911535" cy="1188720"/>
          </a:xfrm>
          <a:prstGeom prst="rect">
            <a:avLst/>
          </a:prstGeom>
          <a:noFill/>
        </p:spPr>
        <p:txBody>
          <a:bodyPr wrap="square" lIns="0" rIns="0" tIns="0" bIns="0" anchor="ctr">
            <a:spAutoFit/>
          </a:bodyPr>
          <a:lstStyle/>
          <a:p>
            <a:pPr algn="ctr">
              <a:spcBef>
                <a:spcPts val="0"/>
              </a:spcBef>
              <a:spcAft>
                <a:spcPts val="600"/>
              </a:spcAft>
            </a:pPr>
            <a:r>
              <a:rPr sz="1350" b="0" i="0">
                <a:solidFill>
                  <a:srgbClr val="6B7280"/>
                </a:solidFill>
                <a:latin typeface="Verdana"/>
                <a:ea typeface="Verdana"/>
                <a:cs typeface="Verdana"/>
              </a:rPr>
              <a:t>Y la regla que ninguna cuenta arregla:</a:t>
            </a:r>
          </a:p>
          <a:p>
            <a:pPr algn="ctr">
              <a:spcBef>
                <a:spcPts val="0"/>
              </a:spcBef>
              <a:spcAft>
                <a:spcPts val="0"/>
              </a:spcAft>
            </a:pPr>
            <a:r>
              <a:rPr sz="1700" b="1" i="0">
                <a:solidFill>
                  <a:srgbClr val="B02A37"/>
                </a:solidFill>
                <a:latin typeface="Rockwell"/>
                <a:ea typeface="Rockwell"/>
                <a:cs typeface="Rockwell"/>
              </a:rPr>
              <a:t>una contraseña reusada vale lo que vale el sitio más débil donde la usaste.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ESTÁNDAR VIGENTE</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Qué dice el NIST (julio de 2025)</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30</a:t>
            </a:r>
          </a:p>
        </p:txBody>
      </p:sp>
      <p:sp>
        <p:nvSpPr>
          <p:cNvPr id="7" name="Rectangle 6"/>
          <p:cNvSpPr/>
          <p:nvPr/>
        </p:nvSpPr>
        <p:spPr>
          <a:xfrm>
            <a:off x="640080" y="1591056"/>
            <a:ext cx="10911535" cy="347472"/>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749808" y="1591056"/>
            <a:ext cx="3327099"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REGLA</a:t>
            </a:r>
          </a:p>
        </p:txBody>
      </p:sp>
      <p:sp>
        <p:nvSpPr>
          <p:cNvPr id="9" name="TextBox 8"/>
          <p:cNvSpPr txBox="1"/>
          <p:nvPr/>
        </p:nvSpPr>
        <p:spPr>
          <a:xfrm>
            <a:off x="4241499" y="1591056"/>
            <a:ext cx="7255251" cy="347472"/>
          </a:xfrm>
          <a:prstGeom prst="rect">
            <a:avLst/>
          </a:prstGeom>
          <a:noFill/>
        </p:spPr>
        <p:txBody>
          <a:bodyPr wrap="square" lIns="0" rIns="0" tIns="0" bIns="0" anchor="ctr">
            <a:spAutoFit/>
          </a:bodyPr>
          <a:lstStyle/>
          <a:p>
            <a:pPr algn="l">
              <a:spcBef>
                <a:spcPts val="0"/>
              </a:spcBef>
              <a:spcAft>
                <a:spcPts val="0"/>
              </a:spcAft>
            </a:pPr>
            <a:r>
              <a:rPr sz="1050" b="1" i="0" spc="120">
                <a:solidFill>
                  <a:srgbClr val="FFFFFF"/>
                </a:solidFill>
                <a:latin typeface="Verdana"/>
                <a:ea typeface="Verdana"/>
                <a:cs typeface="Verdana"/>
              </a:rPr>
              <a:t>DETALLE</a:t>
            </a:r>
          </a:p>
        </p:txBody>
      </p:sp>
      <p:sp>
        <p:nvSpPr>
          <p:cNvPr id="10" name="Rectangle 9"/>
          <p:cNvSpPr/>
          <p:nvPr/>
        </p:nvSpPr>
        <p:spPr>
          <a:xfrm>
            <a:off x="640080" y="1938528"/>
            <a:ext cx="10911535" cy="402336"/>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749808" y="1938528"/>
            <a:ext cx="3327099"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16181D"/>
                </a:solidFill>
                <a:latin typeface="Verdana"/>
                <a:ea typeface="Verdana"/>
                <a:cs typeface="Verdana"/>
              </a:rPr>
              <a:t>Largo mínimo 15</a:t>
            </a:r>
          </a:p>
        </p:txBody>
      </p:sp>
      <p:sp>
        <p:nvSpPr>
          <p:cNvPr id="12" name="TextBox 11"/>
          <p:cNvSpPr txBox="1"/>
          <p:nvPr/>
        </p:nvSpPr>
        <p:spPr>
          <a:xfrm>
            <a:off x="4241499" y="1938528"/>
            <a:ext cx="7255251"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Si la contraseña es el único factor. Con segundo factor, alcanza con 8.</a:t>
            </a:r>
          </a:p>
        </p:txBody>
      </p:sp>
      <p:sp>
        <p:nvSpPr>
          <p:cNvPr id="13" name="Rectangle 12"/>
          <p:cNvSpPr/>
          <p:nvPr/>
        </p:nvSpPr>
        <p:spPr>
          <a:xfrm>
            <a:off x="640080" y="2340864"/>
            <a:ext cx="10911535" cy="402336"/>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TextBox 13"/>
          <p:cNvSpPr txBox="1"/>
          <p:nvPr/>
        </p:nvSpPr>
        <p:spPr>
          <a:xfrm>
            <a:off x="749808" y="2340864"/>
            <a:ext cx="3327099"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16181D"/>
                </a:solidFill>
                <a:latin typeface="Verdana"/>
                <a:ea typeface="Verdana"/>
                <a:cs typeface="Verdana"/>
              </a:rPr>
              <a:t>Permitir hasta 64</a:t>
            </a:r>
          </a:p>
        </p:txBody>
      </p:sp>
      <p:sp>
        <p:nvSpPr>
          <p:cNvPr id="15" name="TextBox 14"/>
          <p:cNvSpPr txBox="1"/>
          <p:nvPr/>
        </p:nvSpPr>
        <p:spPr>
          <a:xfrm>
            <a:off x="4241499" y="2340864"/>
            <a:ext cx="7255251"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Y aceptar espacios y cualquier carácter imprimible.</a:t>
            </a:r>
          </a:p>
        </p:txBody>
      </p:sp>
      <p:sp>
        <p:nvSpPr>
          <p:cNvPr id="16" name="Rectangle 15"/>
          <p:cNvSpPr/>
          <p:nvPr/>
        </p:nvSpPr>
        <p:spPr>
          <a:xfrm>
            <a:off x="640080" y="2743200"/>
            <a:ext cx="10911535" cy="402336"/>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749808" y="2743200"/>
            <a:ext cx="3327099"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NO exigir mezclas</a:t>
            </a:r>
          </a:p>
        </p:txBody>
      </p:sp>
      <p:sp>
        <p:nvSpPr>
          <p:cNvPr id="18" name="TextBox 17"/>
          <p:cNvSpPr txBox="1"/>
          <p:nvPr/>
        </p:nvSpPr>
        <p:spPr>
          <a:xfrm>
            <a:off x="4241499" y="2743200"/>
            <a:ext cx="7255251"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Prohibido obligar a «una mayúscula, un número y un símbolo».</a:t>
            </a:r>
          </a:p>
        </p:txBody>
      </p:sp>
      <p:sp>
        <p:nvSpPr>
          <p:cNvPr id="19" name="Rectangle 18"/>
          <p:cNvSpPr/>
          <p:nvPr/>
        </p:nvSpPr>
        <p:spPr>
          <a:xfrm>
            <a:off x="640080" y="3145536"/>
            <a:ext cx="10911535" cy="402336"/>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749808" y="3145536"/>
            <a:ext cx="3327099"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NO obligar a cambiarla</a:t>
            </a:r>
          </a:p>
        </p:txBody>
      </p:sp>
      <p:sp>
        <p:nvSpPr>
          <p:cNvPr id="21" name="TextBox 20"/>
          <p:cNvSpPr txBox="1"/>
          <p:nvPr/>
        </p:nvSpPr>
        <p:spPr>
          <a:xfrm>
            <a:off x="4241499" y="3145536"/>
            <a:ext cx="7255251"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Nada de cada 90 días. Solo se fuerza el cambio si hay indicio de filtración.</a:t>
            </a:r>
          </a:p>
        </p:txBody>
      </p:sp>
      <p:sp>
        <p:nvSpPr>
          <p:cNvPr id="22" name="Rectangle 21"/>
          <p:cNvSpPr/>
          <p:nvPr/>
        </p:nvSpPr>
        <p:spPr>
          <a:xfrm>
            <a:off x="640080" y="3547872"/>
            <a:ext cx="10911535" cy="402336"/>
          </a:xfrm>
          <a:prstGeom prst="rect">
            <a:avLst/>
          </a:prstGeom>
          <a:solidFill>
            <a:srgbClr val="FFFFFF"/>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TextBox 22"/>
          <p:cNvSpPr txBox="1"/>
          <p:nvPr/>
        </p:nvSpPr>
        <p:spPr>
          <a:xfrm>
            <a:off x="749808" y="3547872"/>
            <a:ext cx="3327099"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0E7C66"/>
                </a:solidFill>
                <a:latin typeface="Verdana"/>
                <a:ea typeface="Verdana"/>
                <a:cs typeface="Verdana"/>
              </a:rPr>
              <a:t>SÍ comparar contra listas</a:t>
            </a:r>
          </a:p>
        </p:txBody>
      </p:sp>
      <p:sp>
        <p:nvSpPr>
          <p:cNvPr id="24" name="TextBox 23"/>
          <p:cNvSpPr txBox="1"/>
          <p:nvPr/>
        </p:nvSpPr>
        <p:spPr>
          <a:xfrm>
            <a:off x="4241499" y="3547872"/>
            <a:ext cx="7255251"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Rechazar las que ya aparecieron en filtraciones o son demasiado comunes.</a:t>
            </a:r>
          </a:p>
        </p:txBody>
      </p:sp>
      <p:sp>
        <p:nvSpPr>
          <p:cNvPr id="25" name="Rectangle 24"/>
          <p:cNvSpPr/>
          <p:nvPr/>
        </p:nvSpPr>
        <p:spPr>
          <a:xfrm>
            <a:off x="640080" y="3950208"/>
            <a:ext cx="10911535" cy="402336"/>
          </a:xfrm>
          <a:prstGeom prst="rect">
            <a:avLst/>
          </a:prstGeom>
          <a:solidFill>
            <a:srgbClr val="F6F7FA"/>
          </a:solidFill>
          <a:ln w="9525">
            <a:solidFill>
              <a:srgbClr val="C7CCD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TextBox 25"/>
          <p:cNvSpPr txBox="1"/>
          <p:nvPr/>
        </p:nvSpPr>
        <p:spPr>
          <a:xfrm>
            <a:off x="749808" y="3950208"/>
            <a:ext cx="3327099"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1" i="0">
                <a:solidFill>
                  <a:srgbClr val="B02A37"/>
                </a:solidFill>
                <a:latin typeface="Verdana"/>
                <a:ea typeface="Verdana"/>
                <a:cs typeface="Verdana"/>
              </a:rPr>
              <a:t>Nada de preguntas de seguridad</a:t>
            </a:r>
          </a:p>
        </p:txBody>
      </p:sp>
      <p:sp>
        <p:nvSpPr>
          <p:cNvPr id="27" name="TextBox 26"/>
          <p:cNvSpPr txBox="1"/>
          <p:nvPr/>
        </p:nvSpPr>
        <p:spPr>
          <a:xfrm>
            <a:off x="4241499" y="3950208"/>
            <a:ext cx="7255251" cy="402336"/>
          </a:xfrm>
          <a:prstGeom prst="rect">
            <a:avLst/>
          </a:prstGeom>
          <a:noFill/>
        </p:spPr>
        <p:txBody>
          <a:bodyPr wrap="square" lIns="0" rIns="0" tIns="0" bIns="0" anchor="ctr">
            <a:spAutoFit/>
          </a:bodyPr>
          <a:lstStyle/>
          <a:p>
            <a:pPr algn="l">
              <a:lnSpc>
                <a:spcPct val="105000"/>
              </a:lnSpc>
              <a:spcBef>
                <a:spcPts val="0"/>
              </a:spcBef>
              <a:spcAft>
                <a:spcPts val="0"/>
              </a:spcAft>
            </a:pPr>
            <a:r>
              <a:rPr sz="1100" b="0" i="0">
                <a:solidFill>
                  <a:srgbClr val="16181D"/>
                </a:solidFill>
                <a:latin typeface="Verdana"/>
                <a:ea typeface="Verdana"/>
                <a:cs typeface="Verdana"/>
              </a:rPr>
              <a:t>«El nombre de tu primera mascota» no es un secreto: está en tus redes.</a:t>
            </a:r>
          </a:p>
        </p:txBody>
      </p:sp>
      <p:sp>
        <p:nvSpPr>
          <p:cNvPr id="28" name="Rectangle 27"/>
          <p:cNvSpPr/>
          <p:nvPr/>
        </p:nvSpPr>
        <p:spPr>
          <a:xfrm>
            <a:off x="704088" y="4489704"/>
            <a:ext cx="5257800" cy="1207008"/>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Rectangle 28"/>
          <p:cNvSpPr/>
          <p:nvPr/>
        </p:nvSpPr>
        <p:spPr>
          <a:xfrm>
            <a:off x="640080" y="4425696"/>
            <a:ext cx="5257800" cy="120700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TextBox 29"/>
          <p:cNvSpPr txBox="1"/>
          <p:nvPr/>
        </p:nvSpPr>
        <p:spPr>
          <a:xfrm>
            <a:off x="877824" y="4608576"/>
            <a:ext cx="4782312" cy="841248"/>
          </a:xfrm>
          <a:prstGeom prst="rect">
            <a:avLst/>
          </a:prstGeom>
          <a:noFill/>
        </p:spPr>
        <p:txBody>
          <a:bodyPr wrap="square" lIns="0" rIns="0" tIns="0" bIns="0" anchor="t">
            <a:spAutoFit/>
          </a:bodyPr>
          <a:lstStyle/>
          <a:p>
            <a:pPr algn="l">
              <a:spcBef>
                <a:spcPts val="0"/>
              </a:spcBef>
              <a:spcAft>
                <a:spcPts val="600"/>
              </a:spcAft>
            </a:pPr>
            <a:r>
              <a:rPr sz="1400" b="1" i="0">
                <a:solidFill>
                  <a:srgbClr val="5B34C7"/>
                </a:solidFill>
                <a:latin typeface="Rockwell"/>
                <a:ea typeface="Rockwell"/>
                <a:cs typeface="Rockwell"/>
              </a:rPr>
              <a:t>¿Por qué se cayó lo de los 90 días?</a:t>
            </a:r>
          </a:p>
          <a:p>
            <a:pPr>
              <a:lnSpc>
                <a:spcPct val="118000"/>
              </a:lnSpc>
              <a:spcBef>
                <a:spcPts val="0"/>
              </a:spcBef>
              <a:spcAft>
                <a:spcPts val="300"/>
              </a:spcAft>
            </a:pPr>
            <a:r>
              <a:rPr sz="1250" b="0" i="0">
                <a:solidFill>
                  <a:srgbClr val="16181D"/>
                </a:solidFill>
                <a:latin typeface="Verdana"/>
                <a:ea typeface="Verdana"/>
                <a:cs typeface="Verdana"/>
              </a:rPr>
              <a:t>Porque empeoraba las contraseñas. La gente no inventa una nueva: pasa de Marzo2026! a Junio2026!.</a:t>
            </a:r>
          </a:p>
        </p:txBody>
      </p:sp>
      <p:sp>
        <p:nvSpPr>
          <p:cNvPr id="31" name="Rectangle 30"/>
          <p:cNvSpPr/>
          <p:nvPr/>
        </p:nvSpPr>
        <p:spPr>
          <a:xfrm>
            <a:off x="6355080" y="4489704"/>
            <a:ext cx="5257800" cy="1207008"/>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Rectangle 31"/>
          <p:cNvSpPr/>
          <p:nvPr/>
        </p:nvSpPr>
        <p:spPr>
          <a:xfrm>
            <a:off x="6291072" y="4425696"/>
            <a:ext cx="5257800" cy="120700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TextBox 32"/>
          <p:cNvSpPr txBox="1"/>
          <p:nvPr/>
        </p:nvSpPr>
        <p:spPr>
          <a:xfrm>
            <a:off x="6528816" y="4608576"/>
            <a:ext cx="4782312" cy="841248"/>
          </a:xfrm>
          <a:prstGeom prst="rect">
            <a:avLst/>
          </a:prstGeom>
          <a:noFill/>
        </p:spPr>
        <p:txBody>
          <a:bodyPr wrap="square" lIns="0" rIns="0" tIns="0" bIns="0" anchor="t">
            <a:spAutoFit/>
          </a:bodyPr>
          <a:lstStyle/>
          <a:p>
            <a:pPr algn="l">
              <a:spcBef>
                <a:spcPts val="0"/>
              </a:spcBef>
              <a:spcAft>
                <a:spcPts val="600"/>
              </a:spcAft>
            </a:pPr>
            <a:r>
              <a:rPr sz="1400" b="1" i="0">
                <a:solidFill>
                  <a:srgbClr val="B02A37"/>
                </a:solidFill>
                <a:latin typeface="Rockwell"/>
                <a:ea typeface="Rockwell"/>
                <a:cs typeface="Rockwell"/>
              </a:rPr>
              <a:t>Las cinco más usadas del mundo</a:t>
            </a:r>
          </a:p>
          <a:p>
            <a:pPr>
              <a:lnSpc>
                <a:spcPct val="118000"/>
              </a:lnSpc>
              <a:spcBef>
                <a:spcPts val="0"/>
              </a:spcBef>
              <a:spcAft>
                <a:spcPts val="300"/>
              </a:spcAft>
            </a:pPr>
            <a:r>
              <a:rPr sz="1250" b="0" i="0">
                <a:solidFill>
                  <a:srgbClr val="16181D"/>
                </a:solidFill>
                <a:latin typeface="Verdana"/>
                <a:ea typeface="Verdana"/>
                <a:cs typeface="Verdana"/>
              </a:rPr>
              <a:t>123456 · 123456789 · 12345 · 12345678 · password. Casi no cambia hace diez años. (Dato de proveedor.)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CONTROL</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Los cuatro errores frecuentes</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31</a:t>
            </a:r>
          </a:p>
        </p:txBody>
      </p:sp>
      <p:sp>
        <p:nvSpPr>
          <p:cNvPr id="7" name="Rectangle 6"/>
          <p:cNvSpPr/>
          <p:nvPr/>
        </p:nvSpPr>
        <p:spPr>
          <a:xfrm>
            <a:off x="704088" y="1682496"/>
            <a:ext cx="10911535" cy="932688"/>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18488"/>
            <a:ext cx="10911535" cy="93268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877824" y="1837943"/>
            <a:ext cx="502920" cy="502920"/>
          </a:xfrm>
          <a:prstGeom prst="rect">
            <a:avLst/>
          </a:prstGeom>
          <a:noFill/>
        </p:spPr>
        <p:txBody>
          <a:bodyPr wrap="square" lIns="0" rIns="0" tIns="0" bIns="0" anchor="ctr">
            <a:spAutoFit/>
          </a:bodyPr>
          <a:lstStyle/>
          <a:p>
            <a:pPr algn="l">
              <a:spcBef>
                <a:spcPts val="0"/>
              </a:spcBef>
              <a:spcAft>
                <a:spcPts val="0"/>
              </a:spcAft>
            </a:pPr>
            <a:r>
              <a:rPr sz="2200" b="1" i="0">
                <a:solidFill>
                  <a:srgbClr val="B02A37"/>
                </a:solidFill>
                <a:latin typeface="Rockwell"/>
                <a:ea typeface="Rockwell"/>
                <a:cs typeface="Rockwell"/>
              </a:rPr>
              <a:t>1</a:t>
            </a:r>
          </a:p>
        </p:txBody>
      </p:sp>
      <p:sp>
        <p:nvSpPr>
          <p:cNvPr id="10" name="TextBox 9"/>
          <p:cNvSpPr txBox="1"/>
          <p:nvPr/>
        </p:nvSpPr>
        <p:spPr>
          <a:xfrm>
            <a:off x="1554480" y="1801368"/>
            <a:ext cx="9722815" cy="62179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Usar «vulnerabilidad» y «amenaza» como sinónimos</a:t>
            </a:r>
          </a:p>
          <a:p>
            <a:pPr>
              <a:lnSpc>
                <a:spcPct val="115000"/>
              </a:lnSpc>
              <a:spcBef>
                <a:spcPts val="0"/>
              </a:spcBef>
              <a:spcAft>
                <a:spcPts val="0"/>
              </a:spcAft>
            </a:pPr>
            <a:r>
              <a:rPr sz="1150" b="0" i="0">
                <a:solidFill>
                  <a:srgbClr val="6B7280"/>
                </a:solidFill>
                <a:latin typeface="Verdana"/>
                <a:ea typeface="Verdana"/>
                <a:cs typeface="Verdana"/>
              </a:rPr>
              <a:t>La vulnerabilidad es la puerta floja; la amenaza es el que la quiere empujar. El ransomware no es una vulnerabilidad: es lo que entra por una.</a:t>
            </a:r>
          </a:p>
        </p:txBody>
      </p:sp>
      <p:sp>
        <p:nvSpPr>
          <p:cNvPr id="11" name="Rectangle 10"/>
          <p:cNvSpPr/>
          <p:nvPr/>
        </p:nvSpPr>
        <p:spPr>
          <a:xfrm>
            <a:off x="704088" y="2715768"/>
            <a:ext cx="10911535" cy="932688"/>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Rectangle 11"/>
          <p:cNvSpPr/>
          <p:nvPr/>
        </p:nvSpPr>
        <p:spPr>
          <a:xfrm>
            <a:off x="640080" y="2651760"/>
            <a:ext cx="10911535" cy="93268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77824" y="2871215"/>
            <a:ext cx="502920" cy="502920"/>
          </a:xfrm>
          <a:prstGeom prst="rect">
            <a:avLst/>
          </a:prstGeom>
          <a:noFill/>
        </p:spPr>
        <p:txBody>
          <a:bodyPr wrap="square" lIns="0" rIns="0" tIns="0" bIns="0" anchor="ctr">
            <a:spAutoFit/>
          </a:bodyPr>
          <a:lstStyle/>
          <a:p>
            <a:pPr algn="l">
              <a:spcBef>
                <a:spcPts val="0"/>
              </a:spcBef>
              <a:spcAft>
                <a:spcPts val="0"/>
              </a:spcAft>
            </a:pPr>
            <a:r>
              <a:rPr sz="2200" b="1" i="0">
                <a:solidFill>
                  <a:srgbClr val="B02A37"/>
                </a:solidFill>
                <a:latin typeface="Rockwell"/>
                <a:ea typeface="Rockwell"/>
                <a:cs typeface="Rockwell"/>
              </a:rPr>
              <a:t>2</a:t>
            </a:r>
          </a:p>
        </p:txBody>
      </p:sp>
      <p:sp>
        <p:nvSpPr>
          <p:cNvPr id="14" name="TextBox 13"/>
          <p:cNvSpPr txBox="1"/>
          <p:nvPr/>
        </p:nvSpPr>
        <p:spPr>
          <a:xfrm>
            <a:off x="1554480" y="2834640"/>
            <a:ext cx="9722815" cy="62179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Creer que el CVSS es el riesgo</a:t>
            </a:r>
          </a:p>
          <a:p>
            <a:pPr>
              <a:lnSpc>
                <a:spcPct val="115000"/>
              </a:lnSpc>
              <a:spcBef>
                <a:spcPts val="0"/>
              </a:spcBef>
              <a:spcAft>
                <a:spcPts val="0"/>
              </a:spcAft>
            </a:pPr>
            <a:r>
              <a:rPr sz="1150" b="0" i="0">
                <a:solidFill>
                  <a:srgbClr val="6B7280"/>
                </a:solidFill>
                <a:latin typeface="Verdana"/>
                <a:ea typeface="Verdana"/>
                <a:cs typeface="Verdana"/>
              </a:rPr>
              <a:t>Es la gravedad de la falla en abstracto. Una media urgente le gana a una crítica dormida.</a:t>
            </a:r>
          </a:p>
        </p:txBody>
      </p:sp>
      <p:sp>
        <p:nvSpPr>
          <p:cNvPr id="15" name="Rectangle 14"/>
          <p:cNvSpPr/>
          <p:nvPr/>
        </p:nvSpPr>
        <p:spPr>
          <a:xfrm>
            <a:off x="704088" y="3749039"/>
            <a:ext cx="10911535" cy="932688"/>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Rectangle 15"/>
          <p:cNvSpPr/>
          <p:nvPr/>
        </p:nvSpPr>
        <p:spPr>
          <a:xfrm>
            <a:off x="640080" y="3685031"/>
            <a:ext cx="10911535" cy="93268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TextBox 16"/>
          <p:cNvSpPr txBox="1"/>
          <p:nvPr/>
        </p:nvSpPr>
        <p:spPr>
          <a:xfrm>
            <a:off x="877824" y="3904487"/>
            <a:ext cx="502920" cy="502920"/>
          </a:xfrm>
          <a:prstGeom prst="rect">
            <a:avLst/>
          </a:prstGeom>
          <a:noFill/>
        </p:spPr>
        <p:txBody>
          <a:bodyPr wrap="square" lIns="0" rIns="0" tIns="0" bIns="0" anchor="ctr">
            <a:spAutoFit/>
          </a:bodyPr>
          <a:lstStyle/>
          <a:p>
            <a:pPr algn="l">
              <a:spcBef>
                <a:spcPts val="0"/>
              </a:spcBef>
              <a:spcAft>
                <a:spcPts val="0"/>
              </a:spcAft>
            </a:pPr>
            <a:r>
              <a:rPr sz="2200" b="1" i="0">
                <a:solidFill>
                  <a:srgbClr val="B02A37"/>
                </a:solidFill>
                <a:latin typeface="Rockwell"/>
                <a:ea typeface="Rockwell"/>
                <a:cs typeface="Rockwell"/>
              </a:rPr>
              <a:t>3</a:t>
            </a:r>
          </a:p>
        </p:txBody>
      </p:sp>
      <p:sp>
        <p:nvSpPr>
          <p:cNvPr id="18" name="TextBox 17"/>
          <p:cNvSpPr txBox="1"/>
          <p:nvPr/>
        </p:nvSpPr>
        <p:spPr>
          <a:xfrm>
            <a:off x="1554480" y="3867911"/>
            <a:ext cx="9722815" cy="62179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Pensar que sin internet no hay superficie de ataque</a:t>
            </a:r>
          </a:p>
          <a:p>
            <a:pPr>
              <a:lnSpc>
                <a:spcPct val="115000"/>
              </a:lnSpc>
              <a:spcBef>
                <a:spcPts val="0"/>
              </a:spcBef>
              <a:spcAft>
                <a:spcPts val="0"/>
              </a:spcAft>
            </a:pPr>
            <a:r>
              <a:rPr sz="1150" b="0" i="0">
                <a:solidFill>
                  <a:srgbClr val="6B7280"/>
                </a:solidFill>
                <a:latin typeface="Verdana"/>
                <a:ea typeface="Verdana"/>
                <a:cs typeface="Verdana"/>
              </a:rPr>
              <a:t>Quedan el pendrive, el wifi, la visita que se conecta, el proveedor que da soporte y la cuenta vieja que nadie dio de baja.</a:t>
            </a:r>
          </a:p>
        </p:txBody>
      </p:sp>
      <p:sp>
        <p:nvSpPr>
          <p:cNvPr id="19" name="Rectangle 18"/>
          <p:cNvSpPr/>
          <p:nvPr/>
        </p:nvSpPr>
        <p:spPr>
          <a:xfrm>
            <a:off x="704088" y="4782312"/>
            <a:ext cx="10911535" cy="932688"/>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Rectangle 19"/>
          <p:cNvSpPr/>
          <p:nvPr/>
        </p:nvSpPr>
        <p:spPr>
          <a:xfrm>
            <a:off x="640080" y="4718303"/>
            <a:ext cx="10911535" cy="932688"/>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TextBox 20"/>
          <p:cNvSpPr txBox="1"/>
          <p:nvPr/>
        </p:nvSpPr>
        <p:spPr>
          <a:xfrm>
            <a:off x="877824" y="4937759"/>
            <a:ext cx="502920" cy="502920"/>
          </a:xfrm>
          <a:prstGeom prst="rect">
            <a:avLst/>
          </a:prstGeom>
          <a:noFill/>
        </p:spPr>
        <p:txBody>
          <a:bodyPr wrap="square" lIns="0" rIns="0" tIns="0" bIns="0" anchor="ctr">
            <a:spAutoFit/>
          </a:bodyPr>
          <a:lstStyle/>
          <a:p>
            <a:pPr algn="l">
              <a:spcBef>
                <a:spcPts val="0"/>
              </a:spcBef>
              <a:spcAft>
                <a:spcPts val="0"/>
              </a:spcAft>
            </a:pPr>
            <a:r>
              <a:rPr sz="2200" b="1" i="0">
                <a:solidFill>
                  <a:srgbClr val="B02A37"/>
                </a:solidFill>
                <a:latin typeface="Rockwell"/>
                <a:ea typeface="Rockwell"/>
                <a:cs typeface="Rockwell"/>
              </a:rPr>
              <a:t>4</a:t>
            </a:r>
          </a:p>
        </p:txBody>
      </p:sp>
      <p:sp>
        <p:nvSpPr>
          <p:cNvPr id="22" name="TextBox 21"/>
          <p:cNvSpPr txBox="1"/>
          <p:nvPr/>
        </p:nvSpPr>
        <p:spPr>
          <a:xfrm>
            <a:off x="1554480" y="4901183"/>
            <a:ext cx="9722815" cy="621792"/>
          </a:xfrm>
          <a:prstGeom prst="rect">
            <a:avLst/>
          </a:prstGeom>
          <a:noFill/>
        </p:spPr>
        <p:txBody>
          <a:bodyPr wrap="square" lIns="0" rIns="0" tIns="0" bIns="0" anchor="t">
            <a:spAutoFit/>
          </a:bodyPr>
          <a:lstStyle/>
          <a:p>
            <a:pPr algn="l">
              <a:lnSpc>
                <a:spcPct val="115000"/>
              </a:lnSpc>
              <a:spcBef>
                <a:spcPts val="0"/>
              </a:spcBef>
              <a:spcAft>
                <a:spcPts val="300"/>
              </a:spcAft>
            </a:pPr>
            <a:r>
              <a:rPr sz="1350" b="1" i="0">
                <a:solidFill>
                  <a:srgbClr val="16181D"/>
                </a:solidFill>
                <a:latin typeface="Verdana"/>
                <a:ea typeface="Verdana"/>
                <a:cs typeface="Verdana"/>
              </a:rPr>
              <a:t>Confundir contraseña «complicada» con contraseña fuerte</a:t>
            </a:r>
          </a:p>
          <a:p>
            <a:pPr>
              <a:lnSpc>
                <a:spcPct val="115000"/>
              </a:lnSpc>
              <a:spcBef>
                <a:spcPts val="0"/>
              </a:spcBef>
              <a:spcAft>
                <a:spcPts val="0"/>
              </a:spcAft>
            </a:pPr>
            <a:r>
              <a:rPr sz="1150" b="0" i="0">
                <a:solidFill>
                  <a:srgbClr val="6B7280"/>
                </a:solidFill>
                <a:latin typeface="Verdana"/>
                <a:ea typeface="Verdana"/>
                <a:cs typeface="Verdana"/>
              </a:rPr>
              <a:t>P@ssw0rd! es corta y previsible. caballoverde es larga y aburrida, y aguanta mucho más.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384048"/>
            <a:ext cx="10911535" cy="274320"/>
          </a:xfrm>
          <a:prstGeom prst="rect">
            <a:avLst/>
          </a:prstGeom>
          <a:noFill/>
        </p:spPr>
        <p:txBody>
          <a:bodyPr wrap="square" lIns="0" rIns="0" tIns="0" bIns="0" anchor="t">
            <a:spAutoFit/>
          </a:bodyPr>
          <a:lstStyle/>
          <a:p>
            <a:pPr algn="l">
              <a:spcBef>
                <a:spcPts val="0"/>
              </a:spcBef>
              <a:spcAft>
                <a:spcPts val="0"/>
              </a:spcAft>
            </a:pPr>
            <a:r>
              <a:rPr sz="1050" b="1" i="0" spc="220">
                <a:solidFill>
                  <a:srgbClr val="5B34C7"/>
                </a:solidFill>
                <a:latin typeface="Verdana"/>
                <a:ea typeface="Verdana"/>
                <a:cs typeface="Verdana"/>
              </a:rPr>
              <a:t>AHORA USTEDES</a:t>
            </a:r>
          </a:p>
        </p:txBody>
      </p:sp>
      <p:sp>
        <p:nvSpPr>
          <p:cNvPr id="4" name="TextBox 3"/>
          <p:cNvSpPr txBox="1"/>
          <p:nvPr/>
        </p:nvSpPr>
        <p:spPr>
          <a:xfrm>
            <a:off x="640080" y="640080"/>
            <a:ext cx="9905695" cy="7315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16181D"/>
                </a:solidFill>
                <a:latin typeface="Rockwell"/>
                <a:ea typeface="Rockwell"/>
                <a:cs typeface="Rockwell"/>
              </a:rPr>
              <a:t>Triage: seis vulnerabilidades y una tarde</a:t>
            </a:r>
          </a:p>
        </p:txBody>
      </p:sp>
      <p:sp>
        <p:nvSpPr>
          <p:cNvPr id="5" name="Rectangle 4"/>
          <p:cNvSpPr/>
          <p:nvPr/>
        </p:nvSpPr>
        <p:spPr>
          <a:xfrm>
            <a:off x="640080" y="1298448"/>
            <a:ext cx="10911535" cy="20116"/>
          </a:xfrm>
          <a:prstGeom prst="rect">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32</a:t>
            </a:r>
          </a:p>
        </p:txBody>
      </p:sp>
      <p:sp>
        <p:nvSpPr>
          <p:cNvPr id="7" name="Rectangle 6"/>
          <p:cNvSpPr/>
          <p:nvPr/>
        </p:nvSpPr>
        <p:spPr>
          <a:xfrm>
            <a:off x="704088" y="1682496"/>
            <a:ext cx="10911535" cy="1389888"/>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Rectangle 7"/>
          <p:cNvSpPr/>
          <p:nvPr/>
        </p:nvSpPr>
        <p:spPr>
          <a:xfrm>
            <a:off x="640080" y="1618488"/>
            <a:ext cx="10911535" cy="1389888"/>
          </a:xfrm>
          <a:prstGeom prst="rect">
            <a:avLst/>
          </a:prstGeom>
          <a:solidFill>
            <a:srgbClr val="ECE6FB"/>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32688" y="1810512"/>
            <a:ext cx="10326319" cy="1051560"/>
          </a:xfrm>
          <a:prstGeom prst="rect">
            <a:avLst/>
          </a:prstGeom>
          <a:noFill/>
        </p:spPr>
        <p:txBody>
          <a:bodyPr wrap="square" lIns="0" rIns="0" tIns="0" bIns="0" anchor="t">
            <a:spAutoFit/>
          </a:bodyPr>
          <a:lstStyle/>
          <a:p>
            <a:pPr algn="l">
              <a:lnSpc>
                <a:spcPct val="120000"/>
              </a:lnSpc>
              <a:spcBef>
                <a:spcPts val="0"/>
              </a:spcBef>
              <a:spcAft>
                <a:spcPts val="500"/>
              </a:spcAft>
            </a:pPr>
            <a:r>
              <a:rPr sz="1450" b="1" i="0">
                <a:solidFill>
                  <a:srgbClr val="16181D"/>
                </a:solidFill>
                <a:latin typeface="Verdana"/>
                <a:ea typeface="Verdana"/>
                <a:cs typeface="Verdana"/>
              </a:rPr>
              <a:t>El Liceo Técnico del Parque tiene un solo técnico y cuatro horas antes de que abran las inscripciones.</a:t>
            </a:r>
          </a:p>
          <a:p>
            <a:pPr>
              <a:lnSpc>
                <a:spcPct val="120000"/>
              </a:lnSpc>
              <a:spcBef>
                <a:spcPts val="0"/>
              </a:spcBef>
              <a:spcAft>
                <a:spcPts val="0"/>
              </a:spcAft>
            </a:pPr>
            <a:r>
              <a:rPr sz="1300" b="0" i="0">
                <a:solidFill>
                  <a:srgbClr val="16181D"/>
                </a:solidFill>
                <a:latin typeface="Verdana"/>
                <a:ea typeface="Verdana"/>
                <a:cs typeface="Verdana"/>
              </a:rPr>
              <a:t>Le acaban de pasar un informe con seis problemas de seguridad. No los puede arreglar todos. Decidan en qué orden se atienden, y defiéndanlo.</a:t>
            </a:r>
          </a:p>
        </p:txBody>
      </p:sp>
      <p:sp>
        <p:nvSpPr>
          <p:cNvPr id="10" name="Rectangle 9"/>
          <p:cNvSpPr/>
          <p:nvPr/>
        </p:nvSpPr>
        <p:spPr>
          <a:xfrm>
            <a:off x="704088" y="3282696"/>
            <a:ext cx="3454298" cy="105156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Rectangle 10"/>
          <p:cNvSpPr/>
          <p:nvPr/>
        </p:nvSpPr>
        <p:spPr>
          <a:xfrm>
            <a:off x="640080" y="3218688"/>
            <a:ext cx="3454298"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41247" y="3401568"/>
            <a:ext cx="3051962" cy="731520"/>
          </a:xfrm>
          <a:prstGeom prst="rect">
            <a:avLst/>
          </a:prstGeom>
          <a:noFill/>
        </p:spPr>
        <p:txBody>
          <a:bodyPr wrap="square" lIns="0" rIns="0" tIns="0" bIns="0" anchor="t">
            <a:spAutoFit/>
          </a:bodyPr>
          <a:lstStyle/>
          <a:p>
            <a:pPr algn="l">
              <a:spcBef>
                <a:spcPts val="0"/>
              </a:spcBef>
              <a:spcAft>
                <a:spcPts val="500"/>
              </a:spcAft>
            </a:pPr>
            <a:r>
              <a:rPr sz="1350" b="1" i="0" spc="120">
                <a:solidFill>
                  <a:srgbClr val="5B34C7"/>
                </a:solidFill>
                <a:latin typeface="Rockwell"/>
                <a:ea typeface="Rockwell"/>
                <a:cs typeface="Rockwell"/>
              </a:rPr>
              <a:t>GRAVEDAD</a:t>
            </a:r>
          </a:p>
          <a:p>
            <a:pPr>
              <a:lnSpc>
                <a:spcPct val="115000"/>
              </a:lnSpc>
              <a:spcBef>
                <a:spcPts val="0"/>
              </a:spcBef>
              <a:spcAft>
                <a:spcPts val="0"/>
              </a:spcAft>
            </a:pPr>
            <a:r>
              <a:rPr sz="1200" b="0" i="0">
                <a:solidFill>
                  <a:srgbClr val="16181D"/>
                </a:solidFill>
                <a:latin typeface="Verdana"/>
                <a:ea typeface="Verdana"/>
                <a:cs typeface="Verdana"/>
              </a:rPr>
              <a:t>¿Qué dice el puntaje?</a:t>
            </a:r>
          </a:p>
        </p:txBody>
      </p:sp>
      <p:sp>
        <p:nvSpPr>
          <p:cNvPr id="13" name="Rectangle 12"/>
          <p:cNvSpPr/>
          <p:nvPr/>
        </p:nvSpPr>
        <p:spPr>
          <a:xfrm>
            <a:off x="4432706" y="3282696"/>
            <a:ext cx="3454298"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Rectangle 13"/>
          <p:cNvSpPr/>
          <p:nvPr/>
        </p:nvSpPr>
        <p:spPr>
          <a:xfrm>
            <a:off x="4368698" y="3218688"/>
            <a:ext cx="3454298"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4569866" y="3401568"/>
            <a:ext cx="3051962" cy="731520"/>
          </a:xfrm>
          <a:prstGeom prst="rect">
            <a:avLst/>
          </a:prstGeom>
          <a:noFill/>
        </p:spPr>
        <p:txBody>
          <a:bodyPr wrap="square" lIns="0" rIns="0" tIns="0" bIns="0" anchor="t">
            <a:spAutoFit/>
          </a:bodyPr>
          <a:lstStyle/>
          <a:p>
            <a:pPr algn="l">
              <a:spcBef>
                <a:spcPts val="0"/>
              </a:spcBef>
              <a:spcAft>
                <a:spcPts val="500"/>
              </a:spcAft>
            </a:pPr>
            <a:r>
              <a:rPr sz="1350" b="1" i="0" spc="120">
                <a:solidFill>
                  <a:srgbClr val="B02A37"/>
                </a:solidFill>
                <a:latin typeface="Rockwell"/>
                <a:ea typeface="Rockwell"/>
                <a:cs typeface="Rockwell"/>
              </a:rPr>
              <a:t>EXPOSICIÓN</a:t>
            </a:r>
          </a:p>
          <a:p>
            <a:pPr>
              <a:lnSpc>
                <a:spcPct val="115000"/>
              </a:lnSpc>
              <a:spcBef>
                <a:spcPts val="0"/>
              </a:spcBef>
              <a:spcAft>
                <a:spcPts val="0"/>
              </a:spcAft>
            </a:pPr>
            <a:r>
              <a:rPr sz="1200" b="0" i="0">
                <a:solidFill>
                  <a:srgbClr val="16181D"/>
                </a:solidFill>
                <a:latin typeface="Verdana"/>
                <a:ea typeface="Verdana"/>
                <a:cs typeface="Verdana"/>
              </a:rPr>
              <a:t>¿Desde dónde se llega? ¿Hay exploit?</a:t>
            </a:r>
          </a:p>
        </p:txBody>
      </p:sp>
      <p:sp>
        <p:nvSpPr>
          <p:cNvPr id="16" name="Rectangle 15"/>
          <p:cNvSpPr/>
          <p:nvPr/>
        </p:nvSpPr>
        <p:spPr>
          <a:xfrm>
            <a:off x="8161324" y="3282696"/>
            <a:ext cx="3454298"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Rectangle 16"/>
          <p:cNvSpPr/>
          <p:nvPr/>
        </p:nvSpPr>
        <p:spPr>
          <a:xfrm>
            <a:off x="8097316" y="3218688"/>
            <a:ext cx="3454298" cy="1051560"/>
          </a:xfrm>
          <a:prstGeom prst="rect">
            <a:avLst/>
          </a:prstGeom>
          <a:solidFill>
            <a:srgbClr val="FFFFFF"/>
          </a:solidFill>
          <a:ln w="15875">
            <a:solidFill>
              <a:srgbClr val="16181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8298484" y="3401568"/>
            <a:ext cx="3051962" cy="731520"/>
          </a:xfrm>
          <a:prstGeom prst="rect">
            <a:avLst/>
          </a:prstGeom>
          <a:noFill/>
        </p:spPr>
        <p:txBody>
          <a:bodyPr wrap="square" lIns="0" rIns="0" tIns="0" bIns="0" anchor="t">
            <a:spAutoFit/>
          </a:bodyPr>
          <a:lstStyle/>
          <a:p>
            <a:pPr algn="l">
              <a:spcBef>
                <a:spcPts val="0"/>
              </a:spcBef>
              <a:spcAft>
                <a:spcPts val="500"/>
              </a:spcAft>
            </a:pPr>
            <a:r>
              <a:rPr sz="1350" b="1" i="0" spc="120">
                <a:solidFill>
                  <a:srgbClr val="0E7C66"/>
                </a:solidFill>
                <a:latin typeface="Rockwell"/>
                <a:ea typeface="Rockwell"/>
                <a:cs typeface="Rockwell"/>
              </a:rPr>
              <a:t>COSTO</a:t>
            </a:r>
          </a:p>
          <a:p>
            <a:pPr>
              <a:lnSpc>
                <a:spcPct val="115000"/>
              </a:lnSpc>
              <a:spcBef>
                <a:spcPts val="0"/>
              </a:spcBef>
              <a:spcAft>
                <a:spcPts val="0"/>
              </a:spcAft>
            </a:pPr>
            <a:r>
              <a:rPr sz="1200" b="0" i="0">
                <a:solidFill>
                  <a:srgbClr val="16181D"/>
                </a:solidFill>
                <a:latin typeface="Verdana"/>
                <a:ea typeface="Verdana"/>
                <a:cs typeface="Verdana"/>
              </a:rPr>
              <a:t>¿Cuánto tiempo lleva arreglarla?</a:t>
            </a:r>
          </a:p>
        </p:txBody>
      </p:sp>
      <p:sp>
        <p:nvSpPr>
          <p:cNvPr id="19" name="TextBox 18"/>
          <p:cNvSpPr txBox="1"/>
          <p:nvPr/>
        </p:nvSpPr>
        <p:spPr>
          <a:xfrm>
            <a:off x="640080" y="4517136"/>
            <a:ext cx="10911535" cy="1097280"/>
          </a:xfrm>
          <a:prstGeom prst="rect">
            <a:avLst/>
          </a:prstGeom>
          <a:noFill/>
        </p:spPr>
        <p:txBody>
          <a:bodyPr wrap="square" lIns="0" rIns="0" tIns="0" bIns="0" anchor="t">
            <a:spAutoFit/>
          </a:bodyPr>
          <a:lstStyle/>
          <a:p>
            <a:pPr algn="l">
              <a:lnSpc>
                <a:spcPct val="120000"/>
              </a:lnSpc>
              <a:spcBef>
                <a:spcPts val="0"/>
              </a:spcBef>
              <a:spcAft>
                <a:spcPts val="600"/>
              </a:spcAft>
            </a:pPr>
            <a:r>
              <a:rPr sz="1300" b="1" i="0">
                <a:solidFill>
                  <a:srgbClr val="16181D"/>
                </a:solidFill>
                <a:latin typeface="Verdana"/>
                <a:ea typeface="Verdana"/>
                <a:cs typeface="Verdana"/>
              </a:rPr>
              <a:t>Tres preguntas que hay que contestar por escrito:</a:t>
            </a:r>
          </a:p>
          <a:p>
            <a:pPr>
              <a:lnSpc>
                <a:spcPct val="115000"/>
              </a:lnSpc>
              <a:spcBef>
                <a:spcPts val="0"/>
              </a:spcBef>
              <a:spcAft>
                <a:spcPts val="300"/>
              </a:spcAft>
            </a:pPr>
            <a:r>
              <a:rPr sz="1200" b="0" i="0">
                <a:solidFill>
                  <a:srgbClr val="6B7280"/>
                </a:solidFill>
                <a:latin typeface="Verdana"/>
                <a:ea typeface="Verdana"/>
                <a:cs typeface="Verdana"/>
              </a:rPr>
              <a:t>1 · La ficha 2 tiene 9,8 y la ficha 1 tiene 7,5. ¿Por qué el orden podría ser el inverso?</a:t>
            </a:r>
          </a:p>
          <a:p>
            <a:pPr>
              <a:lnSpc>
                <a:spcPct val="115000"/>
              </a:lnSpc>
              <a:spcBef>
                <a:spcPts val="0"/>
              </a:spcBef>
              <a:spcAft>
                <a:spcPts val="300"/>
              </a:spcAft>
            </a:pPr>
            <a:r>
              <a:rPr sz="1200" b="0" i="0">
                <a:solidFill>
                  <a:srgbClr val="6B7280"/>
                </a:solidFill>
                <a:latin typeface="Verdana"/>
                <a:ea typeface="Verdana"/>
                <a:cs typeface="Verdana"/>
              </a:rPr>
              <a:t>2 · La ficha 4 no tiene parche. Si no se puede arreglar, ¿qué se hace?</a:t>
            </a:r>
          </a:p>
          <a:p>
            <a:pPr>
              <a:lnSpc>
                <a:spcPct val="115000"/>
              </a:lnSpc>
              <a:spcBef>
                <a:spcPts val="0"/>
              </a:spcBef>
              <a:spcAft>
                <a:spcPts val="300"/>
              </a:spcAft>
            </a:pPr>
            <a:r>
              <a:rPr sz="1200" b="0" i="0">
                <a:solidFill>
                  <a:srgbClr val="6B7280"/>
                </a:solidFill>
                <a:latin typeface="Verdana"/>
                <a:ea typeface="Verdana"/>
                <a:cs typeface="Verdana"/>
              </a:rPr>
              <a:t>3 · Las fichas 3 y 5 no tienen puntaje CVSS. ¿Significa que son menos importantes?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0" y="0"/>
            <a:ext cx="12191695" cy="6858000"/>
          </a:xfrm>
          <a:prstGeom prst="rect">
            <a:avLst/>
          </a:prstGeom>
          <a:solidFill>
            <a:srgbClr val="3B1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Rectangle 3"/>
          <p:cNvSpPr/>
          <p:nvPr/>
        </p:nvSpPr>
        <p:spPr>
          <a:xfrm>
            <a:off x="0" y="0"/>
            <a:ext cx="384048" cy="6858000"/>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TextBox 4"/>
          <p:cNvSpPr txBox="1"/>
          <p:nvPr/>
        </p:nvSpPr>
        <p:spPr>
          <a:xfrm>
            <a:off x="1234440" y="1554480"/>
            <a:ext cx="9601200" cy="365760"/>
          </a:xfrm>
          <a:prstGeom prst="rect">
            <a:avLst/>
          </a:prstGeom>
          <a:noFill/>
        </p:spPr>
        <p:txBody>
          <a:bodyPr wrap="square" lIns="0" rIns="0" tIns="0" bIns="0" anchor="t">
            <a:spAutoFit/>
          </a:bodyPr>
          <a:lstStyle/>
          <a:p>
            <a:pPr algn="l">
              <a:spcBef>
                <a:spcPts val="0"/>
              </a:spcBef>
              <a:spcAft>
                <a:spcPts val="0"/>
              </a:spcAft>
            </a:pPr>
            <a:r>
              <a:rPr sz="1150" b="1" i="0" spc="220">
                <a:solidFill>
                  <a:srgbClr val="C5B4F5"/>
                </a:solidFill>
                <a:latin typeface="Verdana"/>
                <a:ea typeface="Verdana"/>
                <a:cs typeface="Verdana"/>
              </a:rPr>
              <a:t>PARA PENSAR ANTES DE LA PRÓXIMA CLASE</a:t>
            </a:r>
          </a:p>
        </p:txBody>
      </p:sp>
      <p:sp>
        <p:nvSpPr>
          <p:cNvPr id="6" name="TextBox 5"/>
          <p:cNvSpPr txBox="1"/>
          <p:nvPr/>
        </p:nvSpPr>
        <p:spPr>
          <a:xfrm>
            <a:off x="1234440" y="2011680"/>
            <a:ext cx="9509760" cy="2743200"/>
          </a:xfrm>
          <a:prstGeom prst="rect">
            <a:avLst/>
          </a:prstGeom>
          <a:noFill/>
        </p:spPr>
        <p:txBody>
          <a:bodyPr wrap="square" lIns="0" rIns="0" tIns="0" bIns="0" anchor="t">
            <a:spAutoFit/>
          </a:bodyPr>
          <a:lstStyle/>
          <a:p>
            <a:pPr algn="l">
              <a:lnSpc>
                <a:spcPct val="105000"/>
              </a:lnSpc>
              <a:spcBef>
                <a:spcPts val="0"/>
              </a:spcBef>
              <a:spcAft>
                <a:spcPts val="1400"/>
              </a:spcAft>
            </a:pPr>
            <a:r>
              <a:rPr sz="3400" b="1" i="0">
                <a:solidFill>
                  <a:srgbClr val="FFFFFF"/>
                </a:solidFill>
                <a:latin typeface="Rockwell"/>
                <a:ea typeface="Rockwell"/>
                <a:cs typeface="Rockwell"/>
              </a:rPr>
              <a:t>Mirá el equipo desde el que
estás leyendo esto.</a:t>
            </a:r>
          </a:p>
          <a:p>
            <a:pPr>
              <a:lnSpc>
                <a:spcPct val="125000"/>
              </a:lnSpc>
              <a:spcBef>
                <a:spcPts val="0"/>
              </a:spcBef>
              <a:spcAft>
                <a:spcPts val="0"/>
              </a:spcAft>
            </a:pPr>
            <a:r>
              <a:rPr sz="1600" b="0" i="0">
                <a:solidFill>
                  <a:srgbClr val="DAD1F7"/>
                </a:solidFill>
                <a:latin typeface="Verdana"/>
                <a:ea typeface="Verdana"/>
                <a:cs typeface="Verdana"/>
              </a:rPr>
              <a:t>¿Cuántos días hace que no lo actualizás, y cuántas cuentas tiene activas que ya no usa nadie?</a:t>
            </a:r>
          </a:p>
          <a:p>
            <a:pPr>
              <a:lnSpc>
                <a:spcPct val="125000"/>
              </a:lnSpc>
              <a:spcBef>
                <a:spcPts val="1400"/>
              </a:spcBef>
              <a:spcAft>
                <a:spcPts val="0"/>
              </a:spcAft>
            </a:pPr>
            <a:r>
              <a:rPr sz="1600" b="1" i="0">
                <a:solidFill>
                  <a:srgbClr val="FFFFFF"/>
                </a:solidFill>
                <a:latin typeface="Verdana"/>
                <a:ea typeface="Verdana"/>
                <a:cs typeface="Verdana"/>
              </a:rPr>
              <a:t>Esa es tu superficie de ataque, y no hizo falta ningún escáner para empezar a verla.</a:t>
            </a:r>
          </a:p>
        </p:txBody>
      </p:sp>
      <p:sp>
        <p:nvSpPr>
          <p:cNvPr id="7" name="Rectangle 6"/>
          <p:cNvSpPr/>
          <p:nvPr/>
        </p:nvSpPr>
        <p:spPr>
          <a:xfrm>
            <a:off x="1234440" y="5394960"/>
            <a:ext cx="2743200" cy="32004"/>
          </a:xfrm>
          <a:prstGeom prst="rect">
            <a:avLst/>
          </a:prstGeom>
          <a:solidFill>
            <a:srgbClr val="5B34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TextBox 7"/>
          <p:cNvSpPr txBox="1"/>
          <p:nvPr/>
        </p:nvSpPr>
        <p:spPr>
          <a:xfrm>
            <a:off x="1234440" y="5623560"/>
            <a:ext cx="9144000" cy="365760"/>
          </a:xfrm>
          <a:prstGeom prst="rect">
            <a:avLst/>
          </a:prstGeom>
          <a:noFill/>
        </p:spPr>
        <p:txBody>
          <a:bodyPr wrap="square" lIns="0" rIns="0" tIns="0" bIns="0" anchor="t">
            <a:spAutoFit/>
          </a:bodyPr>
          <a:lstStyle/>
          <a:p>
            <a:pPr algn="l">
              <a:spcBef>
                <a:spcPts val="0"/>
              </a:spcBef>
              <a:spcAft>
                <a:spcPts val="0"/>
              </a:spcAft>
            </a:pPr>
            <a:r>
              <a:rPr sz="1300" b="0" i="0">
                <a:solidFill>
                  <a:srgbClr val="C5B4F5"/>
                </a:solidFill>
                <a:latin typeface="Verdana"/>
                <a:ea typeface="Verdana"/>
                <a:cs typeface="Verdana"/>
              </a:rPr>
              <a:t>Clase 7 · Tecnologías emergentes e inteligencia artificial (contenido 1.4)</a:t>
            </a:r>
          </a:p>
        </p:txBody>
      </p:sp>
      <p:sp>
        <p:nvSpPr>
          <p:cNvPr id="9" name="TextBox 8"/>
          <p:cNvSpPr txBox="1"/>
          <p:nvPr/>
        </p:nvSpPr>
        <p:spPr>
          <a:xfrm>
            <a:off x="10454335" y="6437376"/>
            <a:ext cx="1097280" cy="237744"/>
          </a:xfrm>
          <a:prstGeom prst="rect">
            <a:avLst/>
          </a:prstGeom>
          <a:noFill/>
        </p:spPr>
        <p:txBody>
          <a:bodyPr wrap="square" lIns="0" rIns="0" tIns="0" bIns="0" anchor="t">
            <a:spAutoFit/>
          </a:bodyPr>
          <a:lstStyle/>
          <a:p>
            <a:pPr algn="r">
              <a:spcBef>
                <a:spcPts val="0"/>
              </a:spcBef>
              <a:spcAft>
                <a:spcPts val="0"/>
              </a:spcAft>
            </a:pPr>
            <a:r>
              <a:rPr sz="950" b="0" i="0">
                <a:solidFill>
                  <a:srgbClr val="6B7280"/>
                </a:solidFill>
                <a:latin typeface="Verdana"/>
                <a:ea typeface="Verdana"/>
                <a:cs typeface="Verdana"/>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
  <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diego.renaldin@hotmail.com</dc:creator>
  <cp:lastModifiedBy>diego.renaldin@hotmail.com</cp:lastModifiedBy>
  <cp:revision>1</cp:revision>
</cp:coreProperties>
</file>